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diagrams/quickStyle1.xml" ContentType="application/vnd.openxmlformats-officedocument.drawingml.diagramStyl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4" r:id="rId1"/>
  </p:sldMasterIdLst>
  <p:sldIdLst>
    <p:sldId id="256" r:id="rId2"/>
    <p:sldId id="257" r:id="rId3"/>
    <p:sldId id="258" r:id="rId4"/>
    <p:sldId id="259" r:id="rId5"/>
    <p:sldId id="264" r:id="rId6"/>
    <p:sldId id="265" r:id="rId7"/>
    <p:sldId id="261" r:id="rId8"/>
    <p:sldId id="260" r:id="rId9"/>
    <p:sldId id="266" r:id="rId10"/>
    <p:sldId id="267" r:id="rId11"/>
    <p:sldId id="263" r:id="rId12"/>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487" autoAdjust="0"/>
  </p:normalViewPr>
  <p:slideViewPr>
    <p:cSldViewPr snapToGrid="0">
      <p:cViewPr varScale="1">
        <p:scale>
          <a:sx n="48" d="100"/>
          <a:sy n="48" d="100"/>
        </p:scale>
        <p:origin x="129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73BEDF-2D30-47AE-8991-CDE4B19FA8C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836E55C-A6B4-4157-A561-E48BFFF3C0E7}">
      <dgm:prSet custT="1"/>
      <dgm:spPr/>
      <dgm:t>
        <a:bodyPr/>
        <a:lstStyle/>
        <a:p>
          <a:r>
            <a:rPr lang="es-AR" sz="2000" noProof="0" dirty="0">
              <a:latin typeface="Verdana" panose="020B0604030504040204" pitchFamily="34" charset="0"/>
              <a:ea typeface="Verdana" panose="020B0604030504040204" pitchFamily="34" charset="0"/>
            </a:rPr>
            <a:t>Enfoque en el diseño de sistemas de almacenamiento de datos que utiliza múltiples tipos de bases de datos dentro de una misma aplicación. </a:t>
          </a:r>
        </a:p>
      </dgm:t>
    </dgm:pt>
    <dgm:pt modelId="{7A55C680-987E-40DA-BE1E-EF1096CBA1FB}" type="parTrans" cxnId="{A3FF3EAC-1666-4BC0-ACEB-FA80FBD66DCD}">
      <dgm:prSet/>
      <dgm:spPr/>
      <dgm:t>
        <a:bodyPr/>
        <a:lstStyle/>
        <a:p>
          <a:endParaRPr lang="es-AR" sz="2000" noProof="0" dirty="0">
            <a:latin typeface="Verdana" panose="020B0604030504040204" pitchFamily="34" charset="0"/>
            <a:ea typeface="Verdana" panose="020B0604030504040204" pitchFamily="34" charset="0"/>
          </a:endParaRPr>
        </a:p>
      </dgm:t>
    </dgm:pt>
    <dgm:pt modelId="{B2E347DF-DB03-441C-8E90-736B6464E345}" type="sibTrans" cxnId="{A3FF3EAC-1666-4BC0-ACEB-FA80FBD66DCD}">
      <dgm:prSet custT="1"/>
      <dgm:spPr/>
      <dgm:t>
        <a:bodyPr/>
        <a:lstStyle/>
        <a:p>
          <a:endParaRPr lang="es-AR" sz="2000" noProof="0" dirty="0">
            <a:latin typeface="Verdana" panose="020B0604030504040204" pitchFamily="34" charset="0"/>
            <a:ea typeface="Verdana" panose="020B0604030504040204" pitchFamily="34" charset="0"/>
          </a:endParaRPr>
        </a:p>
      </dgm:t>
    </dgm:pt>
    <dgm:pt modelId="{2D96BD89-41C7-4F04-A7A2-EF88C9547767}">
      <dgm:prSet custT="1"/>
      <dgm:spPr/>
      <dgm:t>
        <a:bodyPr/>
        <a:lstStyle/>
        <a:p>
          <a:pPr rtl="0"/>
          <a:r>
            <a:rPr lang="es-AR" sz="2000" noProof="0" dirty="0">
              <a:solidFill>
                <a:schemeClr val="bg2"/>
              </a:solidFill>
              <a:latin typeface="Verdana"/>
              <a:ea typeface="Verdana"/>
            </a:rPr>
            <a:t>Seleccionamos diferentes bases de datos adecuadas para los distintos tipos de datos y las operaciones. </a:t>
          </a:r>
        </a:p>
      </dgm:t>
    </dgm:pt>
    <dgm:pt modelId="{D1737D8D-F2D5-4D4D-BE6E-8CDC0768273B}" type="parTrans" cxnId="{3A3FCC36-1EDC-4756-91C2-B633855E69A1}">
      <dgm:prSet/>
      <dgm:spPr/>
      <dgm:t>
        <a:bodyPr/>
        <a:lstStyle/>
        <a:p>
          <a:endParaRPr lang="es-AR" sz="2000" noProof="0" dirty="0">
            <a:latin typeface="Verdana" panose="020B0604030504040204" pitchFamily="34" charset="0"/>
            <a:ea typeface="Verdana" panose="020B0604030504040204" pitchFamily="34" charset="0"/>
          </a:endParaRPr>
        </a:p>
      </dgm:t>
    </dgm:pt>
    <dgm:pt modelId="{61FCD740-3B87-45D4-9431-4A6E0269126E}" type="sibTrans" cxnId="{3A3FCC36-1EDC-4756-91C2-B633855E69A1}">
      <dgm:prSet custT="1"/>
      <dgm:spPr/>
      <dgm:t>
        <a:bodyPr/>
        <a:lstStyle/>
        <a:p>
          <a:endParaRPr lang="es-AR" sz="2000" noProof="0" dirty="0">
            <a:latin typeface="Verdana" panose="020B0604030504040204" pitchFamily="34" charset="0"/>
            <a:ea typeface="Verdana" panose="020B0604030504040204" pitchFamily="34" charset="0"/>
          </a:endParaRPr>
        </a:p>
      </dgm:t>
    </dgm:pt>
    <dgm:pt modelId="{FAA49106-857B-444B-A6BD-517E5A766EE5}">
      <dgm:prSet custT="1"/>
      <dgm:spPr/>
      <dgm:t>
        <a:bodyPr/>
        <a:lstStyle/>
        <a:p>
          <a:r>
            <a:rPr lang="es-AR" sz="2000" noProof="0" dirty="0">
              <a:solidFill>
                <a:schemeClr val="bg2"/>
              </a:solidFill>
              <a:latin typeface="Verdana"/>
              <a:ea typeface="Verdana"/>
            </a:rPr>
            <a:t>Permite optimizar el rendimiento, la eficiencia y la escalabilidad de la aplicación.</a:t>
          </a:r>
        </a:p>
      </dgm:t>
    </dgm:pt>
    <dgm:pt modelId="{790DDAA7-B897-4F4A-A35A-ACA76B351891}" type="parTrans" cxnId="{827EDD1C-6542-436D-A65C-7ED52B9E73BA}">
      <dgm:prSet/>
      <dgm:spPr/>
      <dgm:t>
        <a:bodyPr/>
        <a:lstStyle/>
        <a:p>
          <a:endParaRPr lang="es-AR" sz="2000" noProof="0" dirty="0">
            <a:latin typeface="Verdana" panose="020B0604030504040204" pitchFamily="34" charset="0"/>
            <a:ea typeface="Verdana" panose="020B0604030504040204" pitchFamily="34" charset="0"/>
          </a:endParaRPr>
        </a:p>
      </dgm:t>
    </dgm:pt>
    <dgm:pt modelId="{9BD0FD0E-987D-4B7B-875B-AE44BBD74507}" type="sibTrans" cxnId="{827EDD1C-6542-436D-A65C-7ED52B9E73BA}">
      <dgm:prSet/>
      <dgm:spPr/>
      <dgm:t>
        <a:bodyPr/>
        <a:lstStyle/>
        <a:p>
          <a:endParaRPr lang="es-AR" sz="2000" noProof="0" dirty="0">
            <a:latin typeface="Verdana" panose="020B0604030504040204" pitchFamily="34" charset="0"/>
            <a:ea typeface="Verdana" panose="020B0604030504040204" pitchFamily="34" charset="0"/>
          </a:endParaRPr>
        </a:p>
      </dgm:t>
    </dgm:pt>
    <dgm:pt modelId="{14396BC5-CF43-40EB-9B13-30B0E6D92ADD}" type="pres">
      <dgm:prSet presAssocID="{D273BEDF-2D30-47AE-8991-CDE4B19FA8CA}" presName="outerComposite" presStyleCnt="0">
        <dgm:presLayoutVars>
          <dgm:chMax val="5"/>
          <dgm:dir/>
          <dgm:resizeHandles val="exact"/>
        </dgm:presLayoutVars>
      </dgm:prSet>
      <dgm:spPr/>
    </dgm:pt>
    <dgm:pt modelId="{61F7B1F7-2539-4BDF-87B4-01649ED86915}" type="pres">
      <dgm:prSet presAssocID="{D273BEDF-2D30-47AE-8991-CDE4B19FA8CA}" presName="dummyMaxCanvas" presStyleCnt="0">
        <dgm:presLayoutVars/>
      </dgm:prSet>
      <dgm:spPr/>
    </dgm:pt>
    <dgm:pt modelId="{62C3912C-36A8-49D7-90FC-D34A849E4C30}" type="pres">
      <dgm:prSet presAssocID="{D273BEDF-2D30-47AE-8991-CDE4B19FA8CA}" presName="ThreeNodes_1" presStyleLbl="node1" presStyleIdx="0" presStyleCnt="3">
        <dgm:presLayoutVars>
          <dgm:bulletEnabled val="1"/>
        </dgm:presLayoutVars>
      </dgm:prSet>
      <dgm:spPr/>
    </dgm:pt>
    <dgm:pt modelId="{7546873E-4F3B-4146-B599-BA405D3AC635}" type="pres">
      <dgm:prSet presAssocID="{D273BEDF-2D30-47AE-8991-CDE4B19FA8CA}" presName="ThreeNodes_2" presStyleLbl="node1" presStyleIdx="1" presStyleCnt="3">
        <dgm:presLayoutVars>
          <dgm:bulletEnabled val="1"/>
        </dgm:presLayoutVars>
      </dgm:prSet>
      <dgm:spPr/>
    </dgm:pt>
    <dgm:pt modelId="{5F784FA7-E966-4D5E-91B2-19F989204213}" type="pres">
      <dgm:prSet presAssocID="{D273BEDF-2D30-47AE-8991-CDE4B19FA8CA}" presName="ThreeNodes_3" presStyleLbl="node1" presStyleIdx="2" presStyleCnt="3">
        <dgm:presLayoutVars>
          <dgm:bulletEnabled val="1"/>
        </dgm:presLayoutVars>
      </dgm:prSet>
      <dgm:spPr/>
    </dgm:pt>
    <dgm:pt modelId="{7EAA9888-2554-4044-A8B2-3D000743F4B4}" type="pres">
      <dgm:prSet presAssocID="{D273BEDF-2D30-47AE-8991-CDE4B19FA8CA}" presName="ThreeConn_1-2" presStyleLbl="fgAccFollowNode1" presStyleIdx="0" presStyleCnt="2">
        <dgm:presLayoutVars>
          <dgm:bulletEnabled val="1"/>
        </dgm:presLayoutVars>
      </dgm:prSet>
      <dgm:spPr/>
    </dgm:pt>
    <dgm:pt modelId="{4F4DD2E3-7FB4-40EF-9EB5-1F9FD2786766}" type="pres">
      <dgm:prSet presAssocID="{D273BEDF-2D30-47AE-8991-CDE4B19FA8CA}" presName="ThreeConn_2-3" presStyleLbl="fgAccFollowNode1" presStyleIdx="1" presStyleCnt="2">
        <dgm:presLayoutVars>
          <dgm:bulletEnabled val="1"/>
        </dgm:presLayoutVars>
      </dgm:prSet>
      <dgm:spPr/>
    </dgm:pt>
    <dgm:pt modelId="{BA519609-28FB-4EEA-AE32-E3B451FDB086}" type="pres">
      <dgm:prSet presAssocID="{D273BEDF-2D30-47AE-8991-CDE4B19FA8CA}" presName="ThreeNodes_1_text" presStyleLbl="node1" presStyleIdx="2" presStyleCnt="3">
        <dgm:presLayoutVars>
          <dgm:bulletEnabled val="1"/>
        </dgm:presLayoutVars>
      </dgm:prSet>
      <dgm:spPr/>
    </dgm:pt>
    <dgm:pt modelId="{AB3D621B-A10D-45DA-8B4D-7696FEC67B3B}" type="pres">
      <dgm:prSet presAssocID="{D273BEDF-2D30-47AE-8991-CDE4B19FA8CA}" presName="ThreeNodes_2_text" presStyleLbl="node1" presStyleIdx="2" presStyleCnt="3">
        <dgm:presLayoutVars>
          <dgm:bulletEnabled val="1"/>
        </dgm:presLayoutVars>
      </dgm:prSet>
      <dgm:spPr/>
    </dgm:pt>
    <dgm:pt modelId="{B0DC5AD5-5B8B-4CB1-A965-549DA4A1CE5E}" type="pres">
      <dgm:prSet presAssocID="{D273BEDF-2D30-47AE-8991-CDE4B19FA8CA}" presName="ThreeNodes_3_text" presStyleLbl="node1" presStyleIdx="2" presStyleCnt="3">
        <dgm:presLayoutVars>
          <dgm:bulletEnabled val="1"/>
        </dgm:presLayoutVars>
      </dgm:prSet>
      <dgm:spPr/>
    </dgm:pt>
  </dgm:ptLst>
  <dgm:cxnLst>
    <dgm:cxn modelId="{6BE53006-1D3D-44C6-A117-7D020896D60F}" type="presOf" srcId="{2D96BD89-41C7-4F04-A7A2-EF88C9547767}" destId="{AB3D621B-A10D-45DA-8B4D-7696FEC67B3B}" srcOrd="1" destOrd="0" presId="urn:microsoft.com/office/officeart/2005/8/layout/vProcess5"/>
    <dgm:cxn modelId="{974C2B08-544E-446F-A7A6-E07EB648A3F6}" type="presOf" srcId="{FAA49106-857B-444B-A6BD-517E5A766EE5}" destId="{B0DC5AD5-5B8B-4CB1-A965-549DA4A1CE5E}" srcOrd="1" destOrd="0" presId="urn:microsoft.com/office/officeart/2005/8/layout/vProcess5"/>
    <dgm:cxn modelId="{827EDD1C-6542-436D-A65C-7ED52B9E73BA}" srcId="{D273BEDF-2D30-47AE-8991-CDE4B19FA8CA}" destId="{FAA49106-857B-444B-A6BD-517E5A766EE5}" srcOrd="2" destOrd="0" parTransId="{790DDAA7-B897-4F4A-A35A-ACA76B351891}" sibTransId="{9BD0FD0E-987D-4B7B-875B-AE44BBD74507}"/>
    <dgm:cxn modelId="{3A3FCC36-1EDC-4756-91C2-B633855E69A1}" srcId="{D273BEDF-2D30-47AE-8991-CDE4B19FA8CA}" destId="{2D96BD89-41C7-4F04-A7A2-EF88C9547767}" srcOrd="1" destOrd="0" parTransId="{D1737D8D-F2D5-4D4D-BE6E-8CDC0768273B}" sibTransId="{61FCD740-3B87-45D4-9431-4A6E0269126E}"/>
    <dgm:cxn modelId="{933C843D-0E2E-49DD-A883-857042D253D1}" type="presOf" srcId="{D273BEDF-2D30-47AE-8991-CDE4B19FA8CA}" destId="{14396BC5-CF43-40EB-9B13-30B0E6D92ADD}" srcOrd="0" destOrd="0" presId="urn:microsoft.com/office/officeart/2005/8/layout/vProcess5"/>
    <dgm:cxn modelId="{2B019988-4CA5-47EB-B508-03025C088FE4}" type="presOf" srcId="{0836E55C-A6B4-4157-A561-E48BFFF3C0E7}" destId="{62C3912C-36A8-49D7-90FC-D34A849E4C30}" srcOrd="0" destOrd="0" presId="urn:microsoft.com/office/officeart/2005/8/layout/vProcess5"/>
    <dgm:cxn modelId="{1470D98C-B3CB-437B-8B98-D5A1E8BA7143}" type="presOf" srcId="{2D96BD89-41C7-4F04-A7A2-EF88C9547767}" destId="{7546873E-4F3B-4146-B599-BA405D3AC635}" srcOrd="0" destOrd="0" presId="urn:microsoft.com/office/officeart/2005/8/layout/vProcess5"/>
    <dgm:cxn modelId="{92F59B92-0B59-47E5-911B-10486F79D14D}" type="presOf" srcId="{0836E55C-A6B4-4157-A561-E48BFFF3C0E7}" destId="{BA519609-28FB-4EEA-AE32-E3B451FDB086}" srcOrd="1" destOrd="0" presId="urn:microsoft.com/office/officeart/2005/8/layout/vProcess5"/>
    <dgm:cxn modelId="{DF4816AC-A10C-4C0E-AAF1-CFB3C9BC6605}" type="presOf" srcId="{FAA49106-857B-444B-A6BD-517E5A766EE5}" destId="{5F784FA7-E966-4D5E-91B2-19F989204213}" srcOrd="0" destOrd="0" presId="urn:microsoft.com/office/officeart/2005/8/layout/vProcess5"/>
    <dgm:cxn modelId="{A3FF3EAC-1666-4BC0-ACEB-FA80FBD66DCD}" srcId="{D273BEDF-2D30-47AE-8991-CDE4B19FA8CA}" destId="{0836E55C-A6B4-4157-A561-E48BFFF3C0E7}" srcOrd="0" destOrd="0" parTransId="{7A55C680-987E-40DA-BE1E-EF1096CBA1FB}" sibTransId="{B2E347DF-DB03-441C-8E90-736B6464E345}"/>
    <dgm:cxn modelId="{7FB68EED-356B-49AF-99EE-2C49C5561B9B}" type="presOf" srcId="{B2E347DF-DB03-441C-8E90-736B6464E345}" destId="{7EAA9888-2554-4044-A8B2-3D000743F4B4}" srcOrd="0" destOrd="0" presId="urn:microsoft.com/office/officeart/2005/8/layout/vProcess5"/>
    <dgm:cxn modelId="{46714BFA-1B4A-433B-9954-1B2B7CD34CBF}" type="presOf" srcId="{61FCD740-3B87-45D4-9431-4A6E0269126E}" destId="{4F4DD2E3-7FB4-40EF-9EB5-1F9FD2786766}" srcOrd="0" destOrd="0" presId="urn:microsoft.com/office/officeart/2005/8/layout/vProcess5"/>
    <dgm:cxn modelId="{629C9E6A-C116-4AEE-B819-E30A63E2BFCF}" type="presParOf" srcId="{14396BC5-CF43-40EB-9B13-30B0E6D92ADD}" destId="{61F7B1F7-2539-4BDF-87B4-01649ED86915}" srcOrd="0" destOrd="0" presId="urn:microsoft.com/office/officeart/2005/8/layout/vProcess5"/>
    <dgm:cxn modelId="{94D626CA-0658-4234-8FBF-5B3B957D9F2F}" type="presParOf" srcId="{14396BC5-CF43-40EB-9B13-30B0E6D92ADD}" destId="{62C3912C-36A8-49D7-90FC-D34A849E4C30}" srcOrd="1" destOrd="0" presId="urn:microsoft.com/office/officeart/2005/8/layout/vProcess5"/>
    <dgm:cxn modelId="{BCE3A46C-2F55-483A-8812-029627D59F2A}" type="presParOf" srcId="{14396BC5-CF43-40EB-9B13-30B0E6D92ADD}" destId="{7546873E-4F3B-4146-B599-BA405D3AC635}" srcOrd="2" destOrd="0" presId="urn:microsoft.com/office/officeart/2005/8/layout/vProcess5"/>
    <dgm:cxn modelId="{01972806-3494-4458-A9D8-6E8579E67F1B}" type="presParOf" srcId="{14396BC5-CF43-40EB-9B13-30B0E6D92ADD}" destId="{5F784FA7-E966-4D5E-91B2-19F989204213}" srcOrd="3" destOrd="0" presId="urn:microsoft.com/office/officeart/2005/8/layout/vProcess5"/>
    <dgm:cxn modelId="{928B2161-10D7-4B11-92DC-539F144B913A}" type="presParOf" srcId="{14396BC5-CF43-40EB-9B13-30B0E6D92ADD}" destId="{7EAA9888-2554-4044-A8B2-3D000743F4B4}" srcOrd="4" destOrd="0" presId="urn:microsoft.com/office/officeart/2005/8/layout/vProcess5"/>
    <dgm:cxn modelId="{39784997-AED3-4F69-ABAB-BCE6D0090A15}" type="presParOf" srcId="{14396BC5-CF43-40EB-9B13-30B0E6D92ADD}" destId="{4F4DD2E3-7FB4-40EF-9EB5-1F9FD2786766}" srcOrd="5" destOrd="0" presId="urn:microsoft.com/office/officeart/2005/8/layout/vProcess5"/>
    <dgm:cxn modelId="{6A924713-312E-4861-B9C8-D3DA3102CF46}" type="presParOf" srcId="{14396BC5-CF43-40EB-9B13-30B0E6D92ADD}" destId="{BA519609-28FB-4EEA-AE32-E3B451FDB086}" srcOrd="6" destOrd="0" presId="urn:microsoft.com/office/officeart/2005/8/layout/vProcess5"/>
    <dgm:cxn modelId="{BD21F925-207E-40CC-AED6-A82E675B2E35}" type="presParOf" srcId="{14396BC5-CF43-40EB-9B13-30B0E6D92ADD}" destId="{AB3D621B-A10D-45DA-8B4D-7696FEC67B3B}" srcOrd="7" destOrd="0" presId="urn:microsoft.com/office/officeart/2005/8/layout/vProcess5"/>
    <dgm:cxn modelId="{C7CCA507-F101-4672-942B-2CBA8C286493}" type="presParOf" srcId="{14396BC5-CF43-40EB-9B13-30B0E6D92ADD}" destId="{B0DC5AD5-5B8B-4CB1-A965-549DA4A1CE5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C3912C-36A8-49D7-90FC-D34A849E4C30}">
      <dsp:nvSpPr>
        <dsp:cNvPr id="0" name=""/>
        <dsp:cNvSpPr/>
      </dsp:nvSpPr>
      <dsp:spPr>
        <a:xfrm>
          <a:off x="0" y="0"/>
          <a:ext cx="9436179" cy="143689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AR" sz="2000" kern="1200" noProof="0" dirty="0">
              <a:latin typeface="Verdana" panose="020B0604030504040204" pitchFamily="34" charset="0"/>
              <a:ea typeface="Verdana" panose="020B0604030504040204" pitchFamily="34" charset="0"/>
            </a:rPr>
            <a:t>Enfoque en el diseño de sistemas de almacenamiento de datos que utiliza múltiples tipos de bases de datos dentro de una misma aplicación. </a:t>
          </a:r>
        </a:p>
      </dsp:txBody>
      <dsp:txXfrm>
        <a:off x="42085" y="42085"/>
        <a:ext cx="7885660" cy="1352722"/>
      </dsp:txXfrm>
    </dsp:sp>
    <dsp:sp modelId="{7546873E-4F3B-4146-B599-BA405D3AC635}">
      <dsp:nvSpPr>
        <dsp:cNvPr id="0" name=""/>
        <dsp:cNvSpPr/>
      </dsp:nvSpPr>
      <dsp:spPr>
        <a:xfrm>
          <a:off x="832604" y="1676374"/>
          <a:ext cx="9436179" cy="143689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AR" sz="2000" kern="1200" noProof="0" dirty="0">
              <a:solidFill>
                <a:schemeClr val="bg2"/>
              </a:solidFill>
              <a:latin typeface="Verdana"/>
              <a:ea typeface="Verdana"/>
            </a:rPr>
            <a:t>Seleccionamos diferentes bases de datos adecuadas para los distintos tipos de datos y las operaciones. </a:t>
          </a:r>
        </a:p>
      </dsp:txBody>
      <dsp:txXfrm>
        <a:off x="874689" y="1718459"/>
        <a:ext cx="7585425" cy="1352722"/>
      </dsp:txXfrm>
    </dsp:sp>
    <dsp:sp modelId="{5F784FA7-E966-4D5E-91B2-19F989204213}">
      <dsp:nvSpPr>
        <dsp:cNvPr id="0" name=""/>
        <dsp:cNvSpPr/>
      </dsp:nvSpPr>
      <dsp:spPr>
        <a:xfrm>
          <a:off x="1665208" y="3352749"/>
          <a:ext cx="9436179" cy="1436892"/>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AR" sz="2000" kern="1200" noProof="0" dirty="0">
              <a:solidFill>
                <a:schemeClr val="bg2"/>
              </a:solidFill>
              <a:latin typeface="Verdana"/>
              <a:ea typeface="Verdana"/>
            </a:rPr>
            <a:t>Permite optimizar el rendimiento, la eficiencia y la escalabilidad de la aplicación.</a:t>
          </a:r>
        </a:p>
      </dsp:txBody>
      <dsp:txXfrm>
        <a:off x="1707293" y="3394834"/>
        <a:ext cx="7585425" cy="1352722"/>
      </dsp:txXfrm>
    </dsp:sp>
    <dsp:sp modelId="{7EAA9888-2554-4044-A8B2-3D000743F4B4}">
      <dsp:nvSpPr>
        <dsp:cNvPr id="0" name=""/>
        <dsp:cNvSpPr/>
      </dsp:nvSpPr>
      <dsp:spPr>
        <a:xfrm>
          <a:off x="8502199" y="1089643"/>
          <a:ext cx="933980" cy="933980"/>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s-AR" sz="2000" kern="1200" noProof="0" dirty="0">
            <a:latin typeface="Verdana" panose="020B0604030504040204" pitchFamily="34" charset="0"/>
            <a:ea typeface="Verdana" panose="020B0604030504040204" pitchFamily="34" charset="0"/>
          </a:endParaRPr>
        </a:p>
      </dsp:txBody>
      <dsp:txXfrm>
        <a:off x="8712344" y="1089643"/>
        <a:ext cx="513690" cy="702820"/>
      </dsp:txXfrm>
    </dsp:sp>
    <dsp:sp modelId="{4F4DD2E3-7FB4-40EF-9EB5-1F9FD2786766}">
      <dsp:nvSpPr>
        <dsp:cNvPr id="0" name=""/>
        <dsp:cNvSpPr/>
      </dsp:nvSpPr>
      <dsp:spPr>
        <a:xfrm>
          <a:off x="9334803" y="2756438"/>
          <a:ext cx="933980" cy="933980"/>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s-AR" sz="2000" kern="1200" noProof="0" dirty="0">
            <a:latin typeface="Verdana" panose="020B0604030504040204" pitchFamily="34" charset="0"/>
            <a:ea typeface="Verdana" panose="020B0604030504040204" pitchFamily="34" charset="0"/>
          </a:endParaRPr>
        </a:p>
      </dsp:txBody>
      <dsp:txXfrm>
        <a:off x="9544948" y="2756438"/>
        <a:ext cx="513690" cy="70282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5/5/2026</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751648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5/5/2026</a:t>
            </a:fld>
            <a:endParaRPr lang="en-US"/>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a:p>
        </p:txBody>
      </p:sp>
    </p:spTree>
    <p:extLst>
      <p:ext uri="{BB962C8B-B14F-4D97-AF65-F5344CB8AC3E}">
        <p14:creationId xmlns:p14="http://schemas.microsoft.com/office/powerpoint/2010/main" val="2395275976"/>
      </p:ext>
    </p:extLst>
  </p:cSld>
  <p:clrMap bg1="dk1" tx1="lt1" bg2="dk2" tx2="lt2" accent1="accent1" accent2="accent2" accent3="accent3" accent4="accent4" accent5="accent5" accent6="accent6" hlink="hlink" folHlink="folHlink"/>
  <p:sldLayoutIdLst>
    <p:sldLayoutId id="2147483853" r:id="rId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s-es/azure/architecture/patterns/cqrs" TargetMode="External"/><Relationship Id="rId2" Type="http://schemas.openxmlformats.org/officeDocument/2006/relationships/hyperlink" Target="https://aws.amazon.com/es/blogs/aws-spanish/patron-strangler-fig-para-cargas-modernas/"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docs.aws.amazon.com/prescriptive-guidance/latest/modernization-data-persistence/shared-database.html" TargetMode="External"/><Relationship Id="rId2" Type="http://schemas.openxmlformats.org/officeDocument/2006/relationships/hyperlink" Target="https://learn.microsoft.com/es-es/azure/architecture/patterns/event-sourcing"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rlopezcano.blogspot.com/2019/02/preguntas-tareas-deinvestigacion-e.html"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4" name="Rectangle 87">
            <a:extLst>
              <a:ext uri="{FF2B5EF4-FFF2-40B4-BE49-F238E27FC236}">
                <a16:creationId xmlns:a16="http://schemas.microsoft.com/office/drawing/2014/main" id="{9C51935E-4A08-4AE4-8E13-F40CD3C4F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F8BE164A-0B01-1FB9-2930-5FCC6045F4B2}"/>
              </a:ext>
            </a:extLst>
          </p:cNvPr>
          <p:cNvSpPr>
            <a:spLocks noGrp="1"/>
          </p:cNvSpPr>
          <p:nvPr>
            <p:ph type="ctrTitle"/>
          </p:nvPr>
        </p:nvSpPr>
        <p:spPr>
          <a:xfrm>
            <a:off x="551195" y="2355800"/>
            <a:ext cx="4796143" cy="2146398"/>
          </a:xfrm>
        </p:spPr>
        <p:txBody>
          <a:bodyPr anchor="t">
            <a:normAutofit/>
          </a:bodyPr>
          <a:lstStyle/>
          <a:p>
            <a:pPr algn="ctr"/>
            <a:r>
              <a:rPr lang="es-AR" sz="4400" b="1" dirty="0">
                <a:latin typeface="Verdana" panose="020B0604030504040204" pitchFamily="34" charset="0"/>
                <a:ea typeface="Verdana" panose="020B0604030504040204" pitchFamily="34" charset="0"/>
              </a:rPr>
              <a:t>Persistencia Políglota</a:t>
            </a:r>
          </a:p>
        </p:txBody>
      </p:sp>
      <p:grpSp>
        <p:nvGrpSpPr>
          <p:cNvPr id="95" name="Group 89">
            <a:extLst>
              <a:ext uri="{FF2B5EF4-FFF2-40B4-BE49-F238E27FC236}">
                <a16:creationId xmlns:a16="http://schemas.microsoft.com/office/drawing/2014/main" id="{A7014575-F0CE-4EAB-917E-3325411BA2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91" name="Oval 90">
              <a:extLst>
                <a:ext uri="{FF2B5EF4-FFF2-40B4-BE49-F238E27FC236}">
                  <a16:creationId xmlns:a16="http://schemas.microsoft.com/office/drawing/2014/main" id="{2DB3702B-264B-4A16-B3FF-E2B1366D57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Oval 91">
              <a:extLst>
                <a:ext uri="{FF2B5EF4-FFF2-40B4-BE49-F238E27FC236}">
                  <a16:creationId xmlns:a16="http://schemas.microsoft.com/office/drawing/2014/main" id="{92A33E2F-6DB3-47D1-B577-F0D4289E8A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Oval 92">
              <a:extLst>
                <a:ext uri="{FF2B5EF4-FFF2-40B4-BE49-F238E27FC236}">
                  <a16:creationId xmlns:a16="http://schemas.microsoft.com/office/drawing/2014/main" id="{A4F24FF8-D392-412B-AB34-A7D89311B0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7" name="Picture 2">
            <a:extLst>
              <a:ext uri="{FF2B5EF4-FFF2-40B4-BE49-F238E27FC236}">
                <a16:creationId xmlns:a16="http://schemas.microsoft.com/office/drawing/2014/main" id="{C4AA4BC9-DE3A-0C84-2D4E-EC231C37643F}"/>
              </a:ext>
            </a:extLst>
          </p:cNvPr>
          <p:cNvPicPr>
            <a:picLocks noChangeAspect="1"/>
          </p:cNvPicPr>
          <p:nvPr/>
        </p:nvPicPr>
        <p:blipFill>
          <a:blip r:embed="rId2"/>
          <a:srcRect l="14750" r="14749" b="-1"/>
          <a:stretch/>
        </p:blipFill>
        <p:spPr>
          <a:xfrm>
            <a:off x="4896763" y="-1"/>
            <a:ext cx="685800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Tree>
    <p:extLst>
      <p:ext uri="{BB962C8B-B14F-4D97-AF65-F5344CB8AC3E}">
        <p14:creationId xmlns:p14="http://schemas.microsoft.com/office/powerpoint/2010/main" val="43566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51" name="Rectangle 50">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2" name="Oval 51">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3" name="Oval 52">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54" name="Group 53">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56" name="Rectangle 55">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7" name="Rectangle 56">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55" name="Rectangle 54">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59" name="Rectangle 58">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61" name="Rectangle 60">
            <a:extLst>
              <a:ext uri="{FF2B5EF4-FFF2-40B4-BE49-F238E27FC236}">
                <a16:creationId xmlns:a16="http://schemas.microsoft.com/office/drawing/2014/main" id="{97F832D9-9E09-40D4-AD67-47851A25D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AEB79C4-8108-913B-8C9F-B0DE8CBD5251}"/>
              </a:ext>
            </a:extLst>
          </p:cNvPr>
          <p:cNvSpPr>
            <a:spLocks noGrp="1"/>
          </p:cNvSpPr>
          <p:nvPr>
            <p:ph type="ctrTitle"/>
          </p:nvPr>
        </p:nvSpPr>
        <p:spPr>
          <a:xfrm>
            <a:off x="-2" y="514551"/>
            <a:ext cx="12192000" cy="739062"/>
          </a:xfrm>
        </p:spPr>
        <p:txBody>
          <a:bodyPr vert="horz" lIns="91440" tIns="45720" rIns="91440" bIns="45720" rtlCol="0" anchor="t">
            <a:normAutofit/>
          </a:bodyPr>
          <a:lstStyle/>
          <a:p>
            <a:pPr algn="ctr"/>
            <a:r>
              <a:rPr lang="es-AR" sz="4400" noProof="0" dirty="0">
                <a:latin typeface="Verdana" panose="020B0604030504040204" pitchFamily="34" charset="0"/>
                <a:ea typeface="Verdana" panose="020B0604030504040204" pitchFamily="34" charset="0"/>
              </a:rPr>
              <a:t>Persistencia políglota</a:t>
            </a:r>
          </a:p>
        </p:txBody>
      </p:sp>
      <p:graphicFrame>
        <p:nvGraphicFramePr>
          <p:cNvPr id="46" name="CuadroTexto 4">
            <a:extLst>
              <a:ext uri="{FF2B5EF4-FFF2-40B4-BE49-F238E27FC236}">
                <a16:creationId xmlns:a16="http://schemas.microsoft.com/office/drawing/2014/main" id="{0B983B64-1BBE-1750-8F1C-496A7602F10E}"/>
              </a:ext>
            </a:extLst>
          </p:cNvPr>
          <p:cNvGraphicFramePr/>
          <p:nvPr>
            <p:extLst>
              <p:ext uri="{D42A27DB-BD31-4B8C-83A1-F6EECF244321}">
                <p14:modId xmlns:p14="http://schemas.microsoft.com/office/powerpoint/2010/main" val="3512035373"/>
              </p:ext>
            </p:extLst>
          </p:nvPr>
        </p:nvGraphicFramePr>
        <p:xfrm>
          <a:off x="545304" y="1643711"/>
          <a:ext cx="11101388" cy="4789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1338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8BDDFDF0-033F-ABA4-784F-08BCD6D8BFF9}"/>
              </a:ext>
            </a:extLst>
          </p:cNvPr>
          <p:cNvSpPr txBox="1"/>
          <p:nvPr/>
        </p:nvSpPr>
        <p:spPr>
          <a:xfrm>
            <a:off x="1022552" y="2064574"/>
            <a:ext cx="10146892" cy="3170099"/>
          </a:xfrm>
          <a:prstGeom prst="rect">
            <a:avLst/>
          </a:prstGeom>
          <a:noFill/>
        </p:spPr>
        <p:txBody>
          <a:bodyPr wrap="square">
            <a:spAutoFit/>
          </a:bodyPr>
          <a:lstStyle/>
          <a:p>
            <a:pPr algn="just">
              <a:spcBef>
                <a:spcPts val="1200"/>
              </a:spcBef>
              <a:spcAft>
                <a:spcPts val="1200"/>
              </a:spcAft>
            </a:pPr>
            <a:r>
              <a:rPr lang="es-AR" sz="2000" b="1" dirty="0">
                <a:solidFill>
                  <a:srgbClr val="FFFF00"/>
                </a:solidFill>
                <a:latin typeface="Verdana" panose="020B0604030504040204" pitchFamily="34" charset="0"/>
                <a:ea typeface="Verdana" panose="020B0604030504040204" pitchFamily="34" charset="0"/>
              </a:rPr>
              <a:t>Netflix</a:t>
            </a:r>
            <a:r>
              <a:rPr lang="es-AR" sz="2000" dirty="0">
                <a:latin typeface="Verdana" panose="020B0604030504040204" pitchFamily="34" charset="0"/>
                <a:ea typeface="Verdana" panose="020B0604030504040204" pitchFamily="34" charset="0"/>
              </a:rPr>
              <a:t>: Utiliza una combinación de bases de MySQL, </a:t>
            </a:r>
            <a:r>
              <a:rPr lang="es-AR" sz="2000" dirty="0" err="1">
                <a:latin typeface="Verdana" panose="020B0604030504040204" pitchFamily="34" charset="0"/>
                <a:ea typeface="Verdana" panose="020B0604030504040204" pitchFamily="34" charset="0"/>
              </a:rPr>
              <a:t>Cassandra</a:t>
            </a:r>
            <a:r>
              <a:rPr lang="es-AR" sz="2000" dirty="0">
                <a:latin typeface="Verdana" panose="020B0604030504040204" pitchFamily="34" charset="0"/>
                <a:ea typeface="Verdana" panose="020B0604030504040204" pitchFamily="34" charset="0"/>
              </a:rPr>
              <a:t> y </a:t>
            </a:r>
            <a:r>
              <a:rPr lang="es-AR" sz="2000" dirty="0" err="1">
                <a:latin typeface="Verdana" panose="020B0604030504040204" pitchFamily="34" charset="0"/>
                <a:ea typeface="Verdana" panose="020B0604030504040204" pitchFamily="34" charset="0"/>
              </a:rPr>
              <a:t>Elasticsearch</a:t>
            </a:r>
            <a:r>
              <a:rPr lang="es-AR" sz="2000" dirty="0">
                <a:latin typeface="Verdana" panose="020B0604030504040204" pitchFamily="34" charset="0"/>
                <a:ea typeface="Verdana" panose="020B0604030504040204" pitchFamily="34" charset="0"/>
              </a:rPr>
              <a:t> (búsquedas).</a:t>
            </a:r>
          </a:p>
          <a:p>
            <a:pPr algn="just">
              <a:spcBef>
                <a:spcPts val="1200"/>
              </a:spcBef>
              <a:spcAft>
                <a:spcPts val="1200"/>
              </a:spcAft>
            </a:pPr>
            <a:r>
              <a:rPr lang="es-AR" sz="2000" b="1" dirty="0">
                <a:solidFill>
                  <a:srgbClr val="FFFF00"/>
                </a:solidFill>
                <a:latin typeface="Verdana" panose="020B0604030504040204" pitchFamily="34" charset="0"/>
                <a:ea typeface="Verdana" panose="020B0604030504040204" pitchFamily="34" charset="0"/>
              </a:rPr>
              <a:t>Amazon</a:t>
            </a:r>
            <a:r>
              <a:rPr lang="es-AR" sz="2000" dirty="0">
                <a:latin typeface="Verdana" panose="020B0604030504040204" pitchFamily="34" charset="0"/>
                <a:ea typeface="Verdana" panose="020B0604030504040204" pitchFamily="34" charset="0"/>
              </a:rPr>
              <a:t>: Emplea múltiples tecnologías de bases de datos, </a:t>
            </a:r>
            <a:r>
              <a:rPr lang="es-AR" sz="2000" dirty="0" err="1">
                <a:latin typeface="Verdana" panose="020B0604030504040204" pitchFamily="34" charset="0"/>
                <a:ea typeface="Verdana" panose="020B0604030504040204" pitchFamily="34" charset="0"/>
              </a:rPr>
              <a:t>DynamoDB</a:t>
            </a:r>
            <a:r>
              <a:rPr lang="es-AR" sz="2000" dirty="0">
                <a:latin typeface="Verdana" panose="020B0604030504040204" pitchFamily="34" charset="0"/>
                <a:ea typeface="Verdana" panose="020B0604030504040204" pitchFamily="34" charset="0"/>
              </a:rPr>
              <a:t>, RDS (relacional) y </a:t>
            </a:r>
            <a:r>
              <a:rPr lang="es-AR" sz="2000" dirty="0" err="1">
                <a:latin typeface="Verdana" panose="020B0604030504040204" pitchFamily="34" charset="0"/>
                <a:ea typeface="Verdana" panose="020B0604030504040204" pitchFamily="34" charset="0"/>
              </a:rPr>
              <a:t>Redshift</a:t>
            </a:r>
            <a:r>
              <a:rPr lang="es-AR" sz="2000" dirty="0">
                <a:latin typeface="Verdana" panose="020B0604030504040204" pitchFamily="34" charset="0"/>
                <a:ea typeface="Verdana" panose="020B0604030504040204" pitchFamily="34" charset="0"/>
              </a:rPr>
              <a:t>.</a:t>
            </a:r>
          </a:p>
          <a:p>
            <a:pPr algn="just">
              <a:spcBef>
                <a:spcPts val="1200"/>
              </a:spcBef>
              <a:spcAft>
                <a:spcPts val="1200"/>
              </a:spcAft>
            </a:pPr>
            <a:r>
              <a:rPr lang="es-AR" sz="2000" b="1" dirty="0">
                <a:solidFill>
                  <a:srgbClr val="FFFF00"/>
                </a:solidFill>
                <a:latin typeface="Verdana" panose="020B0604030504040204" pitchFamily="34" charset="0"/>
                <a:ea typeface="Verdana" panose="020B0604030504040204" pitchFamily="34" charset="0"/>
              </a:rPr>
              <a:t>eBay</a:t>
            </a:r>
            <a:r>
              <a:rPr lang="es-AR" sz="2000" dirty="0">
                <a:latin typeface="Verdana" panose="020B0604030504040204" pitchFamily="34" charset="0"/>
                <a:ea typeface="Verdana" panose="020B0604030504040204" pitchFamily="34" charset="0"/>
              </a:rPr>
              <a:t>: Usa una combinación de bases de datos Oracle, MongoDB y </a:t>
            </a:r>
            <a:r>
              <a:rPr lang="es-AR" sz="2000" dirty="0" err="1">
                <a:latin typeface="Verdana" panose="020B0604030504040204" pitchFamily="34" charset="0"/>
                <a:ea typeface="Verdana" panose="020B0604030504040204" pitchFamily="34" charset="0"/>
              </a:rPr>
              <a:t>Cassandra</a:t>
            </a:r>
            <a:r>
              <a:rPr lang="es-AR" sz="2000" dirty="0">
                <a:latin typeface="Verdana" panose="020B0604030504040204" pitchFamily="34" charset="0"/>
                <a:ea typeface="Verdana" panose="020B0604030504040204" pitchFamily="34" charset="0"/>
              </a:rPr>
              <a:t>.</a:t>
            </a:r>
          </a:p>
          <a:p>
            <a:pPr algn="just">
              <a:spcBef>
                <a:spcPts val="1200"/>
              </a:spcBef>
              <a:spcAft>
                <a:spcPts val="1200"/>
              </a:spcAft>
            </a:pPr>
            <a:r>
              <a:rPr lang="es-AR" sz="2000" b="1" dirty="0">
                <a:solidFill>
                  <a:srgbClr val="FFFF00"/>
                </a:solidFill>
                <a:latin typeface="Verdana" panose="020B0604030504040204" pitchFamily="34" charset="0"/>
                <a:ea typeface="Verdana" panose="020B0604030504040204" pitchFamily="34" charset="0"/>
              </a:rPr>
              <a:t>LinkedIn</a:t>
            </a:r>
            <a:r>
              <a:rPr lang="es-AR" sz="2000" dirty="0">
                <a:latin typeface="Verdana" panose="020B0604030504040204" pitchFamily="34" charset="0"/>
                <a:ea typeface="Verdana" panose="020B0604030504040204" pitchFamily="34" charset="0"/>
              </a:rPr>
              <a:t>: Utiliza bases de datos relacionales MySQL, Voldemort y </a:t>
            </a:r>
            <a:r>
              <a:rPr lang="es-AR" sz="2000" dirty="0" err="1">
                <a:latin typeface="Verdana" panose="020B0604030504040204" pitchFamily="34" charset="0"/>
                <a:ea typeface="Verdana" panose="020B0604030504040204" pitchFamily="34" charset="0"/>
              </a:rPr>
              <a:t>Espresso</a:t>
            </a:r>
            <a:endParaRPr lang="es-AR" sz="2000" dirty="0">
              <a:latin typeface="Verdana" panose="020B0604030504040204" pitchFamily="34" charset="0"/>
              <a:ea typeface="Verdana" panose="020B0604030504040204" pitchFamily="34" charset="0"/>
            </a:endParaRPr>
          </a:p>
        </p:txBody>
      </p:sp>
      <p:sp>
        <p:nvSpPr>
          <p:cNvPr id="8" name="Título 1">
            <a:extLst>
              <a:ext uri="{FF2B5EF4-FFF2-40B4-BE49-F238E27FC236}">
                <a16:creationId xmlns:a16="http://schemas.microsoft.com/office/drawing/2014/main" id="{3F65879B-DF4A-8CBC-E80A-85544A3DE782}"/>
              </a:ext>
            </a:extLst>
          </p:cNvPr>
          <p:cNvSpPr>
            <a:spLocks noGrp="1"/>
          </p:cNvSpPr>
          <p:nvPr>
            <p:ph type="ctrTitle"/>
          </p:nvPr>
        </p:nvSpPr>
        <p:spPr>
          <a:xfrm>
            <a:off x="-2" y="514551"/>
            <a:ext cx="12192000" cy="739062"/>
          </a:xfrm>
        </p:spPr>
        <p:txBody>
          <a:bodyPr vert="horz" lIns="91440" tIns="45720" rIns="91440" bIns="45720" rtlCol="0" anchor="t">
            <a:normAutofit/>
          </a:bodyPr>
          <a:lstStyle/>
          <a:p>
            <a:pPr algn="ctr"/>
            <a:r>
              <a:rPr lang="es-AR" sz="4400" noProof="0" dirty="0">
                <a:latin typeface="Verdana" panose="020B0604030504040204" pitchFamily="34" charset="0"/>
                <a:ea typeface="Verdana" panose="020B0604030504040204" pitchFamily="34" charset="0"/>
              </a:rPr>
              <a:t>Quienes la usan</a:t>
            </a:r>
          </a:p>
        </p:txBody>
      </p:sp>
    </p:spTree>
    <p:extLst>
      <p:ext uri="{BB962C8B-B14F-4D97-AF65-F5344CB8AC3E}">
        <p14:creationId xmlns:p14="http://schemas.microsoft.com/office/powerpoint/2010/main" val="276850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7A8C32E-D3D0-A8A6-FEBE-E06D7568AC60}"/>
              </a:ext>
            </a:extLst>
          </p:cNvPr>
          <p:cNvSpPr txBox="1"/>
          <p:nvPr/>
        </p:nvSpPr>
        <p:spPr>
          <a:xfrm>
            <a:off x="565355" y="1468631"/>
            <a:ext cx="11061290" cy="4862870"/>
          </a:xfrm>
          <a:prstGeom prst="rect">
            <a:avLst/>
          </a:prstGeom>
          <a:noFill/>
        </p:spPr>
        <p:txBody>
          <a:bodyPr wrap="square">
            <a:spAutoFit/>
          </a:bodyPr>
          <a:lstStyle/>
          <a:p>
            <a:pPr marL="342900" indent="-342900">
              <a:spcBef>
                <a:spcPts val="1200"/>
              </a:spcBef>
              <a:spcAft>
                <a:spcPts val="600"/>
              </a:spcAft>
              <a:buFont typeface="Wingdings" panose="05000000000000000000" pitchFamily="2" charset="2"/>
              <a:buChar char="Ø"/>
            </a:pPr>
            <a:r>
              <a:rPr lang="es-AR" sz="2000" b="1" dirty="0">
                <a:solidFill>
                  <a:srgbClr val="FFFF00"/>
                </a:solidFill>
                <a:latin typeface="Verdana" panose="020B0604030504040204" pitchFamily="34" charset="0"/>
                <a:ea typeface="Verdana" panose="020B0604030504040204" pitchFamily="34" charset="0"/>
              </a:rPr>
              <a:t>Rendimiento</a:t>
            </a:r>
            <a:r>
              <a:rPr lang="es-AR" sz="2000" dirty="0">
                <a:latin typeface="Verdana" panose="020B0604030504040204" pitchFamily="34" charset="0"/>
                <a:ea typeface="Verdana" panose="020B0604030504040204" pitchFamily="34" charset="0"/>
              </a:rPr>
              <a:t>: Latencia y Throughput (operaciones por segundo)</a:t>
            </a:r>
          </a:p>
          <a:p>
            <a:pPr marL="342900" indent="-342900">
              <a:spcBef>
                <a:spcPts val="1200"/>
              </a:spcBef>
              <a:spcAft>
                <a:spcPts val="600"/>
              </a:spcAft>
              <a:buFont typeface="Wingdings" panose="05000000000000000000" pitchFamily="2" charset="2"/>
              <a:buChar char="Ø"/>
            </a:pPr>
            <a:r>
              <a:rPr lang="es-AR" sz="2000" b="1" dirty="0">
                <a:solidFill>
                  <a:srgbClr val="FFFF00"/>
                </a:solidFill>
                <a:latin typeface="Verdana" panose="020B0604030504040204" pitchFamily="34" charset="0"/>
                <a:ea typeface="Verdana" panose="020B0604030504040204" pitchFamily="34" charset="0"/>
              </a:rPr>
              <a:t>Escalabilidad</a:t>
            </a:r>
            <a:r>
              <a:rPr lang="es-AR" sz="2000" dirty="0">
                <a:latin typeface="Verdana" panose="020B0604030504040204" pitchFamily="34" charset="0"/>
                <a:ea typeface="Verdana" panose="020B0604030504040204" pitchFamily="34" charset="0"/>
              </a:rPr>
              <a:t>: Escalado (capacidad vertical / horizontal) y Elasticidad (adaptabilidad a cambios).</a:t>
            </a:r>
          </a:p>
          <a:p>
            <a:pPr marL="342900" indent="-342900">
              <a:spcBef>
                <a:spcPts val="1200"/>
              </a:spcBef>
              <a:spcAft>
                <a:spcPts val="600"/>
              </a:spcAft>
              <a:buFont typeface="Wingdings" panose="05000000000000000000" pitchFamily="2" charset="2"/>
              <a:buChar char="Ø"/>
            </a:pPr>
            <a:r>
              <a:rPr lang="es-AR" sz="2000" b="1" dirty="0">
                <a:solidFill>
                  <a:srgbClr val="FFFF00"/>
                </a:solidFill>
                <a:latin typeface="Verdana" panose="020B0604030504040204" pitchFamily="34" charset="0"/>
                <a:ea typeface="Verdana" panose="020B0604030504040204" pitchFamily="34" charset="0"/>
              </a:rPr>
              <a:t>Disponibilidad y fiabilidad</a:t>
            </a:r>
            <a:r>
              <a:rPr lang="es-AR" sz="2000" dirty="0">
                <a:latin typeface="Verdana" panose="020B0604030504040204" pitchFamily="34" charset="0"/>
                <a:ea typeface="Verdana" panose="020B0604030504040204" pitchFamily="34" charset="0"/>
              </a:rPr>
              <a:t>: Tiempo de actividad (</a:t>
            </a:r>
            <a:r>
              <a:rPr lang="es-AR" sz="2000" dirty="0" err="1">
                <a:latin typeface="Verdana" panose="020B0604030504040204" pitchFamily="34" charset="0"/>
                <a:ea typeface="Verdana" panose="020B0604030504040204" pitchFamily="34" charset="0"/>
              </a:rPr>
              <a:t>uptime</a:t>
            </a:r>
            <a:r>
              <a:rPr lang="es-AR" sz="2000" dirty="0">
                <a:latin typeface="Verdana" panose="020B0604030504040204" pitchFamily="34" charset="0"/>
                <a:ea typeface="Verdana" panose="020B0604030504040204" pitchFamily="34" charset="0"/>
              </a:rPr>
              <a:t> vs </a:t>
            </a:r>
            <a:r>
              <a:rPr lang="es-AR" sz="2000" dirty="0" err="1">
                <a:latin typeface="Verdana" panose="020B0604030504040204" pitchFamily="34" charset="0"/>
                <a:ea typeface="Verdana" panose="020B0604030504040204" pitchFamily="34" charset="0"/>
              </a:rPr>
              <a:t>downtime</a:t>
            </a:r>
            <a:r>
              <a:rPr lang="es-AR" sz="2000" dirty="0">
                <a:latin typeface="Verdana" panose="020B0604030504040204" pitchFamily="34" charset="0"/>
                <a:ea typeface="Verdana" panose="020B0604030504040204" pitchFamily="34" charset="0"/>
              </a:rPr>
              <a:t>)</a:t>
            </a:r>
          </a:p>
          <a:p>
            <a:pPr marL="342900" indent="-342900">
              <a:spcBef>
                <a:spcPts val="1200"/>
              </a:spcBef>
              <a:spcAft>
                <a:spcPts val="600"/>
              </a:spcAft>
              <a:buFont typeface="Wingdings" panose="05000000000000000000" pitchFamily="2" charset="2"/>
              <a:buChar char="Ø"/>
            </a:pPr>
            <a:r>
              <a:rPr lang="es-AR" sz="2000" b="1" dirty="0">
                <a:solidFill>
                  <a:srgbClr val="FFFF00"/>
                </a:solidFill>
                <a:latin typeface="Verdana" panose="020B0604030504040204" pitchFamily="34" charset="0"/>
                <a:ea typeface="Verdana" panose="020B0604030504040204" pitchFamily="34" charset="0"/>
              </a:rPr>
              <a:t>Consistencia de datos</a:t>
            </a:r>
            <a:r>
              <a:rPr lang="es-AR" sz="2000" dirty="0">
                <a:latin typeface="Verdana" panose="020B0604030504040204" pitchFamily="34" charset="0"/>
                <a:ea typeface="Verdana" panose="020B0604030504040204" pitchFamily="34" charset="0"/>
              </a:rPr>
              <a:t>: Integridad de datos y Sincronización de datos</a:t>
            </a:r>
          </a:p>
          <a:p>
            <a:pPr marL="342900" indent="-342900">
              <a:spcBef>
                <a:spcPts val="1200"/>
              </a:spcBef>
              <a:spcAft>
                <a:spcPts val="600"/>
              </a:spcAft>
              <a:buFont typeface="Wingdings" panose="05000000000000000000" pitchFamily="2" charset="2"/>
              <a:buChar char="Ø"/>
            </a:pPr>
            <a:r>
              <a:rPr lang="es-AR" sz="2000" b="1" dirty="0">
                <a:solidFill>
                  <a:srgbClr val="FFFF00"/>
                </a:solidFill>
                <a:latin typeface="Verdana" panose="020B0604030504040204" pitchFamily="34" charset="0"/>
                <a:ea typeface="Verdana" panose="020B0604030504040204" pitchFamily="34" charset="0"/>
              </a:rPr>
              <a:t>Costos</a:t>
            </a:r>
            <a:r>
              <a:rPr lang="es-AR" sz="2000" dirty="0">
                <a:latin typeface="Verdana" panose="020B0604030504040204" pitchFamily="34" charset="0"/>
                <a:ea typeface="Verdana" panose="020B0604030504040204" pitchFamily="34" charset="0"/>
              </a:rPr>
              <a:t>: Costos operativos (mantenimiento y operación) vs Retorno de inversión (ROI)</a:t>
            </a:r>
          </a:p>
          <a:p>
            <a:pPr marL="342900" indent="-342900">
              <a:spcBef>
                <a:spcPts val="1200"/>
              </a:spcBef>
              <a:spcAft>
                <a:spcPts val="600"/>
              </a:spcAft>
              <a:buFont typeface="Wingdings" panose="05000000000000000000" pitchFamily="2" charset="2"/>
              <a:buChar char="Ø"/>
            </a:pPr>
            <a:r>
              <a:rPr lang="es-AR" sz="2000" b="1" dirty="0">
                <a:solidFill>
                  <a:srgbClr val="FFFF00"/>
                </a:solidFill>
                <a:latin typeface="Verdana" panose="020B0604030504040204" pitchFamily="34" charset="0"/>
                <a:ea typeface="Verdana" panose="020B0604030504040204" pitchFamily="34" charset="0"/>
              </a:rPr>
              <a:t>Satisfacción del usuario</a:t>
            </a:r>
            <a:r>
              <a:rPr lang="es-AR" sz="2000" dirty="0">
                <a:latin typeface="Verdana" panose="020B0604030504040204" pitchFamily="34" charset="0"/>
                <a:ea typeface="Verdana" panose="020B0604030504040204" pitchFamily="34" charset="0"/>
              </a:rPr>
              <a:t>: Experiencia del usuario y Tasa de retención de usuarios</a:t>
            </a:r>
          </a:p>
          <a:p>
            <a:pPr marL="342900" indent="-342900">
              <a:spcBef>
                <a:spcPts val="1200"/>
              </a:spcBef>
              <a:spcAft>
                <a:spcPts val="600"/>
              </a:spcAft>
              <a:buFont typeface="Wingdings" panose="05000000000000000000" pitchFamily="2" charset="2"/>
              <a:buChar char="Ø"/>
            </a:pPr>
            <a:r>
              <a:rPr lang="es-AR" sz="2000" b="1" dirty="0">
                <a:solidFill>
                  <a:srgbClr val="FFFF00"/>
                </a:solidFill>
                <a:latin typeface="Verdana" panose="020B0604030504040204" pitchFamily="34" charset="0"/>
                <a:ea typeface="Verdana" panose="020B0604030504040204" pitchFamily="34" charset="0"/>
              </a:rPr>
              <a:t>Flexibilidad y adaptabilidad</a:t>
            </a:r>
            <a:r>
              <a:rPr lang="es-AR" sz="2000" dirty="0">
                <a:latin typeface="Verdana" panose="020B0604030504040204" pitchFamily="34" charset="0"/>
                <a:ea typeface="Verdana" panose="020B0604030504040204" pitchFamily="34" charset="0"/>
              </a:rPr>
              <a:t>: Capacidad de adaptación vs Tiempo de implementación de cambios</a:t>
            </a:r>
          </a:p>
        </p:txBody>
      </p:sp>
      <p:sp>
        <p:nvSpPr>
          <p:cNvPr id="7" name="CuadroTexto 6">
            <a:extLst>
              <a:ext uri="{FF2B5EF4-FFF2-40B4-BE49-F238E27FC236}">
                <a16:creationId xmlns:a16="http://schemas.microsoft.com/office/drawing/2014/main" id="{593EA4D8-CBC8-A1CB-F4B5-29FA92EF4E13}"/>
              </a:ext>
            </a:extLst>
          </p:cNvPr>
          <p:cNvSpPr txBox="1"/>
          <p:nvPr/>
        </p:nvSpPr>
        <p:spPr>
          <a:xfrm>
            <a:off x="0" y="198888"/>
            <a:ext cx="12192000" cy="1077218"/>
          </a:xfrm>
          <a:prstGeom prst="rect">
            <a:avLst/>
          </a:prstGeom>
          <a:noFill/>
        </p:spPr>
        <p:txBody>
          <a:bodyPr wrap="square">
            <a:spAutoFit/>
          </a:bodyPr>
          <a:lstStyle/>
          <a:p>
            <a:pPr algn="ctr"/>
            <a:r>
              <a:rPr lang="es-AR" sz="3200" dirty="0">
                <a:latin typeface="Verdana" panose="020B0604030504040204" pitchFamily="34" charset="0"/>
                <a:ea typeface="Verdana" panose="020B0604030504040204" pitchFamily="34" charset="0"/>
              </a:rPr>
              <a:t>¿Cómo medir el éxito de la implementación de persistencia políglota:</a:t>
            </a:r>
          </a:p>
        </p:txBody>
      </p:sp>
    </p:spTree>
    <p:extLst>
      <p:ext uri="{BB962C8B-B14F-4D97-AF65-F5344CB8AC3E}">
        <p14:creationId xmlns:p14="http://schemas.microsoft.com/office/powerpoint/2010/main" val="485976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695E90-4A0B-971E-CB30-F9F145B1A4BD}"/>
              </a:ext>
            </a:extLst>
          </p:cNvPr>
          <p:cNvSpPr>
            <a:spLocks noGrp="1"/>
          </p:cNvSpPr>
          <p:nvPr>
            <p:ph type="ctrTitle"/>
          </p:nvPr>
        </p:nvSpPr>
        <p:spPr>
          <a:xfrm>
            <a:off x="2692" y="178538"/>
            <a:ext cx="12184426" cy="1385000"/>
          </a:xfrm>
        </p:spPr>
        <p:txBody>
          <a:bodyPr vert="horz" lIns="91440" tIns="45720" rIns="91440" bIns="45720" rtlCol="0" anchor="ctr">
            <a:normAutofit/>
          </a:bodyPr>
          <a:lstStyle/>
          <a:p>
            <a:pPr algn="ctr"/>
            <a:r>
              <a:rPr lang="es-ES" sz="2800" dirty="0">
                <a:latin typeface="Verdana"/>
                <a:ea typeface="Verdana"/>
              </a:rPr>
              <a:t>Algunas prácticas y pautas recomendadas para utilizar el patrón de persistencia políglota de manera efectiva</a:t>
            </a:r>
            <a:endParaRPr lang="es-ES" sz="2800" dirty="0"/>
          </a:p>
        </p:txBody>
      </p:sp>
      <p:sp>
        <p:nvSpPr>
          <p:cNvPr id="3" name="Subtítulo 2">
            <a:extLst>
              <a:ext uri="{FF2B5EF4-FFF2-40B4-BE49-F238E27FC236}">
                <a16:creationId xmlns:a16="http://schemas.microsoft.com/office/drawing/2014/main" id="{8E4DF7FE-717E-8B86-CCD9-A387352A92DE}"/>
              </a:ext>
            </a:extLst>
          </p:cNvPr>
          <p:cNvSpPr>
            <a:spLocks noGrp="1"/>
          </p:cNvSpPr>
          <p:nvPr>
            <p:ph type="subTitle" idx="1"/>
          </p:nvPr>
        </p:nvSpPr>
        <p:spPr>
          <a:xfrm>
            <a:off x="627923" y="1714501"/>
            <a:ext cx="11096746" cy="4779838"/>
          </a:xfrm>
        </p:spPr>
        <p:txBody>
          <a:bodyPr vert="horz" lIns="91440" tIns="45720" rIns="91440" bIns="45720" rtlCol="0" anchor="ctr">
            <a:normAutofit/>
          </a:bodyPr>
          <a:lstStyle/>
          <a:p>
            <a:pPr marL="342900" indent="-342900" algn="just">
              <a:lnSpc>
                <a:spcPct val="100000"/>
              </a:lnSpc>
              <a:spcBef>
                <a:spcPts val="1200"/>
              </a:spcBef>
              <a:spcAft>
                <a:spcPts val="1200"/>
              </a:spcAft>
              <a:buFont typeface="Arial" panose="020B0604020202020204" pitchFamily="34" charset="0"/>
              <a:buChar char="•"/>
            </a:pPr>
            <a:r>
              <a:rPr lang="es-ES" sz="2000" cap="none" spc="300" dirty="0">
                <a:latin typeface="Verdana"/>
                <a:ea typeface="Verdana"/>
              </a:rPr>
              <a:t>Analizar el tipo, el volumen, la variedad, la velocidad y la veracidad de los datos.</a:t>
            </a:r>
            <a:endParaRPr lang="es-ES" sz="2000" cap="all" spc="300" dirty="0"/>
          </a:p>
          <a:p>
            <a:pPr marL="342900" indent="-342900" algn="just">
              <a:lnSpc>
                <a:spcPct val="100000"/>
              </a:lnSpc>
              <a:spcBef>
                <a:spcPts val="1200"/>
              </a:spcBef>
              <a:spcAft>
                <a:spcPts val="1200"/>
              </a:spcAft>
              <a:buFont typeface="Arial" panose="020B0604020202020204" pitchFamily="34" charset="0"/>
              <a:buChar char="•"/>
            </a:pPr>
            <a:r>
              <a:rPr lang="es-ES" sz="2000" cap="none" spc="300" dirty="0">
                <a:latin typeface="Verdana"/>
                <a:ea typeface="Verdana"/>
              </a:rPr>
              <a:t>Identifique los patrones de acceso a datos, las consultas y las operaciones que la aplicación debe realizar.</a:t>
            </a:r>
          </a:p>
          <a:p>
            <a:pPr marL="342900" indent="-342900" algn="just">
              <a:lnSpc>
                <a:spcPct val="100000"/>
              </a:lnSpc>
              <a:spcBef>
                <a:spcPts val="1200"/>
              </a:spcBef>
              <a:spcAft>
                <a:spcPts val="1200"/>
              </a:spcAft>
              <a:buFont typeface="Arial" panose="020B0604020202020204" pitchFamily="34" charset="0"/>
              <a:buChar char="•"/>
            </a:pPr>
            <a:r>
              <a:rPr lang="es-ES" sz="2000" cap="none" spc="300" dirty="0">
                <a:latin typeface="Verdana"/>
                <a:ea typeface="Verdana"/>
              </a:rPr>
              <a:t>Elija las tecnologías de almacenamiento de datos que mejor se adapten a sus requisitos y características (rendimiento y/o escalabilidad).</a:t>
            </a:r>
          </a:p>
          <a:p>
            <a:pPr marL="342900" indent="-342900" algn="just">
              <a:lnSpc>
                <a:spcPct val="100000"/>
              </a:lnSpc>
              <a:spcBef>
                <a:spcPts val="1200"/>
              </a:spcBef>
              <a:spcAft>
                <a:spcPts val="1200"/>
              </a:spcAft>
              <a:buFont typeface="Arial" panose="020B0604020202020204" pitchFamily="34" charset="0"/>
              <a:buChar char="•"/>
            </a:pPr>
            <a:r>
              <a:rPr lang="es-ES" sz="2000" cap="none" spc="300" dirty="0">
                <a:latin typeface="Verdana"/>
                <a:ea typeface="Verdana"/>
              </a:rPr>
              <a:t>Diseñe su modelo de datos y esquema para cada almacén de datos  y optimícelo para las consultas y operaciones más frecuentes y críticas.</a:t>
            </a:r>
          </a:p>
        </p:txBody>
      </p:sp>
    </p:spTree>
    <p:extLst>
      <p:ext uri="{BB962C8B-B14F-4D97-AF65-F5344CB8AC3E}">
        <p14:creationId xmlns:p14="http://schemas.microsoft.com/office/powerpoint/2010/main" val="720925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498E-707F-E893-7C28-6858D0AD104D}"/>
            </a:ext>
          </a:extLst>
        </p:cNvPr>
        <p:cNvGrpSpPr/>
        <p:nvPr/>
      </p:nvGrpSpPr>
      <p:grpSpPr>
        <a:xfrm>
          <a:off x="0" y="0"/>
          <a:ext cx="0" cy="0"/>
          <a:chOff x="0" y="0"/>
          <a:chExt cx="0" cy="0"/>
        </a:xfrm>
      </p:grpSpPr>
      <p:sp>
        <p:nvSpPr>
          <p:cNvPr id="3" name="Subtítulo 2">
            <a:extLst>
              <a:ext uri="{FF2B5EF4-FFF2-40B4-BE49-F238E27FC236}">
                <a16:creationId xmlns:a16="http://schemas.microsoft.com/office/drawing/2014/main" id="{E971BD52-797C-68C0-17E3-71510149EB61}"/>
              </a:ext>
            </a:extLst>
          </p:cNvPr>
          <p:cNvSpPr>
            <a:spLocks noGrp="1"/>
          </p:cNvSpPr>
          <p:nvPr>
            <p:ph type="subTitle" idx="1"/>
          </p:nvPr>
        </p:nvSpPr>
        <p:spPr>
          <a:xfrm>
            <a:off x="549769" y="2202963"/>
            <a:ext cx="11096746" cy="3382838"/>
          </a:xfrm>
        </p:spPr>
        <p:txBody>
          <a:bodyPr vert="horz" lIns="91440" tIns="45720" rIns="91440" bIns="45720" rtlCol="0" anchor="t">
            <a:normAutofit/>
          </a:bodyPr>
          <a:lstStyle/>
          <a:p>
            <a:pPr marL="342900" indent="-342900" algn="just">
              <a:lnSpc>
                <a:spcPct val="100000"/>
              </a:lnSpc>
              <a:spcBef>
                <a:spcPts val="1800"/>
              </a:spcBef>
              <a:spcAft>
                <a:spcPts val="1800"/>
              </a:spcAft>
              <a:buFont typeface="Arial" panose="020B0604020202020204" pitchFamily="34" charset="0"/>
              <a:buChar char="•"/>
            </a:pPr>
            <a:r>
              <a:rPr lang="es-ES" sz="2000" cap="none" dirty="0">
                <a:latin typeface="Verdana"/>
                <a:ea typeface="Verdana"/>
              </a:rPr>
              <a:t>Implementar los mecanismos necesarios de integración y sincronización de datos entre diferentes almacenes.</a:t>
            </a:r>
            <a:endParaRPr lang="es-ES" sz="2000" dirty="0"/>
          </a:p>
          <a:p>
            <a:pPr marL="342900" indent="-342900" algn="just">
              <a:lnSpc>
                <a:spcPct val="100000"/>
              </a:lnSpc>
              <a:spcBef>
                <a:spcPts val="1800"/>
              </a:spcBef>
              <a:spcAft>
                <a:spcPts val="1800"/>
              </a:spcAft>
              <a:buFont typeface="Arial" panose="020B0604020202020204" pitchFamily="34" charset="0"/>
              <a:buChar char="•"/>
            </a:pPr>
            <a:r>
              <a:rPr lang="es-ES" sz="2000" cap="none" dirty="0">
                <a:latin typeface="Verdana"/>
                <a:ea typeface="Verdana"/>
              </a:rPr>
              <a:t>Pruebe y supervise su solución de forma exhaustiva.</a:t>
            </a:r>
          </a:p>
          <a:p>
            <a:pPr marL="342900" indent="-342900" algn="just">
              <a:lnSpc>
                <a:spcPct val="100000"/>
              </a:lnSpc>
              <a:spcBef>
                <a:spcPts val="1800"/>
              </a:spcBef>
              <a:spcAft>
                <a:spcPts val="1800"/>
              </a:spcAft>
              <a:buFont typeface="Arial" panose="020B0604020202020204" pitchFamily="34" charset="0"/>
              <a:buChar char="•"/>
            </a:pPr>
            <a:r>
              <a:rPr lang="es-ES" sz="2000" cap="none" dirty="0">
                <a:latin typeface="Verdana"/>
                <a:ea typeface="Verdana"/>
              </a:rPr>
              <a:t>Recopile métricas y comentarios para evaluar la efectividad</a:t>
            </a:r>
          </a:p>
        </p:txBody>
      </p:sp>
      <p:sp>
        <p:nvSpPr>
          <p:cNvPr id="7" name="Título 1">
            <a:extLst>
              <a:ext uri="{FF2B5EF4-FFF2-40B4-BE49-F238E27FC236}">
                <a16:creationId xmlns:a16="http://schemas.microsoft.com/office/drawing/2014/main" id="{212258C5-B60E-6329-161F-49E4E4C5DD5F}"/>
              </a:ext>
            </a:extLst>
          </p:cNvPr>
          <p:cNvSpPr txBox="1">
            <a:spLocks/>
          </p:cNvSpPr>
          <p:nvPr/>
        </p:nvSpPr>
        <p:spPr>
          <a:xfrm>
            <a:off x="2692" y="178538"/>
            <a:ext cx="12184426" cy="1385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8800" kern="1200">
                <a:solidFill>
                  <a:schemeClr val="tx1"/>
                </a:solidFill>
                <a:latin typeface="+mj-lt"/>
                <a:ea typeface="+mj-ea"/>
                <a:cs typeface="+mj-cs"/>
              </a:defRPr>
            </a:lvl1pPr>
          </a:lstStyle>
          <a:p>
            <a:pPr algn="ctr"/>
            <a:r>
              <a:rPr lang="es-ES" sz="2800" dirty="0">
                <a:latin typeface="Verdana"/>
                <a:ea typeface="Verdana"/>
              </a:rPr>
              <a:t>Algunas prácticas y pautas recomendadas para utilizar el patrón de persistencia políglota de manera efectiva</a:t>
            </a:r>
            <a:endParaRPr lang="es-ES" sz="2800" dirty="0"/>
          </a:p>
        </p:txBody>
      </p:sp>
    </p:spTree>
    <p:extLst>
      <p:ext uri="{BB962C8B-B14F-4D97-AF65-F5344CB8AC3E}">
        <p14:creationId xmlns:p14="http://schemas.microsoft.com/office/powerpoint/2010/main" val="2993789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082E44EB-1442-8E47-5E50-2D7EFD36F9BA}"/>
              </a:ext>
            </a:extLst>
          </p:cNvPr>
          <p:cNvSpPr>
            <a:spLocks noGrp="1"/>
          </p:cNvSpPr>
          <p:nvPr>
            <p:ph type="subTitle" idx="1"/>
          </p:nvPr>
        </p:nvSpPr>
        <p:spPr>
          <a:xfrm>
            <a:off x="911134" y="1179871"/>
            <a:ext cx="10367274" cy="5132438"/>
          </a:xfrm>
        </p:spPr>
        <p:txBody>
          <a:bodyPr>
            <a:noAutofit/>
          </a:bodyPr>
          <a:lstStyle/>
          <a:p>
            <a:pPr algn="just">
              <a:lnSpc>
                <a:spcPct val="120000"/>
              </a:lnSpc>
              <a:spcBef>
                <a:spcPts val="0"/>
              </a:spcBef>
            </a:pPr>
            <a:r>
              <a:rPr lang="es-AR" sz="2000" b="1" i="0" cap="none" dirty="0" err="1">
                <a:solidFill>
                  <a:srgbClr val="FFFF00"/>
                </a:solidFill>
                <a:effectLst/>
                <a:latin typeface="Verdana" panose="020B0604030504040204" pitchFamily="34" charset="0"/>
                <a:ea typeface="Verdana" panose="020B0604030504040204" pitchFamily="34" charset="0"/>
                <a:hlinkClick r:id="rId2"/>
              </a:rPr>
              <a:t>Strangler</a:t>
            </a:r>
            <a:r>
              <a:rPr lang="es-AR" sz="2000" b="1" i="0" cap="none" dirty="0">
                <a:solidFill>
                  <a:srgbClr val="FFFF00"/>
                </a:solidFill>
                <a:effectLst/>
                <a:latin typeface="Verdana" panose="020B0604030504040204" pitchFamily="34" charset="0"/>
                <a:ea typeface="Verdana" panose="020B0604030504040204" pitchFamily="34" charset="0"/>
                <a:hlinkClick r:id="rId2"/>
              </a:rPr>
              <a:t> </a:t>
            </a:r>
            <a:r>
              <a:rPr lang="es-AR" sz="2000" b="1" i="0" cap="none" dirty="0" err="1">
                <a:solidFill>
                  <a:srgbClr val="FFFF00"/>
                </a:solidFill>
                <a:effectLst/>
                <a:latin typeface="Verdana" panose="020B0604030504040204" pitchFamily="34" charset="0"/>
                <a:ea typeface="Verdana" panose="020B0604030504040204" pitchFamily="34" charset="0"/>
                <a:hlinkClick r:id="rId2"/>
              </a:rPr>
              <a:t>fig</a:t>
            </a:r>
            <a:r>
              <a:rPr lang="es-AR" sz="2000" b="1" i="0" cap="none" dirty="0">
                <a:solidFill>
                  <a:srgbClr val="FFFF00"/>
                </a:solidFill>
                <a:effectLst/>
                <a:latin typeface="Verdana" panose="020B0604030504040204" pitchFamily="34" charset="0"/>
                <a:ea typeface="Verdana" panose="020B0604030504040204" pitchFamily="34" charset="0"/>
                <a:hlinkClick r:id="rId2"/>
              </a:rPr>
              <a:t> </a:t>
            </a:r>
            <a:r>
              <a:rPr lang="es-AR" sz="2000" b="1" i="0" cap="none" dirty="0" err="1">
                <a:solidFill>
                  <a:srgbClr val="FFFF00"/>
                </a:solidFill>
                <a:effectLst/>
                <a:latin typeface="Verdana" panose="020B0604030504040204" pitchFamily="34" charset="0"/>
                <a:ea typeface="Verdana" panose="020B0604030504040204" pitchFamily="34" charset="0"/>
                <a:hlinkClick r:id="rId2"/>
              </a:rPr>
              <a:t>pattern</a:t>
            </a:r>
            <a:r>
              <a:rPr lang="es-AR" sz="2000" b="0" i="0" dirty="0">
                <a:effectLst/>
                <a:latin typeface="Verdana" panose="020B0604030504040204" pitchFamily="34" charset="0"/>
                <a:ea typeface="Verdana" panose="020B0604030504040204" pitchFamily="34" charset="0"/>
                <a:hlinkClick r:id="rId2"/>
              </a:rPr>
              <a:t> </a:t>
            </a:r>
            <a:r>
              <a:rPr lang="es-AR" sz="2000" b="0" i="0" dirty="0">
                <a:effectLst/>
                <a:latin typeface="Verdana" panose="020B0604030504040204" pitchFamily="34" charset="0"/>
                <a:ea typeface="Verdana" panose="020B0604030504040204" pitchFamily="34" charset="0"/>
              </a:rPr>
              <a:t>(</a:t>
            </a:r>
            <a:r>
              <a:rPr lang="es-AR" sz="2000" cap="none" dirty="0">
                <a:latin typeface="Verdana" panose="020B0604030504040204" pitchFamily="34" charset="0"/>
                <a:ea typeface="Verdana" panose="020B0604030504040204" pitchFamily="34" charset="0"/>
              </a:rPr>
              <a:t>Patrón higuera estranguladora) implica migrar gradualmente de una arquitectura monolítica a una de microservicios, reemplazando componentes del sistema antiguo con nuevos servicios.</a:t>
            </a:r>
          </a:p>
          <a:p>
            <a:pPr algn="just">
              <a:lnSpc>
                <a:spcPct val="120000"/>
              </a:lnSpc>
              <a:spcBef>
                <a:spcPts val="0"/>
              </a:spcBef>
            </a:pPr>
            <a:r>
              <a:rPr lang="es-AR" sz="2000" cap="none" dirty="0">
                <a:latin typeface="Verdana" panose="020B0604030504040204" pitchFamily="34" charset="0"/>
                <a:ea typeface="Verdana" panose="020B0604030504040204" pitchFamily="34" charset="0"/>
              </a:rPr>
              <a:t>Útil para reducir riesgos y minimizar la disrupción durante la migración.</a:t>
            </a:r>
          </a:p>
          <a:p>
            <a:pPr algn="just">
              <a:lnSpc>
                <a:spcPct val="120000"/>
              </a:lnSpc>
              <a:spcBef>
                <a:spcPts val="0"/>
              </a:spcBef>
            </a:pPr>
            <a:endParaRPr lang="es-AR" sz="2000" cap="none" dirty="0">
              <a:latin typeface="Verdana" panose="020B0604030504040204" pitchFamily="34" charset="0"/>
              <a:ea typeface="Verdana" panose="020B0604030504040204" pitchFamily="34" charset="0"/>
            </a:endParaRPr>
          </a:p>
          <a:p>
            <a:pPr algn="just">
              <a:lnSpc>
                <a:spcPct val="120000"/>
              </a:lnSpc>
              <a:spcBef>
                <a:spcPts val="0"/>
              </a:spcBef>
            </a:pPr>
            <a:r>
              <a:rPr lang="es-AR" sz="2000" b="1" cap="none" dirty="0" err="1">
                <a:solidFill>
                  <a:srgbClr val="FFFF00"/>
                </a:solidFill>
                <a:latin typeface="Verdana" panose="020B0604030504040204" pitchFamily="34" charset="0"/>
                <a:ea typeface="Verdana" panose="020B0604030504040204" pitchFamily="34" charset="0"/>
                <a:hlinkClick r:id="rId3"/>
              </a:rPr>
              <a:t>Command</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b="1" cap="none" dirty="0" err="1">
                <a:solidFill>
                  <a:srgbClr val="FFFF00"/>
                </a:solidFill>
                <a:latin typeface="Verdana" panose="020B0604030504040204" pitchFamily="34" charset="0"/>
                <a:ea typeface="Verdana" panose="020B0604030504040204" pitchFamily="34" charset="0"/>
                <a:hlinkClick r:id="rId3"/>
              </a:rPr>
              <a:t>Query</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b="1" cap="none" dirty="0" err="1">
                <a:solidFill>
                  <a:srgbClr val="FFFF00"/>
                </a:solidFill>
                <a:latin typeface="Verdana" panose="020B0604030504040204" pitchFamily="34" charset="0"/>
                <a:ea typeface="Verdana" panose="020B0604030504040204" pitchFamily="34" charset="0"/>
                <a:hlinkClick r:id="rId3"/>
              </a:rPr>
              <a:t>Responsibility</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b="1" cap="none" dirty="0" err="1">
                <a:solidFill>
                  <a:srgbClr val="FFFF00"/>
                </a:solidFill>
                <a:latin typeface="Verdana" panose="020B0604030504040204" pitchFamily="34" charset="0"/>
                <a:ea typeface="Verdana" panose="020B0604030504040204" pitchFamily="34" charset="0"/>
                <a:hlinkClick r:id="rId3"/>
              </a:rPr>
              <a:t>Segregation</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b="1" cap="none" dirty="0" err="1">
                <a:solidFill>
                  <a:srgbClr val="FFFF00"/>
                </a:solidFill>
                <a:latin typeface="Verdana" panose="020B0604030504040204" pitchFamily="34" charset="0"/>
                <a:ea typeface="Verdana" panose="020B0604030504040204" pitchFamily="34" charset="0"/>
                <a:hlinkClick r:id="rId3"/>
              </a:rPr>
              <a:t>pattern</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cap="none" dirty="0">
                <a:latin typeface="Verdana" panose="020B0604030504040204" pitchFamily="34" charset="0"/>
                <a:ea typeface="Verdana" panose="020B0604030504040204" pitchFamily="34" charset="0"/>
              </a:rPr>
              <a:t>(Patrón de Segregación de Responsabilidades de Comando y Consulta) Separa las operaciones de lectura y escritura en diferentes modelos, optimizando cada uno para su propósito específico.</a:t>
            </a:r>
          </a:p>
          <a:p>
            <a:pPr algn="just">
              <a:lnSpc>
                <a:spcPct val="120000"/>
              </a:lnSpc>
              <a:spcBef>
                <a:spcPts val="0"/>
              </a:spcBef>
            </a:pPr>
            <a:r>
              <a:rPr lang="es-AR" sz="2000" cap="none" dirty="0">
                <a:latin typeface="Verdana" panose="020B0604030504040204" pitchFamily="34" charset="0"/>
                <a:ea typeface="Verdana" panose="020B0604030504040204" pitchFamily="34" charset="0"/>
              </a:rPr>
              <a:t>Mejora el rendimiento y la escalabilidad al permitir que las consultas y comandos se manejen de manera independiente.</a:t>
            </a:r>
          </a:p>
          <a:p>
            <a:pPr algn="just">
              <a:lnSpc>
                <a:spcPct val="120000"/>
              </a:lnSpc>
              <a:spcBef>
                <a:spcPts val="0"/>
              </a:spcBef>
            </a:pPr>
            <a:endParaRPr lang="es-AR" sz="2000" cap="none" dirty="0">
              <a:latin typeface="Verdana" panose="020B0604030504040204" pitchFamily="34" charset="0"/>
              <a:ea typeface="Verdana" panose="020B0604030504040204" pitchFamily="34" charset="0"/>
            </a:endParaRPr>
          </a:p>
          <a:p>
            <a:pPr algn="just">
              <a:lnSpc>
                <a:spcPct val="120000"/>
              </a:lnSpc>
              <a:spcBef>
                <a:spcPts val="0"/>
              </a:spcBef>
            </a:pPr>
            <a:endParaRPr lang="es-AR" sz="2000" cap="none" dirty="0">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A2373993-4F74-8D0F-36C8-80E0B8877188}"/>
              </a:ext>
            </a:extLst>
          </p:cNvPr>
          <p:cNvSpPr txBox="1"/>
          <p:nvPr/>
        </p:nvSpPr>
        <p:spPr>
          <a:xfrm>
            <a:off x="-2458" y="294350"/>
            <a:ext cx="12194458" cy="646331"/>
          </a:xfrm>
          <a:prstGeom prst="rect">
            <a:avLst/>
          </a:prstGeom>
          <a:noFill/>
        </p:spPr>
        <p:txBody>
          <a:bodyPr wrap="square">
            <a:spAutoFit/>
          </a:bodyPr>
          <a:lstStyle/>
          <a:p>
            <a:pPr algn="ctr"/>
            <a:r>
              <a:rPr lang="es-AR" sz="3600" dirty="0">
                <a:latin typeface="Verdana" panose="020B0604030504040204" pitchFamily="34" charset="0"/>
                <a:ea typeface="Verdana" panose="020B0604030504040204" pitchFamily="34" charset="0"/>
              </a:rPr>
              <a:t>Patrones de Diseño </a:t>
            </a:r>
          </a:p>
        </p:txBody>
      </p:sp>
    </p:spTree>
    <p:extLst>
      <p:ext uri="{BB962C8B-B14F-4D97-AF65-F5344CB8AC3E}">
        <p14:creationId xmlns:p14="http://schemas.microsoft.com/office/powerpoint/2010/main" val="808098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082E44EB-1442-8E47-5E50-2D7EFD36F9BA}"/>
              </a:ext>
            </a:extLst>
          </p:cNvPr>
          <p:cNvSpPr>
            <a:spLocks noGrp="1"/>
          </p:cNvSpPr>
          <p:nvPr>
            <p:ph type="subTitle" idx="1"/>
          </p:nvPr>
        </p:nvSpPr>
        <p:spPr>
          <a:xfrm>
            <a:off x="1061884" y="1445343"/>
            <a:ext cx="10117393" cy="4645741"/>
          </a:xfrm>
        </p:spPr>
        <p:txBody>
          <a:bodyPr>
            <a:noAutofit/>
          </a:bodyPr>
          <a:lstStyle/>
          <a:p>
            <a:pPr algn="just">
              <a:lnSpc>
                <a:spcPct val="120000"/>
              </a:lnSpc>
              <a:spcBef>
                <a:spcPts val="0"/>
              </a:spcBef>
            </a:pPr>
            <a:r>
              <a:rPr lang="es-AR" sz="2000" b="1" cap="none" dirty="0" err="1">
                <a:solidFill>
                  <a:srgbClr val="FFFF00"/>
                </a:solidFill>
                <a:latin typeface="Verdana" panose="020B0604030504040204" pitchFamily="34" charset="0"/>
                <a:ea typeface="Verdana" panose="020B0604030504040204" pitchFamily="34" charset="0"/>
                <a:hlinkClick r:id="rId2"/>
              </a:rPr>
              <a:t>Event</a:t>
            </a:r>
            <a:r>
              <a:rPr lang="es-AR" sz="2000" b="1" cap="none" dirty="0">
                <a:solidFill>
                  <a:srgbClr val="FFFF00"/>
                </a:solidFill>
                <a:latin typeface="Verdana" panose="020B0604030504040204" pitchFamily="34" charset="0"/>
                <a:ea typeface="Verdana" panose="020B0604030504040204" pitchFamily="34" charset="0"/>
                <a:hlinkClick r:id="rId2"/>
              </a:rPr>
              <a:t> </a:t>
            </a:r>
            <a:r>
              <a:rPr lang="es-AR" sz="2000" b="1" cap="none" dirty="0" err="1">
                <a:solidFill>
                  <a:srgbClr val="FFFF00"/>
                </a:solidFill>
                <a:latin typeface="Verdana" panose="020B0604030504040204" pitchFamily="34" charset="0"/>
                <a:ea typeface="Verdana" panose="020B0604030504040204" pitchFamily="34" charset="0"/>
                <a:hlinkClick r:id="rId2"/>
              </a:rPr>
              <a:t>Sourcing</a:t>
            </a:r>
            <a:r>
              <a:rPr lang="es-AR" sz="2000" b="1" cap="none" dirty="0">
                <a:solidFill>
                  <a:srgbClr val="FFFF00"/>
                </a:solidFill>
                <a:latin typeface="Verdana" panose="020B0604030504040204" pitchFamily="34" charset="0"/>
                <a:ea typeface="Verdana" panose="020B0604030504040204" pitchFamily="34" charset="0"/>
                <a:hlinkClick r:id="rId2"/>
              </a:rPr>
              <a:t> </a:t>
            </a:r>
            <a:r>
              <a:rPr lang="es-AR" sz="2000" b="1" cap="none" dirty="0" err="1">
                <a:solidFill>
                  <a:srgbClr val="FFFF00"/>
                </a:solidFill>
                <a:latin typeface="Verdana" panose="020B0604030504040204" pitchFamily="34" charset="0"/>
                <a:ea typeface="Verdana" panose="020B0604030504040204" pitchFamily="34" charset="0"/>
                <a:hlinkClick r:id="rId2"/>
              </a:rPr>
              <a:t>Pattern</a:t>
            </a:r>
            <a:r>
              <a:rPr lang="es-AR" sz="2000" b="1" cap="none" dirty="0">
                <a:solidFill>
                  <a:srgbClr val="FFFF00"/>
                </a:solidFill>
                <a:latin typeface="Verdana" panose="020B0604030504040204" pitchFamily="34" charset="0"/>
                <a:ea typeface="Verdana" panose="020B0604030504040204" pitchFamily="34" charset="0"/>
                <a:hlinkClick r:id="rId2"/>
              </a:rPr>
              <a:t> </a:t>
            </a:r>
            <a:r>
              <a:rPr lang="es-AR" sz="2000" cap="none" dirty="0">
                <a:latin typeface="Verdana" panose="020B0604030504040204" pitchFamily="34" charset="0"/>
                <a:ea typeface="Verdana" panose="020B0604030504040204" pitchFamily="34" charset="0"/>
              </a:rPr>
              <a:t>: En lugar de almacenar el estado actual de los datos, se almacenan todos los cambios que se han realizado a los datos.</a:t>
            </a:r>
          </a:p>
          <a:p>
            <a:pPr algn="just">
              <a:lnSpc>
                <a:spcPct val="120000"/>
              </a:lnSpc>
              <a:spcBef>
                <a:spcPts val="0"/>
              </a:spcBef>
            </a:pPr>
            <a:r>
              <a:rPr lang="es-AR" sz="2000" cap="none" dirty="0">
                <a:latin typeface="Verdana" panose="020B0604030504040204" pitchFamily="34" charset="0"/>
                <a:ea typeface="Verdana" panose="020B0604030504040204" pitchFamily="34" charset="0"/>
              </a:rPr>
              <a:t>Permite reconstruir el estado actual a partir de los eventos y proporciona un historial completo de cambios.</a:t>
            </a:r>
          </a:p>
          <a:p>
            <a:pPr algn="just">
              <a:lnSpc>
                <a:spcPct val="120000"/>
              </a:lnSpc>
              <a:spcBef>
                <a:spcPts val="0"/>
              </a:spcBef>
            </a:pPr>
            <a:endParaRPr lang="es-AR" sz="2000" cap="none" dirty="0">
              <a:latin typeface="Verdana" panose="020B0604030504040204" pitchFamily="34" charset="0"/>
              <a:ea typeface="Verdana" panose="020B0604030504040204" pitchFamily="34" charset="0"/>
            </a:endParaRPr>
          </a:p>
          <a:p>
            <a:pPr algn="just">
              <a:lnSpc>
                <a:spcPct val="120000"/>
              </a:lnSpc>
              <a:spcBef>
                <a:spcPts val="0"/>
              </a:spcBef>
            </a:pPr>
            <a:r>
              <a:rPr lang="es-AR" sz="2000" b="1" cap="none" dirty="0" err="1">
                <a:solidFill>
                  <a:srgbClr val="FFFF00"/>
                </a:solidFill>
                <a:latin typeface="Verdana" panose="020B0604030504040204" pitchFamily="34" charset="0"/>
                <a:ea typeface="Verdana" panose="020B0604030504040204" pitchFamily="34" charset="0"/>
                <a:hlinkClick r:id="rId3"/>
              </a:rPr>
              <a:t>Shared</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b="1" cap="none" dirty="0" err="1">
                <a:solidFill>
                  <a:srgbClr val="FFFF00"/>
                </a:solidFill>
                <a:latin typeface="Verdana" panose="020B0604030504040204" pitchFamily="34" charset="0"/>
                <a:ea typeface="Verdana" panose="020B0604030504040204" pitchFamily="34" charset="0"/>
                <a:hlinkClick r:id="rId3"/>
              </a:rPr>
              <a:t>Database</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b="1" cap="none" dirty="0" err="1">
                <a:solidFill>
                  <a:srgbClr val="FFFF00"/>
                </a:solidFill>
                <a:latin typeface="Verdana" panose="020B0604030504040204" pitchFamily="34" charset="0"/>
                <a:ea typeface="Verdana" panose="020B0604030504040204" pitchFamily="34" charset="0"/>
                <a:hlinkClick r:id="rId3"/>
              </a:rPr>
              <a:t>Pattern</a:t>
            </a:r>
            <a:r>
              <a:rPr lang="es-AR" sz="2000" b="1" cap="none" dirty="0">
                <a:solidFill>
                  <a:srgbClr val="FFFF00"/>
                </a:solidFill>
                <a:latin typeface="Verdana" panose="020B0604030504040204" pitchFamily="34" charset="0"/>
                <a:ea typeface="Verdana" panose="020B0604030504040204" pitchFamily="34" charset="0"/>
                <a:hlinkClick r:id="rId3"/>
              </a:rPr>
              <a:t> </a:t>
            </a:r>
            <a:r>
              <a:rPr lang="es-AR" sz="2000" cap="none" dirty="0">
                <a:latin typeface="Verdana" panose="020B0604030504040204" pitchFamily="34" charset="0"/>
                <a:ea typeface="Verdana" panose="020B0604030504040204" pitchFamily="34" charset="0"/>
              </a:rPr>
              <a:t>(Patrón de Base de Datos Compartida) Permite que múltiples servicios accedan a la misma base de datos, pero con restricciones claras sobre qué servicios pueden modificar qué datos.</a:t>
            </a:r>
          </a:p>
          <a:p>
            <a:pPr algn="just">
              <a:lnSpc>
                <a:spcPct val="120000"/>
              </a:lnSpc>
              <a:spcBef>
                <a:spcPts val="0"/>
              </a:spcBef>
            </a:pPr>
            <a:r>
              <a:rPr lang="es-AR" sz="2000" cap="none" dirty="0">
                <a:latin typeface="Verdana" panose="020B0604030504040204" pitchFamily="34" charset="0"/>
                <a:ea typeface="Verdana" panose="020B0604030504040204" pitchFamily="34" charset="0"/>
              </a:rPr>
              <a:t>Útil para mantener la coherencia de datos en sistemas distribuidos.</a:t>
            </a:r>
          </a:p>
        </p:txBody>
      </p:sp>
      <p:sp>
        <p:nvSpPr>
          <p:cNvPr id="5" name="CuadroTexto 4">
            <a:extLst>
              <a:ext uri="{FF2B5EF4-FFF2-40B4-BE49-F238E27FC236}">
                <a16:creationId xmlns:a16="http://schemas.microsoft.com/office/drawing/2014/main" id="{A2373993-4F74-8D0F-36C8-80E0B8877188}"/>
              </a:ext>
            </a:extLst>
          </p:cNvPr>
          <p:cNvSpPr txBox="1"/>
          <p:nvPr/>
        </p:nvSpPr>
        <p:spPr>
          <a:xfrm>
            <a:off x="-2458" y="515572"/>
            <a:ext cx="12194458" cy="646331"/>
          </a:xfrm>
          <a:prstGeom prst="rect">
            <a:avLst/>
          </a:prstGeom>
          <a:noFill/>
        </p:spPr>
        <p:txBody>
          <a:bodyPr wrap="square">
            <a:spAutoFit/>
          </a:bodyPr>
          <a:lstStyle/>
          <a:p>
            <a:pPr algn="ctr"/>
            <a:r>
              <a:rPr lang="es-AR" sz="3600" dirty="0">
                <a:latin typeface="Verdana" panose="020B0604030504040204" pitchFamily="34" charset="0"/>
                <a:ea typeface="Verdana" panose="020B0604030504040204" pitchFamily="34" charset="0"/>
              </a:rPr>
              <a:t>Patrones de Diseño </a:t>
            </a:r>
          </a:p>
        </p:txBody>
      </p:sp>
    </p:spTree>
    <p:extLst>
      <p:ext uri="{BB962C8B-B14F-4D97-AF65-F5344CB8AC3E}">
        <p14:creationId xmlns:p14="http://schemas.microsoft.com/office/powerpoint/2010/main" val="1598373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890AA6A-360F-2D27-5DD5-87A39335B333}"/>
              </a:ext>
            </a:extLst>
          </p:cNvPr>
          <p:cNvSpPr txBox="1"/>
          <p:nvPr/>
        </p:nvSpPr>
        <p:spPr>
          <a:xfrm>
            <a:off x="589410" y="1508531"/>
            <a:ext cx="11017737"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1200"/>
              </a:spcBef>
              <a:spcAft>
                <a:spcPts val="1200"/>
              </a:spcAft>
            </a:pPr>
            <a:r>
              <a:rPr lang="es-ES" sz="2000" b="1" dirty="0">
                <a:solidFill>
                  <a:srgbClr val="FFFF00"/>
                </a:solidFill>
                <a:latin typeface="Verdana"/>
                <a:ea typeface="Verdana"/>
              </a:rPr>
              <a:t>Simplificar:</a:t>
            </a:r>
            <a:r>
              <a:rPr lang="es-ES" sz="2000" dirty="0">
                <a:solidFill>
                  <a:srgbClr val="FFFFFF"/>
                </a:solidFill>
                <a:latin typeface="Verdana"/>
                <a:ea typeface="Verdana"/>
              </a:rPr>
              <a:t> Evite complicar demasiado su arquitectura añadiendo bases de datos innecesarias. Siempre compare los beneficios de añadir una nueva base de datos frente a la complejidad que supone. </a:t>
            </a:r>
          </a:p>
          <a:p>
            <a:pPr algn="just">
              <a:spcBef>
                <a:spcPts val="1200"/>
              </a:spcBef>
              <a:spcAft>
                <a:spcPts val="1200"/>
              </a:spcAft>
            </a:pPr>
            <a:r>
              <a:rPr lang="es-ES" sz="2000" b="1" dirty="0">
                <a:solidFill>
                  <a:srgbClr val="FFFF00"/>
                </a:solidFill>
                <a:latin typeface="Verdana"/>
                <a:ea typeface="Verdana"/>
              </a:rPr>
              <a:t>Integración de datos:</a:t>
            </a:r>
            <a:r>
              <a:rPr lang="es-ES" sz="2000" dirty="0">
                <a:solidFill>
                  <a:srgbClr val="FFFFFF"/>
                </a:solidFill>
                <a:latin typeface="Verdana"/>
                <a:ea typeface="Verdana"/>
              </a:rPr>
              <a:t> Asegúrese de que sus bases de datos estén sincronizadas y de que los datos se integren correctamente en las diferentes tecnologías de almacenamiento. Por ejemplo, el perfil de un usuario almacenado en un producto debería estar vinculado a sus actividades almacenadas en otro. </a:t>
            </a:r>
          </a:p>
          <a:p>
            <a:pPr algn="just">
              <a:spcBef>
                <a:spcPts val="1200"/>
              </a:spcBef>
              <a:spcAft>
                <a:spcPts val="1200"/>
              </a:spcAft>
            </a:pPr>
            <a:r>
              <a:rPr lang="es-ES" sz="2000" b="1" dirty="0">
                <a:solidFill>
                  <a:srgbClr val="FFFF00"/>
                </a:solidFill>
                <a:latin typeface="Verdana"/>
                <a:ea typeface="Verdana"/>
              </a:rPr>
              <a:t>Supervisar y optimizar el rendimiento:</a:t>
            </a:r>
            <a:r>
              <a:rPr lang="es-ES" sz="2000" dirty="0">
                <a:solidFill>
                  <a:srgbClr val="FFFFFF"/>
                </a:solidFill>
                <a:latin typeface="Verdana"/>
                <a:ea typeface="Verdana"/>
              </a:rPr>
              <a:t> Supervise periódicamente su aplicación para garantizar que cada base de datos funcione de forma óptima. La persistencia políglota puede generar cuellos de botella si no se gestiona correctamente, especialmente al integrar datos en múltiples sistemas. </a:t>
            </a:r>
            <a:endParaRPr lang="es-ES" sz="2000" dirty="0">
              <a:latin typeface="Verdana"/>
              <a:ea typeface="Verdana"/>
            </a:endParaRPr>
          </a:p>
          <a:p>
            <a:pPr algn="just">
              <a:spcBef>
                <a:spcPts val="1200"/>
              </a:spcBef>
              <a:spcAft>
                <a:spcPts val="1200"/>
              </a:spcAft>
            </a:pPr>
            <a:endParaRPr lang="es-ES" sz="2000" dirty="0">
              <a:solidFill>
                <a:srgbClr val="FFFFFF"/>
              </a:solidFill>
              <a:latin typeface="Verdana"/>
              <a:ea typeface="Verdana"/>
            </a:endParaRPr>
          </a:p>
        </p:txBody>
      </p:sp>
      <p:sp>
        <p:nvSpPr>
          <p:cNvPr id="6" name="CuadroTexto 5">
            <a:extLst>
              <a:ext uri="{FF2B5EF4-FFF2-40B4-BE49-F238E27FC236}">
                <a16:creationId xmlns:a16="http://schemas.microsoft.com/office/drawing/2014/main" id="{E5405818-C02B-F8CD-E067-E44F341871A8}"/>
              </a:ext>
            </a:extLst>
          </p:cNvPr>
          <p:cNvSpPr txBox="1"/>
          <p:nvPr/>
        </p:nvSpPr>
        <p:spPr>
          <a:xfrm>
            <a:off x="-1628" y="592666"/>
            <a:ext cx="1219004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800" dirty="0">
                <a:solidFill>
                  <a:srgbClr val="FFFF00"/>
                </a:solidFill>
                <a:latin typeface="Verdana"/>
                <a:ea typeface="Verdana"/>
              </a:rPr>
              <a:t>Claves de </a:t>
            </a:r>
            <a:r>
              <a:rPr lang="es-ES" sz="2800" dirty="0" err="1">
                <a:solidFill>
                  <a:srgbClr val="FFFF00"/>
                </a:solidFill>
                <a:latin typeface="Verdana"/>
                <a:ea typeface="Verdana"/>
              </a:rPr>
              <a:t>Exito</a:t>
            </a:r>
          </a:p>
        </p:txBody>
      </p:sp>
    </p:spTree>
    <p:extLst>
      <p:ext uri="{BB962C8B-B14F-4D97-AF65-F5344CB8AC3E}">
        <p14:creationId xmlns:p14="http://schemas.microsoft.com/office/powerpoint/2010/main" val="390814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3213445-CA71-D1B3-A6B3-AC71D6AB3EFF}"/>
              </a:ext>
            </a:extLst>
          </p:cNvPr>
          <p:cNvSpPr txBox="1"/>
          <p:nvPr/>
        </p:nvSpPr>
        <p:spPr>
          <a:xfrm>
            <a:off x="1497135" y="1399443"/>
            <a:ext cx="9190891"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800" b="1" dirty="0">
                <a:solidFill>
                  <a:srgbClr val="FFFF00"/>
                </a:solidFill>
                <a:latin typeface="Verdana"/>
                <a:ea typeface="Verdana"/>
              </a:rPr>
              <a:t>Conclusión </a:t>
            </a:r>
            <a:endParaRPr lang="es-ES" sz="2800" dirty="0">
              <a:solidFill>
                <a:srgbClr val="FFFF00"/>
              </a:solidFill>
              <a:latin typeface="Verdana"/>
              <a:ea typeface="Verdana"/>
            </a:endParaRPr>
          </a:p>
          <a:p>
            <a:pPr marL="342900" indent="-342900">
              <a:spcBef>
                <a:spcPts val="1200"/>
              </a:spcBef>
              <a:spcAft>
                <a:spcPts val="1200"/>
              </a:spcAft>
              <a:buFont typeface="Wingdings"/>
              <a:buChar char="Ø"/>
            </a:pPr>
            <a:r>
              <a:rPr lang="es-ES" sz="2000" dirty="0">
                <a:latin typeface="Verdana"/>
                <a:ea typeface="Verdana"/>
              </a:rPr>
              <a:t>En el mundo actual, acelerado y basado en datos, la persistencia políglota  es una necesidad. </a:t>
            </a:r>
          </a:p>
          <a:p>
            <a:pPr marL="342900" indent="-342900">
              <a:spcBef>
                <a:spcPts val="1200"/>
              </a:spcBef>
              <a:spcAft>
                <a:spcPts val="1200"/>
              </a:spcAft>
              <a:buFont typeface="Wingdings"/>
              <a:buChar char="Ø"/>
            </a:pPr>
            <a:r>
              <a:rPr lang="es-ES" sz="2000" dirty="0">
                <a:latin typeface="Verdana"/>
                <a:ea typeface="Verdana"/>
              </a:rPr>
              <a:t>Aprovechar las ventajas de las diferentes bases de datos, los desarrolladores pueden crear aplicaciones más eficientes, escalables y flexibles, adaptadas a las necesidades específicas de los datos. </a:t>
            </a:r>
            <a:endParaRPr lang="es-ES" sz="2000">
              <a:latin typeface="Verdana"/>
              <a:ea typeface="Verdana"/>
            </a:endParaRPr>
          </a:p>
          <a:p>
            <a:pPr marL="342900" indent="-342900">
              <a:spcBef>
                <a:spcPts val="1200"/>
              </a:spcBef>
              <a:spcAft>
                <a:spcPts val="1200"/>
              </a:spcAft>
              <a:buFont typeface="Wingdings"/>
              <a:buChar char="Ø"/>
            </a:pPr>
            <a:r>
              <a:rPr lang="es-ES" sz="2000" dirty="0">
                <a:latin typeface="Verdana"/>
                <a:ea typeface="Verdana"/>
              </a:rPr>
              <a:t>La combinación de bases de datos relacionales para datos estructurados y soluciones NoSQL para datos no estructurados abre nuevas posibilidades de innovación.</a:t>
            </a:r>
            <a:endParaRPr lang="es-ES" sz="2000">
              <a:latin typeface="Verdana"/>
              <a:ea typeface="Verdana"/>
            </a:endParaRPr>
          </a:p>
        </p:txBody>
      </p:sp>
    </p:spTree>
    <p:extLst>
      <p:ext uri="{BB962C8B-B14F-4D97-AF65-F5344CB8AC3E}">
        <p14:creationId xmlns:p14="http://schemas.microsoft.com/office/powerpoint/2010/main" val="1842508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ED88E92-14F3-4B58-9E48-1D79E139A8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1" name="Rectangle 10">
              <a:extLst>
                <a:ext uri="{FF2B5EF4-FFF2-40B4-BE49-F238E27FC236}">
                  <a16:creationId xmlns:a16="http://schemas.microsoft.com/office/drawing/2014/main" id="{A6466AE7-32B6-4334-AF41-B9387E6726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659C09F8-90CD-443F-9AA1-D08C56A605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Oval 12">
              <a:extLst>
                <a:ext uri="{FF2B5EF4-FFF2-40B4-BE49-F238E27FC236}">
                  <a16:creationId xmlns:a16="http://schemas.microsoft.com/office/drawing/2014/main" id="{DC7304AB-BE7D-45AC-A876-4A24543AE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4" name="Group 13">
              <a:extLst>
                <a:ext uri="{FF2B5EF4-FFF2-40B4-BE49-F238E27FC236}">
                  <a16:creationId xmlns:a16="http://schemas.microsoft.com/office/drawing/2014/main" id="{8E11922B-DDB3-46D7-B1BD-C1CCDB3C42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9" name="Rectangle 18">
                <a:extLst>
                  <a:ext uri="{FF2B5EF4-FFF2-40B4-BE49-F238E27FC236}">
                    <a16:creationId xmlns:a16="http://schemas.microsoft.com/office/drawing/2014/main" id="{C580F8F6-E662-4BCD-AC9C-7E5DDBD5A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9A333FE5-ADB0-48EE-A1A6-9AA36DA343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5" name="Group 14">
              <a:extLst>
                <a:ext uri="{FF2B5EF4-FFF2-40B4-BE49-F238E27FC236}">
                  <a16:creationId xmlns:a16="http://schemas.microsoft.com/office/drawing/2014/main" id="{0B09CD4F-6DF4-48AA-BD35-23E3F2A643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7" name="Rectangle 16">
                <a:extLst>
                  <a:ext uri="{FF2B5EF4-FFF2-40B4-BE49-F238E27FC236}">
                    <a16:creationId xmlns:a16="http://schemas.microsoft.com/office/drawing/2014/main" id="{02223219-ACCC-42F2-A1B4-E3C8C8AB12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1510B0E9-9BA0-4357-9E04-554C19BAA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DF06DA80-525A-4C9E-A441-50630AA772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2" name="Rectangle 21">
            <a:extLst>
              <a:ext uri="{FF2B5EF4-FFF2-40B4-BE49-F238E27FC236}">
                <a16:creationId xmlns:a16="http://schemas.microsoft.com/office/drawing/2014/main" id="{E841E027-8E53-4FEB-8605-2124D8573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pic>
        <p:nvPicPr>
          <p:cNvPr id="5" name="Imagen 4" descr="Imagen que contiene dibujo&#10;&#10;Descripción generada automáticamente">
            <a:extLst>
              <a:ext uri="{FF2B5EF4-FFF2-40B4-BE49-F238E27FC236}">
                <a16:creationId xmlns:a16="http://schemas.microsoft.com/office/drawing/2014/main" id="{E25CD8DF-4B22-EF44-0E0E-AD334979903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5462"/>
          <a:stretch/>
        </p:blipFill>
        <p:spPr>
          <a:xfrm>
            <a:off x="20"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503351661"/>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3BEE4324150E468E9D56AC1A069CC0" ma:contentTypeVersion="10" ma:contentTypeDescription="Create a new document." ma:contentTypeScope="" ma:versionID="6b7533682bf6fbff95c8cc4f79a2dd38">
  <xsd:schema xmlns:xsd="http://www.w3.org/2001/XMLSchema" xmlns:xs="http://www.w3.org/2001/XMLSchema" xmlns:p="http://schemas.microsoft.com/office/2006/metadata/properties" xmlns:ns2="88a81109-a086-44ae-a9ae-b48b478270f0" xmlns:ns3="36ae782e-a2ad-455b-8012-e967b2ff0266" targetNamespace="http://schemas.microsoft.com/office/2006/metadata/properties" ma:root="true" ma:fieldsID="bf02702ce59ee1ec2ec03d4234b9ec85" ns2:_="" ns3:_="">
    <xsd:import namespace="88a81109-a086-44ae-a9ae-b48b478270f0"/>
    <xsd:import namespace="36ae782e-a2ad-455b-8012-e967b2ff02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81109-a086-44ae-a9ae-b48b478270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80f935f-056e-43d0-a9c3-6f0a0280ba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ae782e-a2ad-455b-8012-e967b2ff026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ca22bb8-c71e-4324-a640-0354e2d274cb}" ma:internalName="TaxCatchAll" ma:showField="CatchAllData" ma:web="36ae782e-a2ad-455b-8012-e967b2ff02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81109-a086-44ae-a9ae-b48b478270f0">
      <Terms xmlns="http://schemas.microsoft.com/office/infopath/2007/PartnerControls"/>
    </lcf76f155ced4ddcb4097134ff3c332f>
    <TaxCatchAll xmlns="36ae782e-a2ad-455b-8012-e967b2ff0266" xsi:nil="true"/>
  </documentManagement>
</p:properties>
</file>

<file path=customXml/itemProps1.xml><?xml version="1.0" encoding="utf-8"?>
<ds:datastoreItem xmlns:ds="http://schemas.openxmlformats.org/officeDocument/2006/customXml" ds:itemID="{8AE773E1-0E46-4733-AB1B-17518F675B56}"/>
</file>

<file path=customXml/itemProps2.xml><?xml version="1.0" encoding="utf-8"?>
<ds:datastoreItem xmlns:ds="http://schemas.openxmlformats.org/officeDocument/2006/customXml" ds:itemID="{B9FB4CFC-5316-44BD-99A7-A5C9B3919C81}"/>
</file>

<file path=customXml/itemProps3.xml><?xml version="1.0" encoding="utf-8"?>
<ds:datastoreItem xmlns:ds="http://schemas.openxmlformats.org/officeDocument/2006/customXml" ds:itemID="{43BB6AB4-5D2D-487E-9EA0-9E80A0938A74}"/>
</file>

<file path=docProps/app.xml><?xml version="1.0" encoding="utf-8"?>
<Properties xmlns="http://schemas.openxmlformats.org/officeDocument/2006/extended-properties" xmlns:vt="http://schemas.openxmlformats.org/officeDocument/2006/docPropsVTypes">
  <TotalTime>314</TotalTime>
  <Words>766</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 Next LT Pro</vt:lpstr>
      <vt:lpstr>Bell MT</vt:lpstr>
      <vt:lpstr>Verdana</vt:lpstr>
      <vt:lpstr>Wingdings</vt:lpstr>
      <vt:lpstr>GlowVTI</vt:lpstr>
      <vt:lpstr>Persistencia Políglota</vt:lpstr>
      <vt:lpstr>Persistencia políglota</vt:lpstr>
      <vt:lpstr>Quienes la usan</vt:lpstr>
      <vt:lpstr>PowerPoint Presentation</vt:lpstr>
      <vt:lpstr>Algunas prácticas y pautas recomendadas para utilizar el patrón de persistencia políglota de manera efectiva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Godio Claudio Jose</dc:creator>
  <cp:lastModifiedBy>Hernan Novodvorski</cp:lastModifiedBy>
  <cp:revision>151</cp:revision>
  <dcterms:created xsi:type="dcterms:W3CDTF">2024-10-21T18:49:57Z</dcterms:created>
  <dcterms:modified xsi:type="dcterms:W3CDTF">2026-05-05T19:54:37Z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0x010100163BEE4324150E468E9D56AC1A069CC0</vt:lpwstr>
  </property>
</Properties>
</file>