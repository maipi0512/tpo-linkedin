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9"/>
  </p:notesMasterIdLst>
  <p:handoutMasterIdLst>
    <p:handoutMasterId r:id="rId30"/>
  </p:handoutMasterIdLst>
  <p:sldIdLst>
    <p:sldId id="257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61" r:id="rId2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2C"/>
    <a:srgbClr val="E6E6E6"/>
    <a:srgbClr val="CF0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0E37A-0951-5C5F-13E3-DE2349E2D5CB}" v="12" dt="2026-04-08T19:34:49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9" autoAdjust="0"/>
    <p:restoredTop sz="93810" autoAdjust="0"/>
  </p:normalViewPr>
  <p:slideViewPr>
    <p:cSldViewPr snapToGrid="0" showGuides="1">
      <p:cViewPr varScale="1">
        <p:scale>
          <a:sx n="52" d="100"/>
          <a:sy n="52" d="100"/>
        </p:scale>
        <p:origin x="1312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ODVORSKI HERNAN" userId="S::hnovodvorski@uade.edu.ar::f724878f-8586-445a-9915-af7e4f120b48" providerId="AD" clId="Web-{8B10E37A-0951-5C5F-13E3-DE2349E2D5CB}"/>
    <pc:docChg chg="modSld">
      <pc:chgData name="NOVODVORSKI HERNAN" userId="S::hnovodvorski@uade.edu.ar::f724878f-8586-445a-9915-af7e4f120b48" providerId="AD" clId="Web-{8B10E37A-0951-5C5F-13E3-DE2349E2D5CB}" dt="2026-04-08T19:34:49.723" v="10" actId="20577"/>
      <pc:docMkLst>
        <pc:docMk/>
      </pc:docMkLst>
      <pc:sldChg chg="modSp">
        <pc:chgData name="NOVODVORSKI HERNAN" userId="S::hnovodvorski@uade.edu.ar::f724878f-8586-445a-9915-af7e4f120b48" providerId="AD" clId="Web-{8B10E37A-0951-5C5F-13E3-DE2349E2D5CB}" dt="2026-04-08T19:34:49.723" v="10" actId="20577"/>
        <pc:sldMkLst>
          <pc:docMk/>
          <pc:sldMk cId="1495496538" sldId="257"/>
        </pc:sldMkLst>
        <pc:spChg chg="mod">
          <ac:chgData name="NOVODVORSKI HERNAN" userId="S::hnovodvorski@uade.edu.ar::f724878f-8586-445a-9915-af7e4f120b48" providerId="AD" clId="Web-{8B10E37A-0951-5C5F-13E3-DE2349E2D5CB}" dt="2026-04-08T19:34:49.723" v="10" actId="20577"/>
          <ac:spMkLst>
            <pc:docMk/>
            <pc:sldMk cId="1495496538" sldId="257"/>
            <ac:spMk id="4" creationId="{C6D24F99-E026-485A-96CD-AEC98137262A}"/>
          </ac:spMkLst>
        </pc:spChg>
      </pc:sldChg>
    </pc:docChg>
  </pc:docChgLst>
  <pc:docChgLst>
    <pc:chgData clId="Web-{8B10E37A-0951-5C5F-13E3-DE2349E2D5CB}"/>
    <pc:docChg chg="modSld">
      <pc:chgData name="" userId="" providerId="" clId="Web-{8B10E37A-0951-5C5F-13E3-DE2349E2D5CB}" dt="2026-04-08T19:34:30.910" v="0" actId="20577"/>
      <pc:docMkLst>
        <pc:docMk/>
      </pc:docMkLst>
      <pc:sldChg chg="modSp">
        <pc:chgData name="" userId="" providerId="" clId="Web-{8B10E37A-0951-5C5F-13E3-DE2349E2D5CB}" dt="2026-04-08T19:34:30.910" v="0" actId="20577"/>
        <pc:sldMkLst>
          <pc:docMk/>
          <pc:sldMk cId="1495496538" sldId="257"/>
        </pc:sldMkLst>
        <pc:spChg chg="mod">
          <ac:chgData name="" userId="" providerId="" clId="Web-{8B10E37A-0951-5C5F-13E3-DE2349E2D5CB}" dt="2026-04-08T19:34:30.910" v="0" actId="20577"/>
          <ac:spMkLst>
            <pc:docMk/>
            <pc:sldMk cId="1495496538" sldId="257"/>
            <ac:spMk id="3" creationId="{3D71C9CD-CAE8-4AC8-936D-333769D479E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08/04/2026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08/04/2026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es-ES" sz="4200" dirty="0"/>
              <a:t>Ingeniería de Datos II</a:t>
            </a:r>
            <a:br>
              <a:rPr lang="es-ES" sz="4200" dirty="0"/>
            </a:br>
            <a:r>
              <a:rPr lang="es-ES" sz="4200"/>
              <a:t>Clase #5</a:t>
            </a:r>
            <a:endParaRPr lang="es-ES" sz="42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747662"/>
            <a:ext cx="11520488" cy="1073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sz="1800" dirty="0"/>
              <a:t>Introducción a Apache </a:t>
            </a:r>
            <a:r>
              <a:rPr lang="es-ES" sz="1800" dirty="0" err="1"/>
              <a:t>Cassandra</a:t>
            </a:r>
            <a:r>
              <a:rPr lang="es-ES" sz="1800" dirty="0"/>
              <a:t>  (CQL)</a:t>
            </a:r>
          </a:p>
          <a:p>
            <a:pPr rtl="0"/>
            <a:r>
              <a:rPr lang="es-ES" sz="1800"/>
              <a:t>8 </a:t>
            </a:r>
            <a:r>
              <a:rPr lang="es-ES" sz="1800" dirty="0"/>
              <a:t>de Abril de 2026</a:t>
            </a:r>
          </a:p>
        </p:txBody>
      </p:sp>
      <p:pic>
        <p:nvPicPr>
          <p:cNvPr id="5" name="Picture 2" descr="UADE | COMENZÁ TU CARRERA EN AGOSTO">
            <a:extLst>
              <a:ext uri="{FF2B5EF4-FFF2-40B4-BE49-F238E27FC236}">
                <a16:creationId xmlns:a16="http://schemas.microsoft.com/office/drawing/2014/main" id="{5B51B4BE-15BC-7A12-4F9C-66889D8F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06"/>
            <a:ext cx="1966552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2B63-90CC-75AE-AA77-528145C5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Creación de </a:t>
            </a:r>
            <a:r>
              <a:rPr lang="es-AR" dirty="0" err="1"/>
              <a:t>KeySpace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76E57-4249-8E96-FC56-2E717AAD5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9"/>
            <a:ext cx="6305772" cy="23496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KEYSPACE </a:t>
            </a:r>
            <a:r>
              <a:rPr lang="en-US" dirty="0" err="1"/>
              <a:t>test_keyspace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WITH replication = {'class':'SimpleStrategy','replication_factor':'1'} AND </a:t>
            </a:r>
            <a:r>
              <a:rPr lang="en-US" dirty="0" err="1"/>
              <a:t>durable_writes</a:t>
            </a:r>
            <a:r>
              <a:rPr lang="en-US" dirty="0"/>
              <a:t> = 'true';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8D5E7-5E04-6844-AB51-231DACB2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F77377-8FA7-E570-D068-8E6D8A906B49}"/>
              </a:ext>
            </a:extLst>
          </p:cNvPr>
          <p:cNvSpPr txBox="1">
            <a:spLocks/>
          </p:cNvSpPr>
          <p:nvPr/>
        </p:nvSpPr>
        <p:spPr>
          <a:xfrm>
            <a:off x="407192" y="2955845"/>
            <a:ext cx="11484770" cy="3902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Especificar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nombre</a:t>
            </a:r>
            <a:r>
              <a:rPr lang="en-US" sz="2400" dirty="0"/>
              <a:t> del </a:t>
            </a:r>
            <a:r>
              <a:rPr lang="en-US" sz="2400" dirty="0" err="1"/>
              <a:t>keyspace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Especificar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seteos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 err="1"/>
              <a:t>Setear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factor de replica para # nodes a ser </a:t>
            </a:r>
            <a:r>
              <a:rPr lang="en-US" sz="2000" dirty="0" err="1"/>
              <a:t>replicados</a:t>
            </a:r>
            <a:r>
              <a:rPr lang="en-US" sz="2000" dirty="0"/>
              <a:t> en </a:t>
            </a:r>
            <a:r>
              <a:rPr lang="en-US" sz="2000" dirty="0" err="1"/>
              <a:t>el</a:t>
            </a:r>
            <a:r>
              <a:rPr lang="en-US" sz="2000" dirty="0"/>
              <a:t> cluster. Por </a:t>
            </a:r>
            <a:r>
              <a:rPr lang="en-US" sz="2000" dirty="0" err="1"/>
              <a:t>ejemplo</a:t>
            </a:r>
            <a:r>
              <a:rPr lang="en-US" sz="2000" dirty="0"/>
              <a:t> </a:t>
            </a:r>
            <a:r>
              <a:rPr lang="en-US" sz="2000" dirty="0" err="1"/>
              <a:t>copiarlos</a:t>
            </a:r>
            <a:r>
              <a:rPr lang="en-US" sz="2000" dirty="0"/>
              <a:t> 3 </a:t>
            </a:r>
            <a:r>
              <a:rPr lang="en-US" sz="2000" dirty="0" err="1"/>
              <a:t>veces</a:t>
            </a:r>
            <a:r>
              <a:rPr lang="en-US" sz="2000" dirty="0"/>
              <a:t> </a:t>
            </a:r>
            <a:r>
              <a:rPr lang="en-US" sz="2000" dirty="0" err="1"/>
              <a:t>sería</a:t>
            </a:r>
            <a:r>
              <a:rPr lang="en-US" sz="2000" dirty="0"/>
              <a:t> 3;</a:t>
            </a:r>
          </a:p>
          <a:p>
            <a:pPr lvl="1"/>
            <a:r>
              <a:rPr lang="en-US" sz="2000" dirty="0" err="1"/>
              <a:t>Especificar</a:t>
            </a:r>
            <a:r>
              <a:rPr lang="en-US" sz="2000" dirty="0"/>
              <a:t> la </a:t>
            </a:r>
            <a:r>
              <a:rPr lang="en-US" sz="2000" dirty="0" err="1"/>
              <a:t>clase</a:t>
            </a:r>
            <a:r>
              <a:rPr lang="en-US" sz="2000" dirty="0"/>
              <a:t> de </a:t>
            </a:r>
            <a:r>
              <a:rPr lang="en-US" sz="2000" dirty="0" err="1"/>
              <a:t>replicación</a:t>
            </a:r>
            <a:r>
              <a:rPr lang="en-US" sz="2000" dirty="0"/>
              <a:t>: </a:t>
            </a:r>
            <a:r>
              <a:rPr lang="en-US" sz="2000" dirty="0" err="1"/>
              <a:t>SimpleStrategy</a:t>
            </a:r>
            <a:r>
              <a:rPr lang="en-US" sz="2000" dirty="0"/>
              <a:t> es la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básica</a:t>
            </a:r>
            <a:r>
              <a:rPr lang="en-US" sz="2000" dirty="0"/>
              <a:t>, </a:t>
            </a:r>
            <a:r>
              <a:rPr lang="en-US" sz="2000" dirty="0" err="1"/>
              <a:t>corresponde</a:t>
            </a:r>
            <a:r>
              <a:rPr lang="en-US" sz="2000" dirty="0"/>
              <a:t> a un </a:t>
            </a:r>
            <a:r>
              <a:rPr lang="en-US" sz="2000" dirty="0" err="1"/>
              <a:t>único</a:t>
            </a:r>
            <a:r>
              <a:rPr lang="en-US" sz="2000" dirty="0"/>
              <a:t> datacenter;</a:t>
            </a:r>
          </a:p>
          <a:p>
            <a:pPr lvl="1"/>
            <a:r>
              <a:rPr lang="en-US" sz="2000" dirty="0" err="1"/>
              <a:t>Especificar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queremos</a:t>
            </a:r>
            <a:r>
              <a:rPr lang="en-US" sz="2000" dirty="0"/>
              <a:t> </a:t>
            </a:r>
            <a:r>
              <a:rPr lang="en-US" sz="2000" dirty="0" err="1"/>
              <a:t>escrituras</a:t>
            </a:r>
            <a:r>
              <a:rPr lang="en-US" sz="2000" dirty="0"/>
              <a:t> durables: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defecto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en ‘true’. ‘True’ </a:t>
            </a:r>
            <a:r>
              <a:rPr lang="en-US" sz="2000" dirty="0" err="1"/>
              <a:t>significa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siempre</a:t>
            </a:r>
            <a:r>
              <a:rPr lang="en-US" sz="2000" dirty="0"/>
              <a:t> se </a:t>
            </a:r>
            <a:r>
              <a:rPr lang="en-US" sz="2000" dirty="0" err="1"/>
              <a:t>graba</a:t>
            </a:r>
            <a:r>
              <a:rPr lang="en-US" sz="2000" dirty="0"/>
              <a:t> primero </a:t>
            </a:r>
            <a:r>
              <a:rPr lang="en-US" sz="2000" dirty="0" err="1"/>
              <a:t>el</a:t>
            </a:r>
            <a:r>
              <a:rPr lang="en-US" sz="2000" dirty="0"/>
              <a:t> commit log y ‘False’ </a:t>
            </a:r>
            <a:r>
              <a:rPr lang="en-US" sz="2000" dirty="0" err="1"/>
              <a:t>significa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se </a:t>
            </a:r>
            <a:r>
              <a:rPr lang="en-US" sz="2000" dirty="0" err="1"/>
              <a:t>saltea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commit log </a:t>
            </a:r>
            <a:r>
              <a:rPr lang="en-US" sz="2000" dirty="0" err="1"/>
              <a:t>incrementando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Riesgo de </a:t>
            </a:r>
            <a:r>
              <a:rPr lang="en-US" sz="2000" dirty="0" err="1"/>
              <a:t>pérdida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 en </a:t>
            </a:r>
            <a:r>
              <a:rPr lang="en-US" sz="2000" dirty="0" err="1"/>
              <a:t>caso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nodo</a:t>
            </a:r>
            <a:r>
              <a:rPr lang="en-US" sz="2000" dirty="0"/>
              <a:t> </a:t>
            </a:r>
            <a:r>
              <a:rPr lang="en-US" sz="2000" dirty="0" err="1"/>
              <a:t>falle</a:t>
            </a:r>
            <a:r>
              <a:rPr lang="en-US" sz="2000" dirty="0"/>
              <a:t>, </a:t>
            </a:r>
            <a:r>
              <a:rPr lang="en-US" sz="2000" dirty="0" err="1"/>
              <a:t>aumentando</a:t>
            </a:r>
            <a:r>
              <a:rPr lang="en-US" sz="2000" dirty="0"/>
              <a:t> la </a:t>
            </a:r>
            <a:r>
              <a:rPr lang="en-US" sz="2000" dirty="0" err="1"/>
              <a:t>velocidad</a:t>
            </a:r>
            <a:r>
              <a:rPr lang="en-US" sz="2000" dirty="0"/>
              <a:t>. </a:t>
            </a:r>
          </a:p>
          <a:p>
            <a:r>
              <a:rPr lang="en-US" sz="2400" dirty="0"/>
              <a:t>DESCRIBE KEYSPACES: </a:t>
            </a:r>
            <a:r>
              <a:rPr lang="en-US" sz="2400" dirty="0" err="1"/>
              <a:t>muestra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espacios</a:t>
            </a:r>
            <a:r>
              <a:rPr lang="en-US" sz="2400" dirty="0"/>
              <a:t> de claves </a:t>
            </a:r>
            <a:r>
              <a:rPr lang="en-US" sz="2400" dirty="0" err="1"/>
              <a:t>disponibles</a:t>
            </a:r>
            <a:r>
              <a:rPr lang="en-US" sz="2400" dirty="0"/>
              <a:t>.</a:t>
            </a:r>
          </a:p>
          <a:p>
            <a:r>
              <a:rPr lang="en-US" sz="2400" dirty="0"/>
              <a:t>USE &lt;</a:t>
            </a:r>
            <a:r>
              <a:rPr lang="en-US" sz="2400" dirty="0" err="1"/>
              <a:t>nombre</a:t>
            </a:r>
            <a:r>
              <a:rPr lang="en-US" sz="2400" dirty="0"/>
              <a:t> del </a:t>
            </a:r>
            <a:r>
              <a:rPr lang="en-US" sz="2400" dirty="0" err="1"/>
              <a:t>keyspace</a:t>
            </a:r>
            <a:r>
              <a:rPr lang="en-US" sz="2400" dirty="0"/>
              <a:t>&gt;: </a:t>
            </a:r>
            <a:r>
              <a:rPr lang="en-US" sz="2400" dirty="0" err="1"/>
              <a:t>selecciona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espacio</a:t>
            </a:r>
            <a:r>
              <a:rPr lang="en-US" sz="2400" dirty="0"/>
              <a:t> de clave.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417582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2926-4BE9-D015-F9B7-02CC1E9F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3A4F-A5A4-74FC-9096-F2070C86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Creación de </a:t>
            </a:r>
            <a:r>
              <a:rPr lang="es-AR" dirty="0" err="1"/>
              <a:t>KeySpace</a:t>
            </a:r>
            <a:r>
              <a:rPr lang="es-AR" dirty="0"/>
              <a:t>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73F55-927F-3D8C-8DBB-1CDF783C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0835241" cy="4678213"/>
          </a:xfrm>
        </p:spPr>
        <p:txBody>
          <a:bodyPr>
            <a:normAutofit/>
          </a:bodyPr>
          <a:lstStyle/>
          <a:p>
            <a:r>
              <a:rPr lang="es-AR" dirty="0"/>
              <a:t>Un espacio de claves puede contener varias tablas.</a:t>
            </a:r>
          </a:p>
          <a:p>
            <a:r>
              <a:rPr lang="es-AR" dirty="0"/>
              <a:t>Una tabla contiene un conjunto de filas formadas por pares clave-valor.</a:t>
            </a:r>
          </a:p>
          <a:p>
            <a:r>
              <a:rPr lang="es-AR" dirty="0"/>
              <a:t>Después de las tablas, trabajamos con filas anchas que constan de una clave primaria y un gran número de columnas.</a:t>
            </a:r>
          </a:p>
          <a:p>
            <a:r>
              <a:rPr lang="es-AR" dirty="0"/>
              <a:t>Cada fila tiene una clave primaria especificada con acceso a datos.</a:t>
            </a:r>
          </a:p>
          <a:p>
            <a:r>
              <a:rPr lang="es-AR" dirty="0"/>
              <a:t>La clave primaria es una clave compuesta, formada por la clave de partición, que determina en qué nodos se almacenarán nuestros datos, y el número de columnas de agrupación para ordenar los datos y el orden de almacenamiento en disco.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053AF-3A6F-6EB4-658D-A78F3F1C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0675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B058-4BDC-D1DA-D51B-D188D318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970-19DD-76C1-87C7-72E792C0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Creación de Tablas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3F2A-D8CE-E3E5-78E7-F75B82F2D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890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employee_by_id</a:t>
            </a:r>
            <a:r>
              <a:rPr lang="en-US" dirty="0"/>
              <a:t> (id int PRIMARY KEY, name text, position text);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 text, id int, </a:t>
            </a:r>
            <a:r>
              <a:rPr lang="en-US" dirty="0" err="1"/>
              <a:t>car_model</a:t>
            </a:r>
            <a:r>
              <a:rPr lang="en-US" dirty="0"/>
              <a:t> text, PRIMARY KEY(</a:t>
            </a:r>
            <a:r>
              <a:rPr lang="en-US" dirty="0" err="1"/>
              <a:t>car_make</a:t>
            </a:r>
            <a:r>
              <a:rPr lang="en-US" dirty="0"/>
              <a:t>, id));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employee_by_car_make_sorted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 text, age int, id int, name text, PRIMARY KEY(</a:t>
            </a:r>
            <a:r>
              <a:rPr lang="en-US" dirty="0" err="1"/>
              <a:t>car_make</a:t>
            </a:r>
            <a:r>
              <a:rPr lang="en-US" dirty="0"/>
              <a:t>, age, id));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 text, </a:t>
            </a:r>
            <a:r>
              <a:rPr lang="en-US" dirty="0" err="1"/>
              <a:t>car_model</a:t>
            </a:r>
            <a:r>
              <a:rPr lang="en-US" dirty="0"/>
              <a:t> text, id int, name text, PRIMARY KEY((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), id));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2C66B-7D46-20B3-B243-60D5B313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1886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7D9A-02D2-6312-1297-0112D59B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FAEF-3D5C-A287-16CA-EE942C46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Creación de Tablas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F18D6-F9D1-E0B3-288E-8746CBF55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890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employee_by_id</a:t>
            </a:r>
            <a:r>
              <a:rPr lang="en-US" dirty="0"/>
              <a:t> (id, name, position) VALUES (1, 'John', 'Manager’)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DROP TABLE </a:t>
            </a:r>
            <a:r>
              <a:rPr lang="en-US" dirty="0" err="1"/>
              <a:t>employee_by_car_make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AR" dirty="0"/>
              <a:t>DESCRIBE TABLES;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9838-245D-AAFB-E818-3FE07898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017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4EA0-34CC-2F90-36DD-89252CDC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AD8F-FE72-963D-3752-83F96C78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Insertando datos en las tablas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C5B3-0B53-8BD6-115C-E53EDBBCB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890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employee_by_id</a:t>
            </a:r>
            <a:r>
              <a:rPr lang="en-US" dirty="0"/>
              <a:t> (id, name, position) VALUES (2, 'Bob', 'CEO')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('BMW', 1, 'Sports Car')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('AUDI', 2, 'Truck')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('AUDI', 5, 'Hatchback')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('BMW', 4, 'Sports Car') ;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869A2-A218-DD52-E6F0-A72E4124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147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9220-12E6-CEDD-4B82-B0382A16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BEEE-25BB-D1C8-D8AD-BB58F6E9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Insertando datos en las tablas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665D-54BC-9931-7225-93752600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('BMW','HATCHBACK', 1, 'John')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('AUDI', 'Truck', 8, 'FRANK')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('BMX', 'Truck', 7, 'AMY')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('AUDI', 'Sports Car', 4, 'TIM')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('AUDI', 'Sports Car', 5, 'JIM')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id, name) VALUES ('AUDI', 'Sports Car', 6, 'NICK') ;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FEFA1-E35D-974D-1FFD-FA71D80C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2557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3301-A25B-1CC9-3BC2-38D6521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7FB7-3F8E-3FF0-4688-84CD5C3A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Insertando datos en las tablas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008F-8E99-7D71-6921-29EF9AEE3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('AUDI', 8, 'Sports Car')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('MERC', 3, 'Saloon') 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id, </a:t>
            </a:r>
            <a:r>
              <a:rPr lang="en-US" dirty="0" err="1"/>
              <a:t>car_model</a:t>
            </a:r>
            <a:r>
              <a:rPr lang="en-US" dirty="0"/>
              <a:t>) VALUES ('MERC', 6, 'Saloon’) ;	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A1E0C-7135-C90B-3A41-CD2C245F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000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DAA5-AF8D-D559-7BCA-F8A87918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3849-74D9-130E-8531-105B1DA2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Insertando datos en las tablas – cont.</a:t>
            </a:r>
            <a:br>
              <a:rPr lang="es-AR" dirty="0"/>
            </a:br>
            <a:r>
              <a:rPr lang="es-AR" dirty="0"/>
              <a:t>Esto significa que la columna ‘</a:t>
            </a:r>
            <a:r>
              <a:rPr lang="es-AR" dirty="0" err="1"/>
              <a:t>name</a:t>
            </a:r>
            <a:r>
              <a:rPr lang="es-AR" dirty="0"/>
              <a:t>’ será </a:t>
            </a:r>
            <a:r>
              <a:rPr lang="es-AR" dirty="0" err="1"/>
              <a:t>null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E0185-17BA-D85F-D6DF-97DC4490B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employee_by_car_make_and_model</a:t>
            </a:r>
            <a:r>
              <a:rPr lang="en-US" dirty="0"/>
              <a:t> (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id) VALUES ('BMW', 'HATCHBACK', 3) ;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63FDF-B3F5-600E-25C4-01A1778E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5069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FCAE-C773-4E59-FD3D-0D06BD4B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364A-7241-2BA3-46E8-0679D62A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Seleccionando registros de las tablas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EC87-6F4B-88EA-A4AD-BDBA7AF2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employee_by_car_make</a:t>
            </a:r>
            <a:r>
              <a:rPr lang="en-US" dirty="0"/>
              <a:t> WHERE </a:t>
            </a:r>
            <a:r>
              <a:rPr lang="en-US" dirty="0" err="1"/>
              <a:t>car_make</a:t>
            </a:r>
            <a:r>
              <a:rPr lang="en-US" dirty="0"/>
              <a:t>='BMW' ORDER BY id;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car_make</a:t>
            </a:r>
            <a:r>
              <a:rPr lang="en-US" sz="2000" dirty="0"/>
              <a:t> | </a:t>
            </a:r>
            <a:r>
              <a:rPr lang="en-US" sz="2000" dirty="0" err="1"/>
              <a:t>car_model</a:t>
            </a:r>
            <a:r>
              <a:rPr lang="en-US" sz="2000" dirty="0"/>
              <a:t> | id | name</a:t>
            </a:r>
          </a:p>
          <a:p>
            <a:pPr marL="0" indent="0">
              <a:buNone/>
            </a:pPr>
            <a:r>
              <a:rPr lang="en-US" sz="2000" dirty="0"/>
              <a:t>----------+-----------+----+------</a:t>
            </a:r>
          </a:p>
          <a:p>
            <a:pPr marL="0" indent="0">
              <a:buNone/>
            </a:pPr>
            <a:r>
              <a:rPr lang="en-US" sz="2000" dirty="0"/>
              <a:t>      BMW | HATCHBACK |  1 |  Bob</a:t>
            </a:r>
          </a:p>
          <a:p>
            <a:pPr marL="0" indent="0">
              <a:buNone/>
            </a:pPr>
            <a:r>
              <a:rPr lang="en-US" sz="2000" dirty="0"/>
              <a:t>      BMW | HATCHBACK |  2 | null</a:t>
            </a:r>
          </a:p>
          <a:p>
            <a:pPr marL="0" indent="0">
              <a:buNone/>
            </a:pPr>
            <a:r>
              <a:rPr lang="en-US" sz="2000" dirty="0"/>
              <a:t>      BMW | HATCHBACK |  3 | null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employee_by_car_make_and_model</a:t>
            </a:r>
            <a:r>
              <a:rPr lang="en-US" dirty="0"/>
              <a:t> WHERE </a:t>
            </a:r>
            <a:r>
              <a:rPr lang="en-US" dirty="0" err="1"/>
              <a:t>car_make</a:t>
            </a:r>
            <a:r>
              <a:rPr lang="en-US" dirty="0"/>
              <a:t>= 'BMW' AND </a:t>
            </a:r>
            <a:r>
              <a:rPr lang="en-US" dirty="0" err="1"/>
              <a:t>car_model</a:t>
            </a:r>
            <a:r>
              <a:rPr lang="en-US" dirty="0"/>
              <a:t>='HATCHBACK’ ;</a:t>
            </a:r>
          </a:p>
          <a:p>
            <a:pPr marL="0" indent="0">
              <a:buNone/>
            </a:pPr>
            <a:r>
              <a:rPr lang="es-AR" sz="2200" dirty="0"/>
              <a:t> </a:t>
            </a:r>
            <a:r>
              <a:rPr lang="es-AR" sz="2200" dirty="0" err="1"/>
              <a:t>car_make</a:t>
            </a:r>
            <a:r>
              <a:rPr lang="es-AR" sz="2200" dirty="0"/>
              <a:t> | id | </a:t>
            </a:r>
            <a:r>
              <a:rPr lang="es-AR" sz="2200" dirty="0" err="1"/>
              <a:t>car_model</a:t>
            </a:r>
            <a:endParaRPr lang="es-AR" sz="2200" dirty="0"/>
          </a:p>
          <a:p>
            <a:pPr marL="0" indent="0">
              <a:buNone/>
            </a:pPr>
            <a:r>
              <a:rPr lang="es-AR" sz="2200" dirty="0"/>
              <a:t>----------+----+------------</a:t>
            </a:r>
          </a:p>
          <a:p>
            <a:pPr marL="0" indent="0">
              <a:buNone/>
            </a:pPr>
            <a:r>
              <a:rPr lang="es-AR" sz="2200" dirty="0"/>
              <a:t>      BMX |  1 | </a:t>
            </a:r>
            <a:r>
              <a:rPr lang="es-AR" sz="2200" dirty="0" err="1"/>
              <a:t>Sports</a:t>
            </a:r>
            <a:r>
              <a:rPr lang="es-AR" sz="2200" dirty="0"/>
              <a:t> Car</a:t>
            </a:r>
          </a:p>
          <a:p>
            <a:pPr marL="0" indent="0">
              <a:buNone/>
            </a:pPr>
            <a:r>
              <a:rPr lang="es-AR" sz="2200" dirty="0"/>
              <a:t>      BMX |  4 | </a:t>
            </a:r>
            <a:r>
              <a:rPr lang="es-AR" sz="2200" dirty="0" err="1"/>
              <a:t>Sports</a:t>
            </a:r>
            <a:r>
              <a:rPr lang="es-AR" sz="2200" dirty="0"/>
              <a:t> Car</a:t>
            </a:r>
          </a:p>
          <a:p>
            <a:pPr marL="0" indent="0">
              <a:buNone/>
            </a:pPr>
            <a:r>
              <a:rPr lang="es-AR" sz="2200" dirty="0"/>
              <a:t>     MERC |  3 |     </a:t>
            </a:r>
            <a:r>
              <a:rPr lang="es-AR" sz="2200" dirty="0" err="1"/>
              <a:t>Saloon</a:t>
            </a:r>
            <a:endParaRPr lang="es-AR" sz="2200" dirty="0"/>
          </a:p>
          <a:p>
            <a:pPr marL="0" indent="0">
              <a:buNone/>
            </a:pPr>
            <a:r>
              <a:rPr lang="es-AR" sz="2200" dirty="0"/>
              <a:t>     MERC |  6 |     </a:t>
            </a:r>
            <a:r>
              <a:rPr lang="es-AR" sz="2200" dirty="0" err="1"/>
              <a:t>Saloon</a:t>
            </a:r>
            <a:endParaRPr lang="es-AR" sz="2200" dirty="0"/>
          </a:p>
          <a:p>
            <a:pPr marL="0" indent="0">
              <a:buNone/>
            </a:pPr>
            <a:r>
              <a:rPr lang="es-AR" sz="2200" dirty="0"/>
              <a:t>     AUDI |  2 |      </a:t>
            </a:r>
            <a:r>
              <a:rPr lang="es-AR" sz="2200" dirty="0" err="1"/>
              <a:t>Truck</a:t>
            </a:r>
            <a:endParaRPr lang="es-AR" sz="2200" dirty="0"/>
          </a:p>
          <a:p>
            <a:pPr marL="0" indent="0">
              <a:buNone/>
            </a:pPr>
            <a:r>
              <a:rPr lang="es-AR" sz="2200" dirty="0"/>
              <a:t>     AUDI |  5 |  Hatchback</a:t>
            </a:r>
          </a:p>
          <a:p>
            <a:pPr marL="0" indent="0">
              <a:buNone/>
            </a:pPr>
            <a:r>
              <a:rPr lang="es-AR" sz="2200" dirty="0"/>
              <a:t>     AUDI |  8 | </a:t>
            </a:r>
            <a:r>
              <a:rPr lang="es-AR" sz="2200" dirty="0" err="1"/>
              <a:t>Sports</a:t>
            </a:r>
            <a:r>
              <a:rPr lang="es-AR" sz="2200" dirty="0"/>
              <a:t>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CF45E-5D70-5119-441E-A9D53A88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7861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6807-C7AF-6857-4983-8222D14F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9A4C-D8D8-FECB-F078-AE114CD2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Seleccionando registros de las tablas</a:t>
            </a:r>
            <a:br>
              <a:rPr lang="es-AR" dirty="0"/>
            </a:br>
            <a:r>
              <a:rPr lang="es-AR" dirty="0" err="1"/>
              <a:t>Writetime</a:t>
            </a:r>
            <a:r>
              <a:rPr lang="es-AR" dirty="0"/>
              <a:t>: encontrar cuándo se han insertado los ítems en la tabla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D4F0-F975-07CA-2162-110059C73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car_make</a:t>
            </a:r>
            <a:r>
              <a:rPr lang="en-US" dirty="0"/>
              <a:t>, </a:t>
            </a:r>
            <a:r>
              <a:rPr lang="en-US" dirty="0" err="1"/>
              <a:t>car_model</a:t>
            </a:r>
            <a:r>
              <a:rPr lang="en-US" dirty="0"/>
              <a:t>, </a:t>
            </a:r>
            <a:r>
              <a:rPr lang="en-US" dirty="0" err="1"/>
              <a:t>writetime</a:t>
            </a:r>
            <a:r>
              <a:rPr lang="en-US" dirty="0"/>
              <a:t>(</a:t>
            </a:r>
            <a:r>
              <a:rPr lang="en-US" dirty="0" err="1"/>
              <a:t>car_model</a:t>
            </a:r>
            <a:r>
              <a:rPr lang="en-US" dirty="0"/>
              <a:t>) FROM </a:t>
            </a:r>
            <a:r>
              <a:rPr lang="en-US" dirty="0" err="1"/>
              <a:t>employee_by_car_make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s-AR" sz="2000" dirty="0"/>
              <a:t> </a:t>
            </a:r>
            <a:r>
              <a:rPr lang="es-AR" sz="2000" dirty="0" err="1"/>
              <a:t>car_make</a:t>
            </a:r>
            <a:r>
              <a:rPr lang="es-AR" sz="2000" dirty="0"/>
              <a:t> | </a:t>
            </a:r>
            <a:r>
              <a:rPr lang="es-AR" sz="2000" dirty="0" err="1"/>
              <a:t>car_model</a:t>
            </a:r>
            <a:r>
              <a:rPr lang="es-AR" sz="2000" dirty="0"/>
              <a:t>  | </a:t>
            </a:r>
            <a:r>
              <a:rPr lang="es-AR" sz="2000" dirty="0" err="1"/>
              <a:t>writetime</a:t>
            </a:r>
            <a:r>
              <a:rPr lang="es-AR" sz="2000" dirty="0"/>
              <a:t>(</a:t>
            </a:r>
            <a:r>
              <a:rPr lang="es-AR" sz="2000" dirty="0" err="1"/>
              <a:t>car_model</a:t>
            </a:r>
            <a:r>
              <a:rPr lang="es-AR" sz="2000" dirty="0"/>
              <a:t>)</a:t>
            </a:r>
          </a:p>
          <a:p>
            <a:pPr marL="0" indent="0">
              <a:buNone/>
            </a:pPr>
            <a:r>
              <a:rPr lang="es-AR" sz="2000" dirty="0"/>
              <a:t>----------+------------+----------------------</a:t>
            </a:r>
          </a:p>
          <a:p>
            <a:pPr marL="0" indent="0">
              <a:buNone/>
            </a:pPr>
            <a:r>
              <a:rPr lang="es-AR" sz="2000" dirty="0"/>
              <a:t>      BMX | </a:t>
            </a:r>
            <a:r>
              <a:rPr lang="es-AR" sz="2000" dirty="0" err="1"/>
              <a:t>Sports</a:t>
            </a:r>
            <a:r>
              <a:rPr lang="es-AR" sz="2000" dirty="0"/>
              <a:t> Car |     1602018053307000</a:t>
            </a:r>
          </a:p>
          <a:p>
            <a:pPr marL="0" indent="0">
              <a:buNone/>
            </a:pPr>
            <a:r>
              <a:rPr lang="es-AR" sz="2000" dirty="0"/>
              <a:t>      BMX | </a:t>
            </a:r>
            <a:r>
              <a:rPr lang="es-AR" sz="2000" dirty="0" err="1"/>
              <a:t>Sports</a:t>
            </a:r>
            <a:r>
              <a:rPr lang="es-AR" sz="2000" dirty="0"/>
              <a:t> Car |     1602018411020000</a:t>
            </a:r>
          </a:p>
          <a:p>
            <a:pPr marL="0" indent="0">
              <a:buNone/>
            </a:pPr>
            <a:r>
              <a:rPr lang="es-AR" sz="2000" dirty="0"/>
              <a:t>     MERC |     </a:t>
            </a:r>
            <a:r>
              <a:rPr lang="es-AR" sz="2000" dirty="0" err="1"/>
              <a:t>Saloon</a:t>
            </a:r>
            <a:r>
              <a:rPr lang="es-AR" sz="2000" dirty="0"/>
              <a:t> |     1602019109699000</a:t>
            </a:r>
          </a:p>
          <a:p>
            <a:pPr marL="0" indent="0">
              <a:buNone/>
            </a:pPr>
            <a:r>
              <a:rPr lang="es-AR" sz="2000" dirty="0"/>
              <a:t>     MERC |     </a:t>
            </a:r>
            <a:r>
              <a:rPr lang="es-AR" sz="2000" dirty="0" err="1"/>
              <a:t>Saloon</a:t>
            </a:r>
            <a:r>
              <a:rPr lang="es-AR" sz="2000" dirty="0"/>
              <a:t> |     1602019120387000</a:t>
            </a:r>
          </a:p>
          <a:p>
            <a:pPr marL="0" indent="0">
              <a:buNone/>
            </a:pPr>
            <a:r>
              <a:rPr lang="es-AR" sz="2000" dirty="0"/>
              <a:t>     AUDI |      </a:t>
            </a:r>
            <a:r>
              <a:rPr lang="es-AR" sz="2000" dirty="0" err="1"/>
              <a:t>Truck</a:t>
            </a:r>
            <a:r>
              <a:rPr lang="es-AR" sz="2000" dirty="0"/>
              <a:t> |     1602018096459000</a:t>
            </a:r>
          </a:p>
          <a:p>
            <a:pPr marL="0" indent="0">
              <a:buNone/>
            </a:pPr>
            <a:r>
              <a:rPr lang="es-AR" sz="2000" dirty="0"/>
              <a:t>     AUDI |  Hatchback |     1602018119356000</a:t>
            </a:r>
          </a:p>
          <a:p>
            <a:pPr marL="0" indent="0">
              <a:buNone/>
            </a:pPr>
            <a:r>
              <a:rPr lang="es-AR" sz="2000" dirty="0"/>
              <a:t>     AUDI | </a:t>
            </a:r>
            <a:r>
              <a:rPr lang="es-AR" sz="2000" dirty="0" err="1"/>
              <a:t>Sports</a:t>
            </a:r>
            <a:r>
              <a:rPr lang="es-AR" sz="2000" dirty="0"/>
              <a:t> Car |     1602019087500000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2C196-BA9F-945A-A22C-CC29CA1D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0293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E179-7924-73FA-C707-E2D6605E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2D5C-556D-922B-2739-B0EC42F4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Modificar o actualizar valores de una tabla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97F2-3258-F093-1255-C21273D29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816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employee_by_car_make</a:t>
            </a:r>
            <a:r>
              <a:rPr lang="en-US" dirty="0"/>
              <a:t> USING TTL 60 SET </a:t>
            </a:r>
            <a:r>
              <a:rPr lang="en-US" dirty="0" err="1"/>
              <a:t>car_model</a:t>
            </a:r>
            <a:r>
              <a:rPr lang="en-US" dirty="0"/>
              <a:t>='TRUCK' WHERE </a:t>
            </a:r>
            <a:r>
              <a:rPr lang="en-US" dirty="0" err="1"/>
              <a:t>car_make</a:t>
            </a:r>
            <a:r>
              <a:rPr lang="en-US" dirty="0"/>
              <a:t>='BMW' AND id=2 ;</a:t>
            </a:r>
            <a:r>
              <a:rPr lang="es-AR" sz="2000" dirty="0"/>
              <a:t> </a:t>
            </a:r>
          </a:p>
          <a:p>
            <a:pPr marL="0" indent="0">
              <a:buNone/>
            </a:pPr>
            <a:endParaRPr lang="es-AR" sz="2000" dirty="0"/>
          </a:p>
          <a:p>
            <a:pPr marL="0" indent="0">
              <a:buNone/>
            </a:pPr>
            <a:r>
              <a:rPr lang="es-AR" sz="1800" dirty="0"/>
              <a:t> </a:t>
            </a:r>
            <a:r>
              <a:rPr lang="es-AR" sz="1800" dirty="0" err="1"/>
              <a:t>car_make</a:t>
            </a:r>
            <a:r>
              <a:rPr lang="es-AR" sz="1800" dirty="0"/>
              <a:t> | id | </a:t>
            </a:r>
            <a:r>
              <a:rPr lang="es-AR" sz="1800" dirty="0" err="1"/>
              <a:t>car_model</a:t>
            </a:r>
            <a:endParaRPr lang="es-AR" sz="1800" dirty="0"/>
          </a:p>
          <a:p>
            <a:pPr marL="0" indent="0">
              <a:buNone/>
            </a:pPr>
            <a:r>
              <a:rPr lang="es-AR" sz="1800" dirty="0"/>
              <a:t>----------+----+------------</a:t>
            </a:r>
          </a:p>
          <a:p>
            <a:pPr marL="0" indent="0">
              <a:buNone/>
            </a:pPr>
            <a:r>
              <a:rPr lang="es-AR" sz="1800" dirty="0"/>
              <a:t>      BMW |  1 | </a:t>
            </a:r>
            <a:r>
              <a:rPr lang="es-AR" sz="1800" dirty="0" err="1"/>
              <a:t>Sports</a:t>
            </a:r>
            <a:r>
              <a:rPr lang="es-AR" sz="1800" dirty="0"/>
              <a:t> Car</a:t>
            </a:r>
          </a:p>
          <a:p>
            <a:pPr marL="0" indent="0">
              <a:buNone/>
            </a:pPr>
            <a:r>
              <a:rPr lang="es-AR" sz="1800" dirty="0"/>
              <a:t>      BMW |  2 |      TRUCK</a:t>
            </a:r>
          </a:p>
          <a:p>
            <a:pPr marL="0" indent="0">
              <a:buNone/>
            </a:pPr>
            <a:r>
              <a:rPr lang="es-AR" sz="1800" dirty="0"/>
              <a:t>      BMW |  4 | </a:t>
            </a:r>
            <a:r>
              <a:rPr lang="es-AR" sz="1800" dirty="0" err="1"/>
              <a:t>Sports</a:t>
            </a:r>
            <a:r>
              <a:rPr lang="es-AR" sz="1800" dirty="0"/>
              <a:t> Car</a:t>
            </a:r>
          </a:p>
          <a:p>
            <a:pPr marL="0" indent="0">
              <a:buNone/>
            </a:pPr>
            <a:r>
              <a:rPr lang="es-AR" sz="1800" dirty="0"/>
              <a:t>     MERC |  3 |     </a:t>
            </a:r>
            <a:r>
              <a:rPr lang="es-AR" sz="1800" dirty="0" err="1"/>
              <a:t>Saloon</a:t>
            </a:r>
            <a:endParaRPr lang="es-AR" sz="1800" dirty="0"/>
          </a:p>
          <a:p>
            <a:pPr marL="0" indent="0">
              <a:buNone/>
            </a:pPr>
            <a:r>
              <a:rPr lang="es-AR" sz="1800" dirty="0"/>
              <a:t>     AUDI |  2 |      </a:t>
            </a:r>
            <a:r>
              <a:rPr lang="es-AR" sz="1800" dirty="0" err="1"/>
              <a:t>Truck</a:t>
            </a:r>
            <a:endParaRPr lang="es-AR" sz="1800" dirty="0"/>
          </a:p>
          <a:p>
            <a:pPr marL="0" indent="0">
              <a:buNone/>
            </a:pPr>
            <a:r>
              <a:rPr lang="es-AR" sz="1800" dirty="0"/>
              <a:t>     AUDI |  5 |  Hatchback</a:t>
            </a:r>
          </a:p>
          <a:p>
            <a:pPr marL="0" indent="0">
              <a:buNone/>
            </a:pPr>
            <a:r>
              <a:rPr lang="es-AR" sz="1800" dirty="0"/>
              <a:t>     AUDI |  8 | </a:t>
            </a:r>
            <a:r>
              <a:rPr lang="es-AR" sz="1800" dirty="0" err="1"/>
              <a:t>Sports</a:t>
            </a:r>
            <a:r>
              <a:rPr lang="es-AR" sz="1800" dirty="0"/>
              <a:t> Car</a:t>
            </a:r>
            <a:endParaRPr lang="es-A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FACC5-32AE-8B43-1A88-550DC48C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340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5BE8-63A0-895C-B22C-80EE1701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F454-10A8-3D8F-BA69-B3685AFD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Agregando una columna a una tabla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6E99-866C-7B68-94AE-C592A884C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8"/>
            <a:ext cx="11334972" cy="2636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s-AR" sz="2000" dirty="0"/>
              <a:t> id | </a:t>
            </a:r>
            <a:r>
              <a:rPr lang="es-AR" sz="2000" dirty="0" err="1"/>
              <a:t>name</a:t>
            </a:r>
            <a:r>
              <a:rPr lang="es-AR" sz="2000" dirty="0"/>
              <a:t> | position</a:t>
            </a:r>
          </a:p>
          <a:p>
            <a:pPr marL="0" indent="0">
              <a:buNone/>
            </a:pPr>
            <a:r>
              <a:rPr lang="es-AR" sz="2000" dirty="0"/>
              <a:t>----+------+----------</a:t>
            </a:r>
          </a:p>
          <a:p>
            <a:pPr marL="0" indent="0">
              <a:buNone/>
            </a:pPr>
            <a:r>
              <a:rPr lang="es-AR" sz="2000" dirty="0"/>
              <a:t>  1 | John |  Manager</a:t>
            </a:r>
          </a:p>
          <a:p>
            <a:pPr marL="0" indent="0">
              <a:buNone/>
            </a:pPr>
            <a:r>
              <a:rPr lang="es-AR" sz="2000" dirty="0"/>
              <a:t>  2 |  Bob |      CEO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2B356-865A-9AED-0AC6-DC5D6931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13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04EAE0-2183-C284-7ECF-EA25F5DA95FD}"/>
              </a:ext>
            </a:extLst>
          </p:cNvPr>
          <p:cNvSpPr txBox="1">
            <a:spLocks/>
          </p:cNvSpPr>
          <p:nvPr/>
        </p:nvSpPr>
        <p:spPr>
          <a:xfrm>
            <a:off x="370459" y="4084565"/>
            <a:ext cx="11334972" cy="26367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ALTER TABLE </a:t>
            </a:r>
            <a:r>
              <a:rPr lang="en-US" dirty="0" err="1"/>
              <a:t>employee_by_id</a:t>
            </a:r>
            <a:r>
              <a:rPr lang="en-US" dirty="0"/>
              <a:t> ADD phone set&lt;text&gt;;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2000" dirty="0"/>
              <a:t>  id | </a:t>
            </a:r>
            <a:r>
              <a:rPr lang="es-AR" sz="2000" dirty="0" err="1"/>
              <a:t>name</a:t>
            </a:r>
            <a:r>
              <a:rPr lang="es-AR" sz="2000" dirty="0"/>
              <a:t> | </a:t>
            </a:r>
            <a:r>
              <a:rPr lang="es-AR" sz="2000" dirty="0" err="1"/>
              <a:t>phone</a:t>
            </a:r>
            <a:r>
              <a:rPr lang="es-AR" sz="2000" dirty="0"/>
              <a:t> | position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2000" dirty="0"/>
              <a:t>----+------+-------+----------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2000" dirty="0"/>
              <a:t>  1 | John |  </a:t>
            </a:r>
            <a:r>
              <a:rPr lang="es-AR" sz="2000" dirty="0" err="1"/>
              <a:t>null</a:t>
            </a:r>
            <a:r>
              <a:rPr lang="es-AR" sz="2000" dirty="0"/>
              <a:t> |  Manager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2000" dirty="0"/>
              <a:t>  2 |  Bob |  </a:t>
            </a:r>
            <a:r>
              <a:rPr lang="es-AR" sz="2000" dirty="0" err="1"/>
              <a:t>null</a:t>
            </a:r>
            <a:r>
              <a:rPr lang="es-AR" sz="2000" dirty="0"/>
              <a:t> |      CEO</a:t>
            </a:r>
          </a:p>
        </p:txBody>
      </p:sp>
    </p:spTree>
    <p:extLst>
      <p:ext uri="{BB962C8B-B14F-4D97-AF65-F5344CB8AC3E}">
        <p14:creationId xmlns:p14="http://schemas.microsoft.com/office/powerpoint/2010/main" val="3429541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FE32-6CF9-EB9B-F287-02EDFE73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57E2-8567-B6BE-8A7D-FE10C619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Actualización alterando valores existentes en tabla usando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24776-9976-9EF7-C3F2-E9B7CDC8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8"/>
            <a:ext cx="11334972" cy="3306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employee_by_id</a:t>
            </a:r>
            <a:r>
              <a:rPr lang="en-US" dirty="0"/>
              <a:t> SET phone = {'343','565'} WHERE id =1 ;</a:t>
            </a:r>
            <a:endParaRPr lang="es-AR" sz="2000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 id | name | phone          	| position</a:t>
            </a:r>
          </a:p>
          <a:p>
            <a:pPr marL="0" indent="0">
              <a:buNone/>
            </a:pPr>
            <a:r>
              <a:rPr lang="en-US" sz="2000" dirty="0"/>
              <a:t>----+------+----------------+----------</a:t>
            </a:r>
          </a:p>
          <a:p>
            <a:pPr marL="0" indent="0">
              <a:buNone/>
            </a:pPr>
            <a:r>
              <a:rPr lang="en-US" sz="2000" dirty="0"/>
              <a:t>  1 | John | {'343', '565’} 	|  Manager</a:t>
            </a:r>
          </a:p>
          <a:p>
            <a:pPr marL="0" indent="0">
              <a:buNone/>
            </a:pPr>
            <a:r>
              <a:rPr lang="en-US" sz="2000" dirty="0"/>
              <a:t>  2 |  Bob |           null 	|      CEO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DDB89-B702-7526-0753-5AA4508F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17059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0444-D6A1-EE51-BCEF-8C70ACDE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C801-3EED-5594-0A56-E33B0CAC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Agregando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3658C-59E0-2EBD-AD34-79B6D9EA5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8"/>
            <a:ext cx="11334972" cy="3306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employee_by_id</a:t>
            </a:r>
            <a:r>
              <a:rPr lang="en-US" dirty="0"/>
              <a:t> SET phone = phone + {'555'} WHERE id =1 ;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id | name | phone                	 | position</a:t>
            </a:r>
          </a:p>
          <a:p>
            <a:pPr marL="0" indent="0">
              <a:buNone/>
            </a:pPr>
            <a:r>
              <a:rPr lang="en-US" sz="2000" dirty="0"/>
              <a:t>----+------+-----------------------+------------------------</a:t>
            </a:r>
          </a:p>
          <a:p>
            <a:pPr marL="0" indent="0">
              <a:buNone/>
            </a:pPr>
            <a:r>
              <a:rPr lang="en-US" sz="2000" dirty="0"/>
              <a:t>  1 | John | {'343', '555', '565’} 	|  Manager</a:t>
            </a:r>
          </a:p>
          <a:p>
            <a:pPr marL="0" indent="0">
              <a:buNone/>
            </a:pPr>
            <a:r>
              <a:rPr lang="en-US" sz="2000" dirty="0"/>
              <a:t>  2 |  Bob |                  null 		|      CEO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5A0B7-B532-1BFD-294F-BFEAB61F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8087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CE73-849D-BD61-49AE-FEBDD4AB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CC0B-A40D-D692-C77E-BBAD239A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Sustrayendo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5F5D-087E-113E-54A4-A681E195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8"/>
            <a:ext cx="11334972" cy="3306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employee_by_id</a:t>
            </a:r>
            <a:r>
              <a:rPr lang="en-US" dirty="0"/>
              <a:t> SET phone = phone - {'565'} WHERE id =1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id | name | phone          	| position</a:t>
            </a:r>
          </a:p>
          <a:p>
            <a:pPr marL="0" indent="0">
              <a:buNone/>
            </a:pPr>
            <a:r>
              <a:rPr lang="en-US" sz="2000" dirty="0"/>
              <a:t>----+------+----------------+----------------------</a:t>
            </a:r>
          </a:p>
          <a:p>
            <a:pPr marL="0" indent="0">
              <a:buNone/>
            </a:pPr>
            <a:r>
              <a:rPr lang="en-US" sz="2000" dirty="0"/>
              <a:t>  1 | John | {'343', '555’} 	|  Manager</a:t>
            </a:r>
          </a:p>
          <a:p>
            <a:pPr marL="0" indent="0">
              <a:buNone/>
            </a:pPr>
            <a:r>
              <a:rPr lang="en-US" sz="2000" dirty="0"/>
              <a:t>  2 |  Bob |           null 	|      CEO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DBCB-3759-7E8D-2024-74E01FF2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8034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4E109-574A-D08C-50B7-31F035BD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9735-5E05-C46A-46CA-E3344FD6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ORDER BY solo es soportado en las columnas </a:t>
            </a:r>
            <a:r>
              <a:rPr lang="es-AR" dirty="0" err="1"/>
              <a:t>clusterizadas</a:t>
            </a:r>
            <a:r>
              <a:rPr lang="es-AR" dirty="0"/>
              <a:t> de la </a:t>
            </a:r>
            <a:r>
              <a:rPr lang="es-AR" dirty="0" err="1"/>
              <a:t>Primary</a:t>
            </a:r>
            <a:r>
              <a:rPr lang="es-AR" dirty="0"/>
              <a:t>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8BF1-23CC-4AE0-665C-24E47E6F3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263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ALLOW FILTERING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ser prejudicial en </a:t>
            </a:r>
            <a:r>
              <a:rPr lang="en-US" dirty="0" err="1"/>
              <a:t>términos</a:t>
            </a:r>
            <a:r>
              <a:rPr lang="en-US" dirty="0"/>
              <a:t> de performance dado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podrían</a:t>
            </a:r>
            <a:r>
              <a:rPr lang="en-US" dirty="0"/>
              <a:t> ser </a:t>
            </a:r>
            <a:r>
              <a:rPr lang="en-US" dirty="0" err="1"/>
              <a:t>accedidos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un gran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tablas</a:t>
            </a:r>
            <a:r>
              <a:rPr lang="en-US" dirty="0"/>
              <a:t> en multiples clusters.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WHERE name='John' ALLOW FILTERING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id | name | phone          | position</a:t>
            </a:r>
          </a:p>
          <a:p>
            <a:pPr marL="0" indent="0">
              <a:buNone/>
            </a:pPr>
            <a:r>
              <a:rPr lang="en-US" sz="2000" dirty="0"/>
              <a:t>----+------+----------------+----------</a:t>
            </a:r>
          </a:p>
          <a:p>
            <a:pPr marL="0" indent="0">
              <a:buNone/>
            </a:pPr>
            <a:r>
              <a:rPr lang="en-US" sz="2000" dirty="0"/>
              <a:t>  1 | John | {'343', '555'} | 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04C8C-E1A2-6F6C-306D-3E0ABA1D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08364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1BA6-A14A-0C05-69E0-412A7D7C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7FDE-5F89-4D44-6755-2F765D98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Creación de índices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CAB0-007F-590C-54D8-3C91E1456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4263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INDEX ON </a:t>
            </a:r>
            <a:r>
              <a:rPr lang="en-US" dirty="0" err="1"/>
              <a:t>employee_by_id</a:t>
            </a:r>
            <a:r>
              <a:rPr lang="en-US" dirty="0"/>
              <a:t> (name);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employee_by_id</a:t>
            </a:r>
            <a:r>
              <a:rPr lang="en-US" dirty="0"/>
              <a:t> WHERE name='John’ ;</a:t>
            </a:r>
          </a:p>
          <a:p>
            <a:pPr marL="0" indent="0">
              <a:buNone/>
            </a:pPr>
            <a:r>
              <a:rPr lang="en-US" sz="2000" dirty="0"/>
              <a:t>id | name | phone          | position</a:t>
            </a:r>
          </a:p>
          <a:p>
            <a:pPr marL="0" indent="0">
              <a:buNone/>
            </a:pPr>
            <a:r>
              <a:rPr lang="en-US" sz="2000" dirty="0"/>
              <a:t>----+------+----------------+----------</a:t>
            </a:r>
          </a:p>
          <a:p>
            <a:pPr marL="0" indent="0">
              <a:buNone/>
            </a:pPr>
            <a:r>
              <a:rPr lang="en-US" sz="2000" dirty="0"/>
              <a:t>  1 | John | {'343', '555'} | 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23BFE-5897-8478-547F-496CBF5C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420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6C30-CC6C-6778-108B-B17E8FCF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D6CA-55E7-8883-6F78-A40BE690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Creación de tabla con UUID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628D9-6805-1DA9-83A6-122F0A26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employee_by_uuid</a:t>
            </a:r>
            <a:r>
              <a:rPr lang="en-US" dirty="0"/>
              <a:t> (id </a:t>
            </a:r>
            <a:r>
              <a:rPr lang="en-US" dirty="0" err="1"/>
              <a:t>uuid</a:t>
            </a:r>
            <a:r>
              <a:rPr lang="en-US" dirty="0"/>
              <a:t> PRIMARY KEY, </a:t>
            </a:r>
            <a:r>
              <a:rPr lang="en-US" dirty="0" err="1"/>
              <a:t>first_name</a:t>
            </a:r>
            <a:r>
              <a:rPr lang="en-US" dirty="0"/>
              <a:t> text, </a:t>
            </a:r>
            <a:r>
              <a:rPr lang="en-US" dirty="0" err="1"/>
              <a:t>last_name</a:t>
            </a:r>
            <a:r>
              <a:rPr lang="en-US" dirty="0"/>
              <a:t> text)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--</a:t>
            </a:r>
            <a:r>
              <a:rPr lang="en-US" dirty="0" err="1"/>
              <a:t>Insertando</a:t>
            </a:r>
            <a:r>
              <a:rPr lang="en-US" dirty="0"/>
              <a:t> para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uuid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</a:t>
            </a:r>
            <a:r>
              <a:rPr lang="en-US" sz="2000" dirty="0" err="1"/>
              <a:t>uuid</a:t>
            </a:r>
            <a:r>
              <a:rPr lang="en-US" sz="2000" dirty="0"/>
              <a:t>(), 'tom', '</a:t>
            </a:r>
            <a:r>
              <a:rPr lang="en-US" sz="2000" dirty="0" err="1"/>
              <a:t>dunne</a:t>
            </a:r>
            <a:r>
              <a:rPr lang="en-US" sz="2000" dirty="0"/>
              <a:t>');</a:t>
            </a:r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</a:t>
            </a:r>
            <a:r>
              <a:rPr lang="en-US" sz="2000" dirty="0" err="1"/>
              <a:t>uuid</a:t>
            </a:r>
            <a:r>
              <a:rPr lang="en-US" sz="2000" dirty="0"/>
              <a:t>(), '</a:t>
            </a:r>
            <a:r>
              <a:rPr lang="en-US" sz="2000" dirty="0" err="1"/>
              <a:t>som</a:t>
            </a:r>
            <a:r>
              <a:rPr lang="en-US" sz="2000" dirty="0"/>
              <a:t>', '</a:t>
            </a:r>
            <a:r>
              <a:rPr lang="en-US" sz="2000" dirty="0" err="1"/>
              <a:t>dunne</a:t>
            </a:r>
            <a:r>
              <a:rPr lang="en-US" sz="2000" dirty="0"/>
              <a:t>');</a:t>
            </a:r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</a:t>
            </a:r>
            <a:r>
              <a:rPr lang="en-US" sz="2000" dirty="0" err="1"/>
              <a:t>uuid</a:t>
            </a:r>
            <a:r>
              <a:rPr lang="en-US" sz="2000" dirty="0"/>
              <a:t>(), '</a:t>
            </a:r>
            <a:r>
              <a:rPr lang="en-US" sz="2000" dirty="0" err="1"/>
              <a:t>tim</a:t>
            </a:r>
            <a:r>
              <a:rPr lang="en-US" sz="2000" dirty="0"/>
              <a:t>', 'smith');</a:t>
            </a:r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</a:t>
            </a:r>
            <a:r>
              <a:rPr lang="en-US" sz="2000" dirty="0" err="1"/>
              <a:t>uuid</a:t>
            </a:r>
            <a:r>
              <a:rPr lang="en-US" sz="2000" dirty="0"/>
              <a:t>(), 'bob', '</a:t>
            </a:r>
            <a:r>
              <a:rPr lang="en-US" sz="2000" dirty="0" err="1"/>
              <a:t>hanson</a:t>
            </a:r>
            <a:r>
              <a:rPr lang="en-US" sz="2000" dirty="0"/>
              <a:t>’);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employee_by_uuid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1700" dirty="0"/>
              <a:t> id                                   			| </a:t>
            </a:r>
            <a:r>
              <a:rPr lang="en-US" sz="1700" dirty="0" err="1"/>
              <a:t>first_name</a:t>
            </a:r>
            <a:r>
              <a:rPr lang="en-US" sz="1700" dirty="0"/>
              <a:t> | </a:t>
            </a:r>
            <a:r>
              <a:rPr lang="en-US" sz="1700" dirty="0" err="1"/>
              <a:t>last_name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-----------------------------------------------------------+------------+---------------------</a:t>
            </a:r>
          </a:p>
          <a:p>
            <a:pPr marL="0" indent="0">
              <a:buNone/>
            </a:pPr>
            <a:r>
              <a:rPr lang="en-US" sz="1700" dirty="0"/>
              <a:t> 627a78bc-8fb6-4a4e-9673-9071b6017029 	|        bob 	| </a:t>
            </a:r>
            <a:r>
              <a:rPr lang="en-US" sz="1700" dirty="0" err="1"/>
              <a:t>hanson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 c2283d7c-ad8a-4e16-8e7a-da23e331c4ee 	|        </a:t>
            </a:r>
            <a:r>
              <a:rPr lang="en-US" sz="1700" dirty="0" err="1"/>
              <a:t>tim</a:t>
            </a:r>
            <a:r>
              <a:rPr lang="en-US" sz="1700" dirty="0"/>
              <a:t>	| smith</a:t>
            </a:r>
          </a:p>
          <a:p>
            <a:pPr marL="0" indent="0">
              <a:buNone/>
            </a:pPr>
            <a:r>
              <a:rPr lang="en-US" sz="1700" dirty="0"/>
              <a:t> 6394aff2-b0a6-4b36-9519-e0643e6d38a1 	|        tom	|  </a:t>
            </a:r>
            <a:r>
              <a:rPr lang="en-US" sz="1700" dirty="0" err="1"/>
              <a:t>dunne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 acac2314-4a3f-4a21-ae5a-523f0d61d29f 	|        </a:t>
            </a:r>
            <a:r>
              <a:rPr lang="en-US" sz="1700" dirty="0" err="1"/>
              <a:t>som</a:t>
            </a:r>
            <a:r>
              <a:rPr lang="en-US" sz="1700" dirty="0"/>
              <a:t>	|  </a:t>
            </a:r>
            <a:r>
              <a:rPr lang="en-US" sz="1700" dirty="0" err="1"/>
              <a:t>dunne</a:t>
            </a: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028D4-44FD-E83B-ABD1-C5886EFF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57343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E047-833D-48E4-E8EC-7A1D1611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25DC-BD55-7DEC-D331-C25D555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Creación de tabla con TIMEUUID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D3EA-1967-C2E4-7D05-F3B43907B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employee_by_timeuuid</a:t>
            </a:r>
            <a:r>
              <a:rPr lang="en-US" dirty="0"/>
              <a:t> (id </a:t>
            </a:r>
            <a:r>
              <a:rPr lang="en-US" dirty="0" err="1"/>
              <a:t>timeuuid</a:t>
            </a:r>
            <a:r>
              <a:rPr lang="en-US" dirty="0"/>
              <a:t> PRIMARY KEY, </a:t>
            </a:r>
            <a:r>
              <a:rPr lang="en-US" dirty="0" err="1"/>
              <a:t>first_name</a:t>
            </a:r>
            <a:r>
              <a:rPr lang="en-US" dirty="0"/>
              <a:t> text, </a:t>
            </a:r>
            <a:r>
              <a:rPr lang="en-US" dirty="0" err="1"/>
              <a:t>last_name</a:t>
            </a:r>
            <a:r>
              <a:rPr lang="en-US" dirty="0"/>
              <a:t> text);</a:t>
            </a:r>
            <a:endParaRPr lang="en-US" sz="2000" dirty="0"/>
          </a:p>
          <a:p>
            <a:pPr marL="0" indent="0">
              <a:buNone/>
            </a:pPr>
            <a:r>
              <a:rPr lang="en-US" dirty="0"/>
              <a:t>--</a:t>
            </a:r>
            <a:r>
              <a:rPr lang="en-US" dirty="0" err="1"/>
              <a:t>Insertando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employee_by_timeuuid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(now(), '</a:t>
            </a:r>
            <a:r>
              <a:rPr lang="en-US" sz="2000" dirty="0" err="1"/>
              <a:t>tim</a:t>
            </a:r>
            <a:r>
              <a:rPr lang="en-US" sz="2000" dirty="0"/>
              <a:t>', 'jones') ;</a:t>
            </a:r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employee_by_timeuuid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(now(), 'ally', 'smith') ;</a:t>
            </a:r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employee_by_timeuuid</a:t>
            </a:r>
            <a:r>
              <a:rPr lang="en-US" sz="2000" dirty="0"/>
              <a:t> (id, </a:t>
            </a:r>
            <a:r>
              <a:rPr lang="en-US" sz="2000" dirty="0" err="1"/>
              <a:t>first_name</a:t>
            </a:r>
            <a:r>
              <a:rPr lang="en-US" sz="2000" dirty="0"/>
              <a:t>, </a:t>
            </a:r>
            <a:r>
              <a:rPr lang="en-US" sz="2000" dirty="0" err="1"/>
              <a:t>last_name</a:t>
            </a:r>
            <a:r>
              <a:rPr lang="en-US" sz="2000" dirty="0"/>
              <a:t>) VALUES (now(), '</a:t>
            </a:r>
            <a:r>
              <a:rPr lang="en-US" sz="2000" dirty="0" err="1"/>
              <a:t>kate</a:t>
            </a:r>
            <a:r>
              <a:rPr lang="en-US" sz="2000" dirty="0"/>
              <a:t>', 'smith') 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employee_by_timeuuid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1700" dirty="0"/>
              <a:t> id                                			   | </a:t>
            </a:r>
            <a:r>
              <a:rPr lang="en-US" sz="1700" dirty="0" err="1"/>
              <a:t>first_name</a:t>
            </a:r>
            <a:r>
              <a:rPr lang="en-US" sz="1700" dirty="0"/>
              <a:t> | </a:t>
            </a:r>
            <a:r>
              <a:rPr lang="en-US" sz="1700" dirty="0" err="1"/>
              <a:t>last_name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-------------------------------------------------------+------------+---------------------</a:t>
            </a:r>
          </a:p>
          <a:p>
            <a:pPr marL="0" indent="0">
              <a:buNone/>
            </a:pPr>
            <a:r>
              <a:rPr lang="en-US" sz="1700" dirty="0"/>
              <a:t> bd6c28c0-32a9-11f1-893f-4fd0b6ce4ebc |       ally	|     smith</a:t>
            </a:r>
          </a:p>
          <a:p>
            <a:pPr marL="0" indent="0">
              <a:buNone/>
            </a:pPr>
            <a:r>
              <a:rPr lang="en-US" sz="1700" dirty="0"/>
              <a:t> b9a70a70-32a9-11f1-893f-4fd0b6ce4ebc |       ally 	|     smith</a:t>
            </a:r>
          </a:p>
          <a:p>
            <a:pPr marL="0" indent="0">
              <a:buNone/>
            </a:pPr>
            <a:r>
              <a:rPr lang="en-US" sz="1700" dirty="0"/>
              <a:t> b9a66e30-32a9-11f1-893f-4fd0b6ce4ebc |        </a:t>
            </a:r>
            <a:r>
              <a:rPr lang="en-US" sz="1700" dirty="0" err="1"/>
              <a:t>tim</a:t>
            </a:r>
            <a:r>
              <a:rPr lang="en-US" sz="1700" dirty="0"/>
              <a:t> 	|     jones</a:t>
            </a: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2EED8-77C4-54FA-B256-F1B5DA37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9800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E4F8-3490-5E42-1AC2-006F5C1D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C00C-715A-041C-4E15-304ECC9E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Trabajando con contadores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A88B-C167-7979-49DF-359E7DF6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purchases_by_customer_id</a:t>
            </a:r>
            <a:r>
              <a:rPr lang="en-US" dirty="0"/>
              <a:t> (id </a:t>
            </a:r>
            <a:r>
              <a:rPr lang="en-US" dirty="0" err="1"/>
              <a:t>uuid</a:t>
            </a:r>
            <a:r>
              <a:rPr lang="en-US" dirty="0"/>
              <a:t> PRIMARY KEY, purchase counter) ;</a:t>
            </a:r>
          </a:p>
          <a:p>
            <a:pPr marL="0" indent="0">
              <a:buNone/>
            </a:pPr>
            <a:r>
              <a:rPr lang="en-US" dirty="0"/>
              <a:t>--</a:t>
            </a:r>
            <a:r>
              <a:rPr lang="en-US" dirty="0" err="1"/>
              <a:t>Actualización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UPDATE </a:t>
            </a:r>
            <a:r>
              <a:rPr lang="en-US" sz="2000" dirty="0" err="1"/>
              <a:t>purchases_by_customer_id</a:t>
            </a:r>
            <a:r>
              <a:rPr lang="en-US" sz="2000" dirty="0"/>
              <a:t> SET purchase = purchase + 1 WHERE id=</a:t>
            </a:r>
            <a:r>
              <a:rPr lang="en-US" sz="2000" dirty="0" err="1"/>
              <a:t>uuid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UPDATE </a:t>
            </a:r>
            <a:r>
              <a:rPr lang="en-US" sz="2000" dirty="0" err="1"/>
              <a:t>purchases_by_customer_id</a:t>
            </a:r>
            <a:r>
              <a:rPr lang="en-US" sz="2000" dirty="0"/>
              <a:t> SET purchase = purchase + 1 WHERE id=</a:t>
            </a:r>
            <a:r>
              <a:rPr lang="en-US" sz="2000" dirty="0" err="1"/>
              <a:t>uuid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UPDATE </a:t>
            </a:r>
            <a:r>
              <a:rPr lang="en-US" sz="2000" dirty="0" err="1"/>
              <a:t>purchases_by_customer_id</a:t>
            </a:r>
            <a:r>
              <a:rPr lang="en-US" sz="2000" dirty="0"/>
              <a:t> SET purchase = purchase + 1 WHERE id=</a:t>
            </a:r>
            <a:r>
              <a:rPr lang="en-US" sz="2000" dirty="0" err="1"/>
              <a:t>uuid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purchases_by_customer_id</a:t>
            </a:r>
            <a:r>
              <a:rPr lang="en-US" sz="2000" dirty="0"/>
              <a:t> ;</a:t>
            </a:r>
          </a:p>
          <a:p>
            <a:pPr marL="0" indent="0">
              <a:buNone/>
            </a:pPr>
            <a:r>
              <a:rPr lang="en-US" sz="1700" dirty="0"/>
              <a:t>  id                                 		 	| purchase</a:t>
            </a:r>
          </a:p>
          <a:p>
            <a:pPr marL="0" indent="0">
              <a:buNone/>
            </a:pPr>
            <a:r>
              <a:rPr lang="en-US" sz="1700" dirty="0"/>
              <a:t>--------------------------------------------------------------------+--------------</a:t>
            </a:r>
          </a:p>
          <a:p>
            <a:pPr marL="0" indent="0">
              <a:buNone/>
            </a:pPr>
            <a:r>
              <a:rPr lang="en-US" sz="1700" dirty="0"/>
              <a:t> bca1955a-91de-4297-bdfc-c57072bf5897 	|        1</a:t>
            </a:r>
          </a:p>
          <a:p>
            <a:pPr marL="0" indent="0">
              <a:buNone/>
            </a:pPr>
            <a:r>
              <a:rPr lang="en-US" sz="1700" dirty="0"/>
              <a:t> d968b6f2-92fd-4b62-8d3e-772aa8cce416 	|        1</a:t>
            </a:r>
          </a:p>
          <a:p>
            <a:pPr marL="0" indent="0">
              <a:buNone/>
            </a:pPr>
            <a:r>
              <a:rPr lang="en-US" sz="1700" dirty="0"/>
              <a:t> 20883123-4dc8-4321-8a53-dc325ab0636b	|        1</a:t>
            </a: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54DDA-A683-B7FF-9482-DB157449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58879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8459-D282-4787-1BE1-04168A57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06D8-EE30-8679-C50D-AE98DBC0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Sumando 1 al contador </a:t>
            </a:r>
            <a:r>
              <a:rPr lang="es-AR" dirty="0" err="1"/>
              <a:t>via</a:t>
            </a:r>
            <a:r>
              <a:rPr lang="es-AR" dirty="0"/>
              <a:t> </a:t>
            </a:r>
            <a:r>
              <a:rPr lang="es-AR" dirty="0" err="1"/>
              <a:t>update</a:t>
            </a:r>
            <a:r>
              <a:rPr lang="es-AR" dirty="0"/>
              <a:t> (con id)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6F9A-F0B0-127B-8DF8-E2B3681E4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33487"/>
            <a:ext cx="11334972" cy="5348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purchases_by_customer_id</a:t>
            </a:r>
            <a:r>
              <a:rPr lang="en-US" dirty="0"/>
              <a:t> SET purchase = purchase + 1 where id = 462c0d3f-c61b-4e4d-9a09-ecac1b3e1ad3;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purchases_by_customer_id</a:t>
            </a:r>
            <a:r>
              <a:rPr lang="en-US" sz="2000" dirty="0"/>
              <a:t> ;</a:t>
            </a:r>
          </a:p>
          <a:p>
            <a:pPr marL="0" indent="0">
              <a:buNone/>
            </a:pPr>
            <a:r>
              <a:rPr lang="en-US" sz="1700" dirty="0"/>
              <a:t> id                                  			 | purchase</a:t>
            </a:r>
          </a:p>
          <a:p>
            <a:pPr marL="0" indent="0">
              <a:buNone/>
            </a:pPr>
            <a:r>
              <a:rPr lang="en-US" sz="1700" dirty="0"/>
              <a:t>--------------------------------------------------------------------+----------</a:t>
            </a:r>
          </a:p>
          <a:p>
            <a:pPr marL="0" indent="0">
              <a:buNone/>
            </a:pPr>
            <a:r>
              <a:rPr lang="en-US" sz="1700" dirty="0"/>
              <a:t> 462c0d3f-c61b-4e4d-9a09-ecac1b3e1ad3 	|        2</a:t>
            </a:r>
          </a:p>
          <a:p>
            <a:pPr marL="0" indent="0">
              <a:buNone/>
            </a:pPr>
            <a:r>
              <a:rPr lang="en-US" sz="1700" dirty="0"/>
              <a:t> bca1955a-91de-4297-bdfc-c57072bf5897	|        1</a:t>
            </a:r>
          </a:p>
          <a:p>
            <a:pPr marL="0" indent="0">
              <a:buNone/>
            </a:pPr>
            <a:r>
              <a:rPr lang="en-US" sz="1700" dirty="0"/>
              <a:t> 6fafc3bf-d5db-4e34-88ca-f64b46e11d7f 		|        1</a:t>
            </a:r>
          </a:p>
          <a:p>
            <a:pPr marL="0" indent="0">
              <a:buNone/>
            </a:pPr>
            <a:r>
              <a:rPr lang="en-US" sz="1700" dirty="0"/>
              <a:t> 4cfe057a-19de-4263-a5a6-0d571a21b9cb	|        1</a:t>
            </a:r>
          </a:p>
          <a:p>
            <a:pPr marL="0" indent="0">
              <a:buNone/>
            </a:pPr>
            <a:r>
              <a:rPr lang="en-US" sz="1700" dirty="0"/>
              <a:t> d968b6f2-92fd-4b62-8d3e-772aa8cce416 	|        1</a:t>
            </a:r>
          </a:p>
          <a:p>
            <a:pPr marL="0" indent="0">
              <a:buNone/>
            </a:pPr>
            <a:r>
              <a:rPr lang="en-US" sz="1700" dirty="0"/>
              <a:t> 20883123-4dc8-4321-8a53-dc325ab0636b	|        1</a:t>
            </a: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4EB38-9F9E-4061-0DB3-32A1F4CA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80106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06D102-67B1-AE86-856C-D6A8280C3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Practiquemos un poco …</a:t>
            </a:r>
          </a:p>
        </p:txBody>
      </p:sp>
      <p:pic>
        <p:nvPicPr>
          <p:cNvPr id="5128" name="Picture 8" descr="Que hacer - Iconos gratis de interfaz">
            <a:extLst>
              <a:ext uri="{FF2B5EF4-FFF2-40B4-BE49-F238E27FC236}">
                <a16:creationId xmlns:a16="http://schemas.microsoft.com/office/drawing/2014/main" id="{2614D756-181E-C599-01F9-42871444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42" y="371168"/>
            <a:ext cx="2676832" cy="267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106_TF34126823.potx" id="{F73BBA1C-8B56-412D-A0D8-81E360A69323}" vid="{145DECCC-6CBD-4505-B46C-DE924EE842A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athena xmlns="http://schemas.microsoft.com/edu/athena" version="0.1.2955.0">
  <timings duration="63956"/>
</athen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BEE4324150E468E9D56AC1A069CC0" ma:contentTypeVersion="10" ma:contentTypeDescription="Crear nuevo documento." ma:contentTypeScope="" ma:versionID="d38e76179bb4e1368abf06f532a8bd3a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64cf5d609c72c32b085a3a1fb04f870b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e782e-a2ad-455b-8012-e967b2ff0266" xsi:nil="true"/>
    <lcf76f155ced4ddcb4097134ff3c332f xmlns="88a81109-a086-44ae-a9ae-b48b478270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E9B207-9257-4F8D-A57B-644CA1DAEEBD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6668D309-0935-4EDC-839A-74C4600C43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81109-a086-44ae-a9ae-b48b478270f0"/>
    <ds:schemaRef ds:uri="36ae782e-a2ad-455b-8012-e967b2ff02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F685C8-515E-4994-8012-C2D2AD62AA6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391BD4A-B58A-436A-A3D8-71CF4291A184}">
  <ds:schemaRefs>
    <ds:schemaRef ds:uri="http://schemas.microsoft.com/office/2006/metadata/properties"/>
    <ds:schemaRef ds:uri="http://schemas.microsoft.com/office/infopath/2007/PartnerControls"/>
    <ds:schemaRef ds:uri="36ae782e-a2ad-455b-8012-e967b2ff0266"/>
    <ds:schemaRef ds:uri="88a81109-a086-44ae-a9ae-b48b478270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11750</TotalTime>
  <Words>2299</Words>
  <Application>Microsoft Office PowerPoint</Application>
  <PresentationFormat>Widescreen</PresentationFormat>
  <Paragraphs>221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Tema de Office</vt:lpstr>
      <vt:lpstr>Ingeniería de Datos II Clase #5</vt:lpstr>
      <vt:lpstr>Creación de KeySpace</vt:lpstr>
      <vt:lpstr>Creación de KeySpace – cont.</vt:lpstr>
      <vt:lpstr>Creación de Tablas</vt:lpstr>
      <vt:lpstr>Creación de Tablas – cont.</vt:lpstr>
      <vt:lpstr>Insertando datos en las tablas</vt:lpstr>
      <vt:lpstr>Insertando datos en las tablas – cont.</vt:lpstr>
      <vt:lpstr>Insertando datos en las tablas – cont.</vt:lpstr>
      <vt:lpstr>Insertando datos en las tablas – cont. Esto significa que la columna ‘name’ será null</vt:lpstr>
      <vt:lpstr>Seleccionando registros de las tablas</vt:lpstr>
      <vt:lpstr>Seleccionando registros de las tablas Writetime: encontrar cuándo se han insertado los ítems en la tabla</vt:lpstr>
      <vt:lpstr>Modificar o actualizar valores de una tabla</vt:lpstr>
      <vt:lpstr>Agregando una columna a una tabla</vt:lpstr>
      <vt:lpstr>Actualización alterando valores existentes en tabla usando variables</vt:lpstr>
      <vt:lpstr>Agregando variables</vt:lpstr>
      <vt:lpstr>Sustrayendo variables</vt:lpstr>
      <vt:lpstr>ORDER BY solo es soportado en las columnas clusterizadas de la Primary Key</vt:lpstr>
      <vt:lpstr>Creación de índices</vt:lpstr>
      <vt:lpstr>Creación de tabla con UUID</vt:lpstr>
      <vt:lpstr>Creación de tabla con TIMEUUID</vt:lpstr>
      <vt:lpstr>Trabajando con contadores</vt:lpstr>
      <vt:lpstr>Sumando 1 al contador via update (con id)</vt:lpstr>
      <vt:lpstr>Practiquemos un poco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Juegos y Competencia monopolística</dc:title>
  <dc:creator>Sofia Rosa</dc:creator>
  <cp:lastModifiedBy>Hernan Novodvorski</cp:lastModifiedBy>
  <cp:revision>110</cp:revision>
  <dcterms:created xsi:type="dcterms:W3CDTF">2021-06-07T01:07:38Z</dcterms:created>
  <dcterms:modified xsi:type="dcterms:W3CDTF">2026-04-08T19:34:51Z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  <property fmtid="{D5CDD505-2E9C-101B-9397-08002B2CF9AE}" pid="3" name="Order">
    <vt:r8>11600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