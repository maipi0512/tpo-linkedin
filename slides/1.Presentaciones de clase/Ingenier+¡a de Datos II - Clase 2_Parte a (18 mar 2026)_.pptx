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5"/>
  </p:notesMasterIdLst>
  <p:handoutMasterIdLst>
    <p:handoutMasterId r:id="rId26"/>
  </p:handoutMasterIdLst>
  <p:sldIdLst>
    <p:sldId id="257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  <p:sldId id="534" r:id="rId19"/>
    <p:sldId id="535" r:id="rId20"/>
    <p:sldId id="536" r:id="rId21"/>
    <p:sldId id="537" r:id="rId22"/>
    <p:sldId id="538" r:id="rId23"/>
    <p:sldId id="361" r:id="rId2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B2C"/>
    <a:srgbClr val="CF0A2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5F48B-74A5-470F-B614-81AE6780C813}" v="4" dt="2026-03-18T15:10:17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0" autoAdjust="0"/>
  </p:normalViewPr>
  <p:slideViewPr>
    <p:cSldViewPr snapToGrid="0" showGuides="1">
      <p:cViewPr>
        <p:scale>
          <a:sx n="60" d="100"/>
          <a:sy n="60" d="100"/>
        </p:scale>
        <p:origin x="84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825F48B-74A5-470F-B614-81AE6780C813}"/>
    <pc:docChg chg="delSld">
      <pc:chgData name="" userId="" providerId="" clId="Web-{4825F48B-74A5-470F-B614-81AE6780C813}" dt="2026-03-18T15:10:06.182" v="0"/>
      <pc:docMkLst>
        <pc:docMk/>
      </pc:docMkLst>
      <pc:sldChg chg="del">
        <pc:chgData name="" userId="" providerId="" clId="Web-{4825F48B-74A5-470F-B614-81AE6780C813}" dt="2026-03-18T15:10:06.182" v="0"/>
        <pc:sldMkLst>
          <pc:docMk/>
          <pc:sldMk cId="1495496538" sldId="257"/>
        </pc:sldMkLst>
      </pc:sldChg>
    </pc:docChg>
  </pc:docChgLst>
  <pc:docChgLst>
    <pc:chgData name="NOVODVORSKI HERNAN" userId="S::hnovodvorski@uade.edu.ar::f724878f-8586-445a-9915-af7e4f120b48" providerId="AD" clId="Web-{4825F48B-74A5-470F-B614-81AE6780C813}"/>
    <pc:docChg chg="addSld modSld">
      <pc:chgData name="NOVODVORSKI HERNAN" userId="S::hnovodvorski@uade.edu.ar::f724878f-8586-445a-9915-af7e4f120b48" providerId="AD" clId="Web-{4825F48B-74A5-470F-B614-81AE6780C813}" dt="2026-03-18T15:10:17.557" v="2" actId="20577"/>
      <pc:docMkLst>
        <pc:docMk/>
      </pc:docMkLst>
      <pc:sldChg chg="modSp add">
        <pc:chgData name="NOVODVORSKI HERNAN" userId="S::hnovodvorski@uade.edu.ar::f724878f-8586-445a-9915-af7e4f120b48" providerId="AD" clId="Web-{4825F48B-74A5-470F-B614-81AE6780C813}" dt="2026-03-18T15:10:17.557" v="2" actId="20577"/>
        <pc:sldMkLst>
          <pc:docMk/>
          <pc:sldMk cId="1495496538" sldId="257"/>
        </pc:sldMkLst>
        <pc:spChg chg="mod">
          <ac:chgData name="NOVODVORSKI HERNAN" userId="S::hnovodvorski@uade.edu.ar::f724878f-8586-445a-9915-af7e4f120b48" providerId="AD" clId="Web-{4825F48B-74A5-470F-B614-81AE6780C813}" dt="2026-03-18T15:10:17.557" v="2" actId="20577"/>
          <ac:spMkLst>
            <pc:docMk/>
            <pc:sldMk cId="1495496538" sldId="257"/>
            <ac:spMk id="4" creationId="{C6D24F99-E026-485A-96CD-AEC98137262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18/03/2026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18/03/2026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es-ES" sz="4200" dirty="0"/>
              <a:t>Ingeniería de Datos II</a:t>
            </a:r>
            <a:br>
              <a:rPr lang="es-ES" sz="4200" dirty="0"/>
            </a:br>
            <a:r>
              <a:rPr lang="es-ES" sz="4200" dirty="0"/>
              <a:t>Clase #2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747662"/>
            <a:ext cx="11520488" cy="1073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sz="1800"/>
              <a:t>18 de Marzo de 2026</a:t>
            </a:r>
          </a:p>
          <a:p>
            <a:pPr rtl="0"/>
            <a:r>
              <a:rPr lang="es-ES" sz="1800"/>
              <a:t>Parte </a:t>
            </a:r>
            <a:r>
              <a:rPr lang="es-ES" sz="1800" dirty="0"/>
              <a:t>a (Distribución de datos)</a:t>
            </a:r>
          </a:p>
        </p:txBody>
      </p:sp>
      <p:pic>
        <p:nvPicPr>
          <p:cNvPr id="5" name="Picture 2" descr="UADE | COMENZÁ TU CARRERA EN AGOSTO">
            <a:extLst>
              <a:ext uri="{FF2B5EF4-FFF2-40B4-BE49-F238E27FC236}">
                <a16:creationId xmlns:a16="http://schemas.microsoft.com/office/drawing/2014/main" id="{5B51B4BE-15BC-7A12-4F9C-66889D8FD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06"/>
            <a:ext cx="1966552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599D-F065-9906-3DD8-33A1DC75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sz="2700" dirty="0"/>
              <a:t>Introducción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B18E2-3C9D-9CFC-C1C8-63042ACE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Las bases de datos NoSQL están diseñadas para operar de forma distribuida.</a:t>
            </a:r>
          </a:p>
          <a:p>
            <a:r>
              <a:rPr lang="es-AR" dirty="0"/>
              <a:t>Dos mecanismos clave para lograr escalabilidad, disponibilidad y rendimiento son:</a:t>
            </a:r>
          </a:p>
          <a:p>
            <a:pPr lvl="1"/>
            <a:r>
              <a:rPr lang="es-AR" dirty="0"/>
              <a:t>Fragmentación (</a:t>
            </a:r>
            <a:r>
              <a:rPr lang="es-AR" dirty="0" err="1"/>
              <a:t>Sharding</a:t>
            </a:r>
            <a:r>
              <a:rPr lang="es-AR" dirty="0"/>
              <a:t>)</a:t>
            </a:r>
          </a:p>
          <a:p>
            <a:pPr lvl="1"/>
            <a:r>
              <a:rPr lang="es-AR" dirty="0"/>
              <a:t>Replicación</a:t>
            </a:r>
          </a:p>
          <a:p>
            <a:endParaRPr lang="es-AR" dirty="0"/>
          </a:p>
          <a:p>
            <a:r>
              <a:rPr lang="es-AR" dirty="0"/>
              <a:t>Ambos conceptos permiten manejar grandes volúmenes de datos en múltiples nodos.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F9D0-554F-6742-092D-9E729643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913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6209-C6B2-396C-C660-A90B41A7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761-5E35-6443-7CBC-20FEADAA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dirty="0"/>
              <a:t>¿ </a:t>
            </a:r>
            <a:r>
              <a:rPr lang="es-AR" sz="2700" dirty="0"/>
              <a:t>Qué es la fragmentación (</a:t>
            </a:r>
            <a:r>
              <a:rPr lang="es-AR" sz="2700" dirty="0" err="1"/>
              <a:t>sharding</a:t>
            </a:r>
            <a:r>
              <a:rPr lang="es-AR" sz="2700" dirty="0"/>
              <a:t>) ?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E85F-79F0-F907-CA19-4716F6C44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Técnica que divide los datos de una base en partes más pequeñas (fragmentos).</a:t>
            </a:r>
          </a:p>
          <a:p>
            <a:r>
              <a:rPr lang="es-AR" dirty="0"/>
              <a:t>Cada fragmento se almacena en diferentes nodos.</a:t>
            </a:r>
          </a:p>
          <a:p>
            <a:r>
              <a:rPr lang="es-AR" dirty="0"/>
              <a:t>Cada nodo contiene solo un subconjunto de los datos.</a:t>
            </a:r>
          </a:p>
          <a:p>
            <a:r>
              <a:rPr lang="es-AR" dirty="0"/>
              <a:t>Objetivo principal: </a:t>
            </a:r>
            <a:r>
              <a:rPr lang="es-AR" b="1" dirty="0"/>
              <a:t>escalar horizontalmente</a:t>
            </a:r>
            <a:r>
              <a:rPr lang="es-A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294A5-F4AF-1459-1BA4-4CEBD5BC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8108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41955-E895-CC38-E3E0-12FEE7AB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BB01-3400-38CF-D1F9-BDAB82CB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sz="2700" dirty="0"/>
              <a:t>Fragmentación en No SQL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B7C7-EE75-F240-3BBF-560B7E310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En NoSQL, la fragmentación suele ser:</a:t>
            </a:r>
          </a:p>
          <a:p>
            <a:pPr lvl="1"/>
            <a:r>
              <a:rPr lang="es-AR" b="1" dirty="0"/>
              <a:t>Automática</a:t>
            </a:r>
          </a:p>
          <a:p>
            <a:pPr lvl="1"/>
            <a:r>
              <a:rPr lang="es-AR" b="1" dirty="0"/>
              <a:t>Transparente para la aplicación</a:t>
            </a:r>
          </a:p>
          <a:p>
            <a:pPr lvl="1"/>
            <a:endParaRPr lang="es-AR" dirty="0"/>
          </a:p>
          <a:p>
            <a:r>
              <a:rPr lang="es-AR" dirty="0"/>
              <a:t>Los datos se distribuyen según una clave de fragmentación (</a:t>
            </a:r>
            <a:r>
              <a:rPr lang="es-AR" dirty="0" err="1"/>
              <a:t>shard</a:t>
            </a:r>
            <a:r>
              <a:rPr lang="es-AR" dirty="0"/>
              <a:t> </a:t>
            </a:r>
            <a:r>
              <a:rPr lang="es-AR" dirty="0" err="1"/>
              <a:t>key</a:t>
            </a:r>
            <a:r>
              <a:rPr lang="es-AR" dirty="0"/>
              <a:t>).</a:t>
            </a:r>
          </a:p>
          <a:p>
            <a:r>
              <a:rPr lang="es-AR" dirty="0"/>
              <a:t>Ejemplo:</a:t>
            </a:r>
          </a:p>
          <a:p>
            <a:pPr lvl="1"/>
            <a:r>
              <a:rPr lang="es-AR" dirty="0"/>
              <a:t>Usuarios con ID 1–10000 → Nodo A</a:t>
            </a:r>
          </a:p>
          <a:p>
            <a:pPr lvl="1"/>
            <a:r>
              <a:rPr lang="es-AR" dirty="0"/>
              <a:t>Usuarios con ID 10001–20000 → Nodo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5F2B3-583A-856A-A45D-04004B9C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551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DC19-92C8-046F-C2F0-DCA014E8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0718-8696-F908-7751-4798DF6D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Fragmentación de datos</a:t>
            </a:r>
            <a:br>
              <a:rPr lang="es-AR" dirty="0"/>
            </a:br>
            <a:r>
              <a:rPr lang="es-AR" sz="2700" dirty="0"/>
              <a:t>Usos principales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8EFE-A840-5AED-6AB4-1A037FD08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Manejo de grandes volúmenes de datos (Big Data).</a:t>
            </a:r>
          </a:p>
          <a:p>
            <a:r>
              <a:rPr lang="es-AR" dirty="0"/>
              <a:t>Aplicaciones con alta tasa de escritura/lectura.</a:t>
            </a:r>
          </a:p>
          <a:p>
            <a:r>
              <a:rPr lang="es-AR" dirty="0"/>
              <a:t>Escenarios donde un solo servidor no es suficiente.</a:t>
            </a:r>
          </a:p>
          <a:p>
            <a:r>
              <a:rPr lang="es-AR" dirty="0"/>
              <a:t>Plataformas:</a:t>
            </a:r>
          </a:p>
          <a:p>
            <a:pPr lvl="1"/>
            <a:r>
              <a:rPr lang="es-AR" dirty="0"/>
              <a:t>Redes sociales</a:t>
            </a:r>
          </a:p>
          <a:p>
            <a:pPr lvl="1"/>
            <a:r>
              <a:rPr lang="es-AR" dirty="0"/>
              <a:t>E-</a:t>
            </a:r>
            <a:r>
              <a:rPr lang="es-AR" dirty="0" err="1"/>
              <a:t>commerce</a:t>
            </a:r>
            <a:endParaRPr lang="es-AR" dirty="0"/>
          </a:p>
          <a:p>
            <a:pPr lvl="1"/>
            <a:r>
              <a:rPr lang="es-AR" dirty="0" err="1"/>
              <a:t>IoT</a:t>
            </a:r>
            <a:endParaRPr lang="es-AR" dirty="0"/>
          </a:p>
          <a:p>
            <a:pPr lvl="1"/>
            <a:r>
              <a:rPr lang="es-AR" dirty="0"/>
              <a:t>Analítica en tiempo real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B3CAC-3934-33CD-C9F6-2B290D16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0121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4DB3-B19F-EADA-BD03-0555BF14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5C97-994D-DA44-ACF9-BB48F5BE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Fragmentación de datos</a:t>
            </a:r>
            <a:br>
              <a:rPr lang="es-AR" dirty="0"/>
            </a:br>
            <a:r>
              <a:rPr lang="es-AR" sz="2700" dirty="0"/>
              <a:t>Principales ventajas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22194-53A7-A630-56E7-280945D85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Escalabilidad horizontal casi ilimitada</a:t>
            </a:r>
          </a:p>
          <a:p>
            <a:r>
              <a:rPr lang="es-AR" dirty="0"/>
              <a:t>Mejor uso de recursos de hardware</a:t>
            </a:r>
          </a:p>
          <a:p>
            <a:r>
              <a:rPr lang="es-AR" dirty="0"/>
              <a:t>Mayor rendimiento por paralelismo</a:t>
            </a:r>
          </a:p>
          <a:p>
            <a:r>
              <a:rPr lang="es-AR" dirty="0"/>
              <a:t>Permite crecer agregando nodos económicos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A007-DB97-6F81-6711-E7A7661F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439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455D-9FE0-F2D0-40E2-FA2A3F7F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BFD1-6BE9-FFDA-8A91-0958CE5B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Fragmentación de datos</a:t>
            </a:r>
            <a:br>
              <a:rPr lang="es-AR" dirty="0"/>
            </a:br>
            <a:r>
              <a:rPr lang="es-AR" sz="2700" dirty="0"/>
              <a:t>Principales desventajas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7D9A-5265-276E-E715-4F9D4F6A8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Mayor complejidad de diseño</a:t>
            </a:r>
          </a:p>
          <a:p>
            <a:r>
              <a:rPr lang="es-AR" dirty="0"/>
              <a:t>Consultas distribuidas más costosas</a:t>
            </a:r>
          </a:p>
          <a:p>
            <a:r>
              <a:rPr lang="es-AR" dirty="0"/>
              <a:t>Dependencia crítica de la </a:t>
            </a:r>
            <a:r>
              <a:rPr lang="es-AR" dirty="0" err="1"/>
              <a:t>shard</a:t>
            </a:r>
            <a:r>
              <a:rPr lang="es-AR" dirty="0"/>
              <a:t> </a:t>
            </a:r>
            <a:r>
              <a:rPr lang="es-AR" dirty="0" err="1"/>
              <a:t>key</a:t>
            </a:r>
            <a:endParaRPr lang="es-AR" dirty="0"/>
          </a:p>
          <a:p>
            <a:r>
              <a:rPr lang="es-AR" dirty="0"/>
              <a:t>Posibles desbalances de carga (</a:t>
            </a:r>
            <a:r>
              <a:rPr lang="es-AR" dirty="0" err="1"/>
              <a:t>hotspots</a:t>
            </a:r>
            <a:r>
              <a:rPr lang="es-AR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6E753-2E3F-C1F3-6AC3-1A1B806E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630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F0222-5DA4-547F-4BB2-95CDD424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CDDA-20B8-3DAB-8247-F0531CC6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Fragmentación de datos</a:t>
            </a:r>
            <a:br>
              <a:rPr lang="es-AR" dirty="0"/>
            </a:br>
            <a:r>
              <a:rPr lang="es-AR" sz="2700" dirty="0"/>
              <a:t>Algunas estrategias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F6E7-95BD-E4C5-428E-B30F44342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Por rango</a:t>
            </a:r>
          </a:p>
          <a:p>
            <a:pPr lvl="1"/>
            <a:r>
              <a:rPr lang="es-AR" dirty="0"/>
              <a:t>Datos similares juntos</a:t>
            </a:r>
          </a:p>
          <a:p>
            <a:pPr lvl="1"/>
            <a:r>
              <a:rPr lang="es-AR" dirty="0"/>
              <a:t>Riesgo de </a:t>
            </a:r>
            <a:r>
              <a:rPr lang="es-AR" dirty="0" err="1"/>
              <a:t>hotspots</a:t>
            </a:r>
            <a:endParaRPr lang="es-AR" dirty="0"/>
          </a:p>
          <a:p>
            <a:endParaRPr lang="es-AR" dirty="0"/>
          </a:p>
          <a:p>
            <a:r>
              <a:rPr lang="es-AR" b="1" dirty="0"/>
              <a:t>Por hash</a:t>
            </a:r>
          </a:p>
          <a:p>
            <a:pPr lvl="1"/>
            <a:r>
              <a:rPr lang="es-AR" dirty="0"/>
              <a:t>Distribución uniforme</a:t>
            </a:r>
          </a:p>
          <a:p>
            <a:pPr lvl="1"/>
            <a:r>
              <a:rPr lang="es-AR" dirty="0"/>
              <a:t>Consultas por rango más difíciles</a:t>
            </a:r>
          </a:p>
          <a:p>
            <a:endParaRPr lang="es-AR" dirty="0"/>
          </a:p>
          <a:p>
            <a:r>
              <a:rPr lang="es-AR" b="1" dirty="0"/>
              <a:t>Por ubicación geográfica</a:t>
            </a:r>
          </a:p>
          <a:p>
            <a:pPr lvl="1"/>
            <a:r>
              <a:rPr lang="es-AR" dirty="0"/>
              <a:t>Cercanía al usuario</a:t>
            </a:r>
          </a:p>
          <a:p>
            <a:pPr lvl="1"/>
            <a:r>
              <a:rPr lang="es-AR" dirty="0"/>
              <a:t>Menor latencia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EC140-F6DB-D13B-FBE2-0D915B5A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6738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2917-B932-AAC9-35C6-9F6CB4D4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B701-6F1A-A353-82CF-5A997265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Fragmentación de datos</a:t>
            </a:r>
            <a:br>
              <a:rPr lang="es-AR" dirty="0"/>
            </a:br>
            <a:r>
              <a:rPr lang="es-AR" sz="2700" dirty="0"/>
              <a:t>¿ Qué es la replicación de datos ?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E776-2E7E-A4F8-9E9B-5B1CB9181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Técnica que </a:t>
            </a:r>
            <a:r>
              <a:rPr lang="es-AR" b="1" dirty="0"/>
              <a:t>duplica los datos</a:t>
            </a:r>
            <a:r>
              <a:rPr lang="es-AR" dirty="0"/>
              <a:t> en múltiples nodos.</a:t>
            </a:r>
          </a:p>
          <a:p>
            <a:r>
              <a:rPr lang="es-AR" dirty="0"/>
              <a:t>Cada réplica contiene una </a:t>
            </a:r>
            <a:r>
              <a:rPr lang="es-AR" b="1" dirty="0"/>
              <a:t>copia total</a:t>
            </a:r>
            <a:r>
              <a:rPr lang="es-AR" dirty="0"/>
              <a:t> o </a:t>
            </a:r>
            <a:r>
              <a:rPr lang="es-AR" b="1" dirty="0"/>
              <a:t>parcial</a:t>
            </a:r>
            <a:r>
              <a:rPr lang="es-AR" dirty="0"/>
              <a:t> de la base.</a:t>
            </a:r>
          </a:p>
          <a:p>
            <a:r>
              <a:rPr lang="es-AR" dirty="0"/>
              <a:t>Objetivo principal: </a:t>
            </a:r>
            <a:r>
              <a:rPr lang="es-AR" b="1" dirty="0"/>
              <a:t>alta disponibilidad</a:t>
            </a:r>
            <a:r>
              <a:rPr lang="es-AR" dirty="0"/>
              <a:t> y </a:t>
            </a:r>
            <a:r>
              <a:rPr lang="es-AR" b="1" dirty="0"/>
              <a:t>tolerancia a fallos</a:t>
            </a:r>
            <a:r>
              <a:rPr lang="es-A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6094-7AD0-0762-E097-67B9112A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2779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FFA2-419F-0A55-324D-6FF820A7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4292-D31D-CE4C-A336-6F186B90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Fragmentación de datos</a:t>
            </a:r>
            <a:br>
              <a:rPr lang="es-AR" dirty="0"/>
            </a:br>
            <a:r>
              <a:rPr lang="es-AR" sz="2700" dirty="0"/>
              <a:t>Replicación en No SQL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BB61-4D87-762F-B073-29B987CCD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Frecuente uso de arquitecturas:</a:t>
            </a:r>
          </a:p>
          <a:p>
            <a:pPr lvl="1"/>
            <a:r>
              <a:rPr lang="es-AR" b="1" dirty="0" err="1"/>
              <a:t>Primary</a:t>
            </a:r>
            <a:r>
              <a:rPr lang="es-AR" b="1" dirty="0"/>
              <a:t>–</a:t>
            </a:r>
            <a:r>
              <a:rPr lang="es-AR" b="1" dirty="0" err="1"/>
              <a:t>Secondary</a:t>
            </a:r>
            <a:endParaRPr lang="es-AR" b="1" dirty="0"/>
          </a:p>
          <a:p>
            <a:pPr lvl="1"/>
            <a:r>
              <a:rPr lang="es-AR" b="1" dirty="0" err="1"/>
              <a:t>Multi-master</a:t>
            </a:r>
            <a:endParaRPr lang="es-AR" b="1" dirty="0"/>
          </a:p>
          <a:p>
            <a:endParaRPr lang="es-AR" dirty="0"/>
          </a:p>
          <a:p>
            <a:r>
              <a:rPr lang="es-AR" dirty="0"/>
              <a:t>Un nodo puede caer sin afectar el servicio.</a:t>
            </a:r>
          </a:p>
          <a:p>
            <a:r>
              <a:rPr lang="es-AR" dirty="0"/>
              <a:t>Común en bases distribuidas globalmente.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1728F-B2D1-9BC3-3B34-3E9944F7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90577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FB5D-11A7-DF7E-6A75-8E517AB3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54CC-B76B-684D-D42B-725863F7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Replicación de datos</a:t>
            </a:r>
            <a:br>
              <a:rPr lang="es-AR" dirty="0"/>
            </a:br>
            <a:r>
              <a:rPr lang="es-AR" sz="2700" dirty="0"/>
              <a:t>Usos principales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8A1CA-199D-1F16-3CD4-FF4B36DFD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Alta disponibilidad (24/7).</a:t>
            </a:r>
          </a:p>
          <a:p>
            <a:r>
              <a:rPr lang="es-AR" dirty="0"/>
              <a:t>Lecturas escalables (</a:t>
            </a:r>
            <a:r>
              <a:rPr lang="es-AR" dirty="0" err="1"/>
              <a:t>read</a:t>
            </a:r>
            <a:r>
              <a:rPr lang="es-AR" dirty="0"/>
              <a:t> replicas).</a:t>
            </a:r>
          </a:p>
          <a:p>
            <a:r>
              <a:rPr lang="es-AR" dirty="0"/>
              <a:t>Tolerancia a fallos de hardware.</a:t>
            </a:r>
          </a:p>
          <a:p>
            <a:r>
              <a:rPr lang="es-AR" dirty="0"/>
              <a:t>Recuperación ante desastres (</a:t>
            </a:r>
            <a:r>
              <a:rPr lang="es-AR" dirty="0" err="1"/>
              <a:t>Disaster</a:t>
            </a:r>
            <a:r>
              <a:rPr lang="es-AR" dirty="0"/>
              <a:t> </a:t>
            </a:r>
            <a:r>
              <a:rPr lang="es-AR" dirty="0" err="1"/>
              <a:t>Recovery</a:t>
            </a:r>
            <a:r>
              <a:rPr lang="es-AR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3B00C-512A-70A7-15DE-2D05DFB6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347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2E0C-B675-0C94-7F0D-0FE73279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E988-DE0E-BD8E-D265-6E91EDAA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Replicación de datos</a:t>
            </a:r>
            <a:br>
              <a:rPr lang="es-AR" dirty="0"/>
            </a:br>
            <a:r>
              <a:rPr lang="es-AR" sz="2700" dirty="0"/>
              <a:t>Principales ventajas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960D-1A28-59F3-F0BB-72C726897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Alta disponibilidad</a:t>
            </a:r>
          </a:p>
          <a:p>
            <a:r>
              <a:rPr lang="es-AR" dirty="0"/>
              <a:t>Tolerancia a fallos</a:t>
            </a:r>
          </a:p>
          <a:p>
            <a:r>
              <a:rPr lang="es-AR" dirty="0"/>
              <a:t>Mejor rendimiento en lecturas</a:t>
            </a:r>
          </a:p>
          <a:p>
            <a:r>
              <a:rPr lang="es-AR" dirty="0"/>
              <a:t>Soporte para sistemas distribuidos geográficamente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9CAE6-0E8A-6F4D-868D-45192794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597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1222-1C65-525B-2916-97992052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9EDF-D763-4886-EEAC-49818E0E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Replicación de datos</a:t>
            </a:r>
            <a:br>
              <a:rPr lang="es-AR" dirty="0"/>
            </a:br>
            <a:r>
              <a:rPr lang="es-AR" sz="2700" dirty="0"/>
              <a:t>Principales desventajas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BB253-6A55-8C75-D1B9-3C5791899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Consumo extra de almacenamiento</a:t>
            </a:r>
          </a:p>
          <a:p>
            <a:r>
              <a:rPr lang="es-AR" dirty="0"/>
              <a:t>Mayor latencia en escrituras</a:t>
            </a:r>
          </a:p>
          <a:p>
            <a:r>
              <a:rPr lang="es-AR" dirty="0"/>
              <a:t>Problemas de consistencia</a:t>
            </a:r>
          </a:p>
          <a:p>
            <a:r>
              <a:rPr lang="es-AR" dirty="0"/>
              <a:t>Posibles conflictos en sistemas </a:t>
            </a:r>
            <a:r>
              <a:rPr lang="es-AR" dirty="0" err="1"/>
              <a:t>multi-master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4571A-F99B-5E45-B3BA-330CA949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58729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7F36-D4DB-EFFB-1827-0E9FD3E5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FB69-1A10-BF45-2FE3-3AB15D56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Replicación de datos</a:t>
            </a:r>
            <a:br>
              <a:rPr lang="es-AR" dirty="0"/>
            </a:br>
            <a:r>
              <a:rPr lang="es-AR" sz="2700" dirty="0"/>
              <a:t>Algunas estrategias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08E8-3BF5-8630-7596-414901FE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Síncrona</a:t>
            </a:r>
          </a:p>
          <a:p>
            <a:pPr lvl="1"/>
            <a:r>
              <a:rPr lang="es-AR" dirty="0"/>
              <a:t>Escritura confirmada en todas las réplicas</a:t>
            </a:r>
          </a:p>
          <a:p>
            <a:pPr lvl="1"/>
            <a:r>
              <a:rPr lang="es-AR" dirty="0"/>
              <a:t>Alta consistencia, mayor latencia</a:t>
            </a:r>
          </a:p>
          <a:p>
            <a:endParaRPr lang="es-AR" b="1" dirty="0"/>
          </a:p>
          <a:p>
            <a:r>
              <a:rPr lang="es-AR" b="1" dirty="0"/>
              <a:t>Asíncrona</a:t>
            </a:r>
          </a:p>
          <a:p>
            <a:pPr lvl="1"/>
            <a:r>
              <a:rPr lang="es-AR" dirty="0"/>
              <a:t>Escritura primero en nodo primario</a:t>
            </a:r>
          </a:p>
          <a:p>
            <a:pPr lvl="1"/>
            <a:r>
              <a:rPr lang="es-AR" dirty="0"/>
              <a:t>Mejor rendimiento, menor consistencia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890C8-FC84-72E0-0A4D-CAAB8687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5250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BF1B-C6E6-7F8E-F21D-D75557FF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sz="2700" dirty="0"/>
              <a:t>Fragmentación vs replicación</a:t>
            </a:r>
            <a:endParaRPr lang="es-A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2162180-80AE-319A-2349-46402BE52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759596"/>
              </p:ext>
            </p:extLst>
          </p:nvPr>
        </p:nvGraphicFramePr>
        <p:xfrm>
          <a:off x="371475" y="1573732"/>
          <a:ext cx="972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758719824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31002889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23194405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Aspecto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Fragmentación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Replicación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21528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/>
                        <a:t>Escalabilidad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👍Si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👎Limitada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09326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/>
                        <a:t>Disponibilidad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👎No directa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👍Si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1454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/>
                        <a:t>Duplicación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👎No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👍Si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510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/>
                        <a:t>Complejidad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/>
                        <a:t>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3353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74059-C7D1-E39F-D15B-53F67692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6863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3867-4A2F-A7B1-EC23-51A315A5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sz="2700" dirty="0"/>
              <a:t>Relación con el Teorema CAP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DFB6-0986-F2C4-6BD4-F6B23A5A1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Fragmentación</a:t>
            </a:r>
          </a:p>
          <a:p>
            <a:pPr lvl="1"/>
            <a:r>
              <a:rPr lang="es-AR" dirty="0"/>
              <a:t>Prioriza </a:t>
            </a:r>
            <a:r>
              <a:rPr lang="es-AR" b="1" dirty="0"/>
              <a:t>Disponibilidad (A)</a:t>
            </a:r>
            <a:r>
              <a:rPr lang="es-AR" dirty="0"/>
              <a:t> y </a:t>
            </a:r>
            <a:r>
              <a:rPr lang="es-AR" b="1" dirty="0"/>
              <a:t>Tolerancia a particiones (P)</a:t>
            </a:r>
          </a:p>
          <a:p>
            <a:endParaRPr lang="es-AR" dirty="0"/>
          </a:p>
          <a:p>
            <a:r>
              <a:rPr lang="es-AR" b="1" dirty="0"/>
              <a:t>Replicación</a:t>
            </a:r>
          </a:p>
          <a:p>
            <a:pPr lvl="1"/>
            <a:r>
              <a:rPr lang="es-AR" dirty="0"/>
              <a:t>Mejora </a:t>
            </a:r>
            <a:r>
              <a:rPr lang="es-AR" b="1" dirty="0"/>
              <a:t>Disponibilidad (A)</a:t>
            </a:r>
          </a:p>
          <a:p>
            <a:pPr lvl="1"/>
            <a:r>
              <a:rPr lang="es-AR" dirty="0"/>
              <a:t>Puede sacrificar </a:t>
            </a:r>
            <a:r>
              <a:rPr lang="es-AR" b="1" dirty="0"/>
              <a:t>Consistencia (C)</a:t>
            </a:r>
          </a:p>
          <a:p>
            <a:endParaRPr lang="es-AR" dirty="0"/>
          </a:p>
          <a:p>
            <a:r>
              <a:rPr lang="es-AR" dirty="0"/>
              <a:t>En NoSQL es común elegir </a:t>
            </a:r>
            <a:r>
              <a:rPr lang="es-AR" b="1" dirty="0"/>
              <a:t>AP</a:t>
            </a:r>
            <a:r>
              <a:rPr lang="es-AR" dirty="0"/>
              <a:t> o </a:t>
            </a:r>
            <a:r>
              <a:rPr lang="es-AR" b="1" dirty="0"/>
              <a:t>CP</a:t>
            </a:r>
            <a:r>
              <a:rPr lang="es-A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930F0-8E33-BB95-B616-15EC4A5F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62159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61B58-C7D8-ADAA-4200-BD09D432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6A151-CB44-01B6-C283-9AD5A161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sz="2700" dirty="0"/>
              <a:t>Ejemplos en bases NoSQL reales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D9B28-57B6-0FF4-3FC0-1C85288F5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b="1" dirty="0"/>
              <a:t>MongoDB</a:t>
            </a:r>
          </a:p>
          <a:p>
            <a:pPr lvl="1"/>
            <a:r>
              <a:rPr lang="es-AR" dirty="0" err="1"/>
              <a:t>Sharding</a:t>
            </a:r>
            <a:r>
              <a:rPr lang="es-AR" dirty="0"/>
              <a:t> + Replica Sets</a:t>
            </a:r>
          </a:p>
          <a:p>
            <a:endParaRPr lang="es-AR" b="1" dirty="0"/>
          </a:p>
          <a:p>
            <a:r>
              <a:rPr lang="es-AR" b="1" dirty="0" err="1"/>
              <a:t>Cassandra</a:t>
            </a:r>
            <a:endParaRPr lang="es-AR" b="1" dirty="0"/>
          </a:p>
          <a:p>
            <a:pPr lvl="1"/>
            <a:r>
              <a:rPr lang="es-AR" dirty="0"/>
              <a:t>Distribución automática + replicación configurable</a:t>
            </a:r>
          </a:p>
          <a:p>
            <a:endParaRPr lang="es-AR" b="1" dirty="0"/>
          </a:p>
          <a:p>
            <a:r>
              <a:rPr lang="es-AR" b="1" dirty="0"/>
              <a:t>Redis </a:t>
            </a:r>
            <a:r>
              <a:rPr lang="es-AR" b="1" dirty="0" err="1"/>
              <a:t>Cluster</a:t>
            </a:r>
            <a:endParaRPr lang="es-AR" b="1" dirty="0"/>
          </a:p>
          <a:p>
            <a:pPr lvl="1"/>
            <a:r>
              <a:rPr lang="es-AR" dirty="0"/>
              <a:t>Fragmentación por hash slots + replicación</a:t>
            </a:r>
          </a:p>
          <a:p>
            <a:endParaRPr lang="es-AR" b="1" dirty="0"/>
          </a:p>
          <a:p>
            <a:r>
              <a:rPr lang="es-AR" b="1" dirty="0" err="1"/>
              <a:t>DynamoDB</a:t>
            </a:r>
            <a:endParaRPr lang="es-AR" b="1" dirty="0"/>
          </a:p>
          <a:p>
            <a:pPr lvl="1"/>
            <a:r>
              <a:rPr lang="es-AR" dirty="0"/>
              <a:t>Fragmentación y replicación totalmente administradas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F7BA5-00F3-1671-EA16-02CE7D42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57010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7F25-5022-D7B1-D117-168A525E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A5AB-56D5-D0B5-25DC-F9268F7D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Distribución de datos</a:t>
            </a:r>
            <a:br>
              <a:rPr lang="es-AR" dirty="0"/>
            </a:br>
            <a:r>
              <a:rPr lang="es-AR" sz="2700" dirty="0"/>
              <a:t>Conclusión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E892-9474-3E0B-9357-57F14659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Fragmentación y replicación son </a:t>
            </a:r>
            <a:r>
              <a:rPr lang="es-AR" b="1" dirty="0"/>
              <a:t>complementarias</a:t>
            </a:r>
            <a:r>
              <a:rPr lang="es-AR" dirty="0"/>
              <a:t>, no excluyentes.</a:t>
            </a:r>
          </a:p>
          <a:p>
            <a:r>
              <a:rPr lang="es-AR" dirty="0"/>
              <a:t>Fragmentación → </a:t>
            </a:r>
            <a:r>
              <a:rPr lang="es-AR" b="1" dirty="0"/>
              <a:t>escala</a:t>
            </a:r>
          </a:p>
          <a:p>
            <a:r>
              <a:rPr lang="es-AR" dirty="0"/>
              <a:t>Replicación → </a:t>
            </a:r>
            <a:r>
              <a:rPr lang="es-AR" b="1" dirty="0"/>
              <a:t>disponibilidad</a:t>
            </a:r>
          </a:p>
          <a:p>
            <a:r>
              <a:rPr lang="es-AR" dirty="0"/>
              <a:t>NoSQL prioriza </a:t>
            </a:r>
            <a:r>
              <a:rPr lang="es-AR" b="1" dirty="0"/>
              <a:t>distribución, elasticidad y resiliencia</a:t>
            </a:r>
            <a:r>
              <a:rPr lang="es-AR" dirty="0"/>
              <a:t>.</a:t>
            </a:r>
          </a:p>
          <a:p>
            <a:r>
              <a:rPr lang="es-AR" dirty="0"/>
              <a:t>La elección depende del </a:t>
            </a:r>
            <a:r>
              <a:rPr lang="es-AR" b="1" dirty="0"/>
              <a:t>caso de uso y requerimientos del sistema</a:t>
            </a:r>
            <a:r>
              <a:rPr lang="es-A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5226A-B48D-1684-354C-F243C9A8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3498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06D102-67B1-AE86-856C-D6A8280C3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Practiquemos un poco …</a:t>
            </a:r>
          </a:p>
        </p:txBody>
      </p:sp>
      <p:pic>
        <p:nvPicPr>
          <p:cNvPr id="5128" name="Picture 8" descr="Que hacer - Iconos gratis de interfaz">
            <a:extLst>
              <a:ext uri="{FF2B5EF4-FFF2-40B4-BE49-F238E27FC236}">
                <a16:creationId xmlns:a16="http://schemas.microsoft.com/office/drawing/2014/main" id="{2614D756-181E-C599-01F9-42871444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042" y="371168"/>
            <a:ext cx="2676832" cy="267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327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1106_TF34126823.potx" id="{F73BBA1C-8B56-412D-A0D8-81E360A69323}" vid="{145DECCC-6CBD-4505-B46C-DE924EE842A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81109-a086-44ae-a9ae-b48b478270f0">
      <Terms xmlns="http://schemas.microsoft.com/office/infopath/2007/PartnerControls"/>
    </lcf76f155ced4ddcb4097134ff3c332f>
    <TaxCatchAll xmlns="36ae782e-a2ad-455b-8012-e967b2ff026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3BEE4324150E468E9D56AC1A069CC0" ma:contentTypeVersion="10" ma:contentTypeDescription="Crear nuevo documento." ma:contentTypeScope="" ma:versionID="d38e76179bb4e1368abf06f532a8bd3a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64cf5d609c72c32b085a3a1fb04f870b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athena xmlns="http://schemas.microsoft.com/edu/athena" version="0.1.2955.0">
  <timings duration="63956"/>
</athena>
</file>

<file path=customXml/itemProps1.xml><?xml version="1.0" encoding="utf-8"?>
<ds:datastoreItem xmlns:ds="http://schemas.openxmlformats.org/officeDocument/2006/customXml" ds:itemID="{6DF685C8-515E-4994-8012-C2D2AD62AA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91BD4A-B58A-436A-A3D8-71CF4291A18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7860DB-569D-443C-ACDB-4542EC08897D}"/>
</file>

<file path=customXml/itemProps4.xml><?xml version="1.0" encoding="utf-8"?>
<ds:datastoreItem xmlns:ds="http://schemas.openxmlformats.org/officeDocument/2006/customXml" ds:itemID="{1CE9B207-9257-4F8D-A57B-644CA1DAEEBD}">
  <ds:schemaRefs>
    <ds:schemaRef ds:uri="http://schemas.microsoft.com/edu/athen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clásica en bloque en negrita</Template>
  <TotalTime>14704</TotalTime>
  <Words>642</Words>
  <Application>Microsoft Office PowerPoint</Application>
  <PresentationFormat>Widescreen</PresentationFormat>
  <Paragraphs>151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Tema de Office</vt:lpstr>
      <vt:lpstr>Ingeniería de Datos II Clase #2</vt:lpstr>
      <vt:lpstr>Distribución de datos Introducción</vt:lpstr>
      <vt:lpstr>Distribución de datos ¿ Qué es la fragmentación (sharding) ?</vt:lpstr>
      <vt:lpstr>Distribución de datos Fragmentación en No SQL</vt:lpstr>
      <vt:lpstr>Fragmentación de datos Usos principales</vt:lpstr>
      <vt:lpstr>Fragmentación de datos Principales ventajas</vt:lpstr>
      <vt:lpstr>Fragmentación de datos Principales desventajas</vt:lpstr>
      <vt:lpstr>Fragmentación de datos Algunas estrategias</vt:lpstr>
      <vt:lpstr>Fragmentación de datos ¿ Qué es la replicación de datos ?</vt:lpstr>
      <vt:lpstr>Fragmentación de datos Replicación en No SQL</vt:lpstr>
      <vt:lpstr>Replicación de datos Usos principales</vt:lpstr>
      <vt:lpstr>Replicación de datos Principales ventajas</vt:lpstr>
      <vt:lpstr>Replicación de datos Principales desventajas</vt:lpstr>
      <vt:lpstr>Replicación de datos Algunas estrategias</vt:lpstr>
      <vt:lpstr>Distribución de datos Fragmentación vs replicación</vt:lpstr>
      <vt:lpstr>Distribución de datos Relación con el Teorema CAP</vt:lpstr>
      <vt:lpstr>Distribución de datos Ejemplos en bases NoSQL reales</vt:lpstr>
      <vt:lpstr>Distribución de datos Conclusión</vt:lpstr>
      <vt:lpstr>Practiquemos un poco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Juegos y Competencia monopolística</dc:title>
  <dc:creator>Sofia Rosa</dc:creator>
  <cp:lastModifiedBy>Hernan Novodvorski</cp:lastModifiedBy>
  <cp:revision>120</cp:revision>
  <dcterms:created xsi:type="dcterms:W3CDTF">2021-06-07T01:07:38Z</dcterms:created>
  <dcterms:modified xsi:type="dcterms:W3CDTF">2026-03-18T15:10:17Z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  <property fmtid="{D5CDD505-2E9C-101B-9397-08002B2CF9AE}" pid="3" name="Order">
    <vt:r8>5300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