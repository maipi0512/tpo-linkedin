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300" r:id="rId16"/>
    <p:sldId id="305" r:id="rId17"/>
    <p:sldId id="301" r:id="rId18"/>
    <p:sldId id="302" r:id="rId19"/>
    <p:sldId id="303" r:id="rId20"/>
    <p:sldId id="304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1" r:id="rId41"/>
    <p:sldId id="290" r:id="rId42"/>
    <p:sldId id="292" r:id="rId43"/>
    <p:sldId id="293" r:id="rId44"/>
    <p:sldId id="294" r:id="rId45"/>
    <p:sldId id="295" r:id="rId46"/>
    <p:sldId id="299" r:id="rId47"/>
    <p:sldId id="296" r:id="rId48"/>
    <p:sldId id="297" r:id="rId49"/>
    <p:sldId id="298" r:id="rId5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1388" y="2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ustomXml" Target="../customXml/item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3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0511" y="3686556"/>
            <a:ext cx="6746748" cy="11582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36420" y="3717036"/>
            <a:ext cx="6635750" cy="0"/>
          </a:xfrm>
          <a:custGeom>
            <a:avLst/>
            <a:gdLst/>
            <a:ahLst/>
            <a:cxnLst/>
            <a:rect l="l" t="t" r="r" b="b"/>
            <a:pathLst>
              <a:path w="6635750">
                <a:moveTo>
                  <a:pt x="0" y="0"/>
                </a:moveTo>
                <a:lnTo>
                  <a:pt x="6635737" y="0"/>
                </a:lnTo>
              </a:path>
            </a:pathLst>
          </a:custGeom>
          <a:ln w="9525">
            <a:solidFill>
              <a:srgbClr val="FD82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831" y="1764792"/>
            <a:ext cx="1717548" cy="38877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0373" y="2446350"/>
            <a:ext cx="439610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184666"/>
          </a:xfrm>
        </p:spPr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45819" y="6271515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740664" y="5202175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>
          <a:xfrm>
            <a:off x="740664" y="5202175"/>
            <a:ext cx="210312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67868" y="1484375"/>
            <a:ext cx="8209280" cy="0"/>
          </a:xfrm>
          <a:custGeom>
            <a:avLst/>
            <a:gdLst/>
            <a:ahLst/>
            <a:cxnLst/>
            <a:rect l="l" t="t" r="r" b="b"/>
            <a:pathLst>
              <a:path w="8209280">
                <a:moveTo>
                  <a:pt x="0" y="0"/>
                </a:moveTo>
                <a:lnTo>
                  <a:pt x="8208911" y="0"/>
                </a:lnTo>
              </a:path>
            </a:pathLst>
          </a:custGeom>
          <a:ln w="9525">
            <a:solidFill>
              <a:srgbClr val="FD82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12439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421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89963" y="6464968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Calibri"/>
                <a:cs typeface="Calibri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foq.com/presentations/Real-Time-Delivery-Twitter" TargetMode="External"/><Relationship Id="rId2" Type="http://schemas.openxmlformats.org/officeDocument/2006/relationships/hyperlink" Target="https://redis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ode.flickr.net/2011/10/11/talk-real-time-updates-on-the-cheap-for-fun-and-profit/" TargetMode="External"/><Relationship Id="rId5" Type="http://schemas.openxmlformats.org/officeDocument/2006/relationships/hyperlink" Target="https://github.com/blog/530-how-we-made-github-fast" TargetMode="External"/><Relationship Id="rId4" Type="http://schemas.openxmlformats.org/officeDocument/2006/relationships/hyperlink" Target="http://instagram-engineering.tumblr.com/post/12202313862/storing-hundreds-of-millions-of-simple-key-value-pair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redis.io/try-free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try.redis.io/#run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redis.io/try-free/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410373" y="2446350"/>
            <a:ext cx="5142827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65" dirty="0"/>
              <a:t> </a:t>
            </a:r>
            <a:r>
              <a:rPr dirty="0"/>
              <a:t>de</a:t>
            </a:r>
            <a:r>
              <a:rPr spc="-75" dirty="0"/>
              <a:t> </a:t>
            </a:r>
            <a:r>
              <a:rPr dirty="0"/>
              <a:t>Datos</a:t>
            </a:r>
            <a:r>
              <a:rPr spc="-70" dirty="0"/>
              <a:t> </a:t>
            </a:r>
            <a:r>
              <a:rPr dirty="0"/>
              <a:t>No</a:t>
            </a:r>
            <a:r>
              <a:rPr spc="-40" dirty="0"/>
              <a:t> </a:t>
            </a:r>
            <a:r>
              <a:rPr spc="-25" dirty="0"/>
              <a:t>S</a:t>
            </a:r>
            <a:r>
              <a:rPr lang="es-AR" spc="-25" dirty="0"/>
              <a:t>Q</a:t>
            </a:r>
            <a:r>
              <a:rPr spc="-25" dirty="0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74481" y="3893311"/>
            <a:ext cx="486029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8A8A8A"/>
                </a:solidFill>
                <a:latin typeface="Calibri"/>
                <a:cs typeface="Calibri"/>
              </a:rPr>
              <a:t>Bases</a:t>
            </a:r>
            <a:r>
              <a:rPr sz="3200" spc="-5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A8A8A"/>
                </a:solidFill>
                <a:latin typeface="Calibri"/>
                <a:cs typeface="Calibri"/>
              </a:rPr>
              <a:t>de</a:t>
            </a:r>
            <a:r>
              <a:rPr sz="3200" spc="-2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A8A8A"/>
                </a:solidFill>
                <a:latin typeface="Calibri"/>
                <a:cs typeface="Calibri"/>
              </a:rPr>
              <a:t>Datos</a:t>
            </a:r>
            <a:r>
              <a:rPr sz="3200" spc="-3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8A8A8A"/>
                </a:solidFill>
                <a:latin typeface="Calibri"/>
                <a:cs typeface="Calibri"/>
              </a:rPr>
              <a:t>Clave-</a:t>
            </a:r>
            <a:r>
              <a:rPr sz="3200" spc="-10" dirty="0">
                <a:solidFill>
                  <a:srgbClr val="8A8A8A"/>
                </a:solidFill>
                <a:latin typeface="Calibri"/>
                <a:cs typeface="Calibri"/>
              </a:rPr>
              <a:t>Valor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96633"/>
            <a:ext cx="2343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Bibliografía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61591"/>
            <a:ext cx="8053070" cy="423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ts val="2160"/>
              </a:lnSpc>
              <a:spcBef>
                <a:spcPts val="10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Maxwell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Dayvson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Silva;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Hugo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Lopes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Tavares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(2015).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Redis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Essentials.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ts val="2160"/>
              </a:lnSpc>
            </a:pPr>
            <a:r>
              <a:rPr sz="2000" dirty="0">
                <a:latin typeface="Calibri"/>
                <a:cs typeface="Calibri"/>
              </a:rPr>
              <a:t>Packt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Publishing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Vinoo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(2015).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Learning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Redis.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Packt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Publishing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Josiah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Carlson(2013).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Redis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Action.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Manning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Publications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Xun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Wu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(2018).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Seven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NoSQL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Databases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Week.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Pack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Publishing.</a:t>
            </a:r>
            <a:endParaRPr sz="2000">
              <a:latin typeface="Calibri"/>
              <a:cs typeface="Calibri"/>
            </a:endParaRPr>
          </a:p>
          <a:p>
            <a:pPr marL="355600" marR="1222375" indent="-342900">
              <a:lnSpc>
                <a:spcPct val="8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Dan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Sullivan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(2015).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NoSQL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for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Mere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Mortals.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Addison-Wesley Professional</a:t>
            </a:r>
            <a:endParaRPr sz="2000">
              <a:latin typeface="Calibri"/>
              <a:cs typeface="Calibri"/>
            </a:endParaRPr>
          </a:p>
          <a:p>
            <a:pPr marL="355600" marR="346075" indent="-342900">
              <a:lnSpc>
                <a:spcPct val="8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Dan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McCreary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Kelly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(2014).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Making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Sense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NoSQL.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guide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for </a:t>
            </a:r>
            <a:r>
              <a:rPr sz="2000" b="1" dirty="0">
                <a:latin typeface="Calibri"/>
                <a:cs typeface="Calibri"/>
              </a:rPr>
              <a:t>managers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us.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Manning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Publications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8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000" spc="-10" dirty="0">
                <a:latin typeface="Calibri"/>
                <a:cs typeface="Calibri"/>
              </a:rPr>
              <a:t>Gaurav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Vaish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(2013).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Getting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Started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with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NoSQL.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Your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guide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the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world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technology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NoSQL.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PACKT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Publishing</a:t>
            </a:r>
            <a:endParaRPr sz="2000">
              <a:latin typeface="Calibri"/>
              <a:cs typeface="Calibri"/>
            </a:endParaRPr>
          </a:p>
          <a:p>
            <a:pPr marL="355600" marR="182880" indent="-342900">
              <a:lnSpc>
                <a:spcPct val="8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Joe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Celko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(2014).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Joe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Celko’s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Complete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guide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NoSQL.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What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every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SQL </a:t>
            </a:r>
            <a:r>
              <a:rPr sz="2000" b="1" spc="-10" dirty="0">
                <a:latin typeface="Calibri"/>
                <a:cs typeface="Calibri"/>
              </a:rPr>
              <a:t>professional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needs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know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about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Non-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Relational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Databases.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Morgan Kaufmann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62513" y="1587144"/>
            <a:ext cx="555434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Son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las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NoSQL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más</a:t>
            </a:r>
            <a:r>
              <a:rPr sz="3200" b="1" spc="-3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simples.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2512" y="2123591"/>
            <a:ext cx="32124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  <a:tab pos="1275715" algn="l"/>
                <a:tab pos="2782570" algn="l"/>
              </a:tabLst>
            </a:pPr>
            <a:r>
              <a:rPr sz="3200" spc="-25" dirty="0">
                <a:latin typeface="Calibri"/>
                <a:cs typeface="Calibri"/>
              </a:rPr>
              <a:t>Se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0" dirty="0">
                <a:latin typeface="Calibri"/>
                <a:cs typeface="Calibri"/>
              </a:rPr>
              <a:t>basan</a:t>
            </a:r>
            <a:r>
              <a:rPr sz="3200" dirty="0">
                <a:latin typeface="Calibri"/>
                <a:cs typeface="Calibri"/>
              </a:rPr>
              <a:t>	</a:t>
            </a:r>
            <a:r>
              <a:rPr sz="3200" spc="-25" dirty="0">
                <a:latin typeface="Calibri"/>
                <a:cs typeface="Calibri"/>
              </a:rPr>
              <a:t>en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5412" y="2562645"/>
            <a:ext cx="24847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latin typeface="Calibri"/>
                <a:cs typeface="Calibri"/>
              </a:rPr>
              <a:t>identificadores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09207" y="2123591"/>
            <a:ext cx="213106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 indent="371475">
              <a:lnSpc>
                <a:spcPts val="3460"/>
              </a:lnSpc>
              <a:spcBef>
                <a:spcPts val="535"/>
              </a:spcBef>
            </a:pPr>
            <a:r>
              <a:rPr sz="3200" spc="-10" dirty="0">
                <a:latin typeface="Calibri"/>
                <a:cs typeface="Calibri"/>
              </a:rPr>
              <a:t>almacenar conocidos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19124" y="2123591"/>
            <a:ext cx="1386205" cy="953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9420">
              <a:lnSpc>
                <a:spcPts val="3650"/>
              </a:lnSpc>
              <a:spcBef>
                <a:spcPts val="105"/>
              </a:spcBef>
            </a:pPr>
            <a:r>
              <a:rPr sz="3200" b="1" spc="-10" dirty="0">
                <a:latin typeface="Calibri"/>
                <a:cs typeface="Calibri"/>
              </a:rPr>
              <a:t>datos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ts val="3650"/>
              </a:lnSpc>
            </a:pPr>
            <a:r>
              <a:rPr sz="3200" spc="-20" dirty="0">
                <a:latin typeface="Calibri"/>
                <a:cs typeface="Calibri"/>
              </a:rPr>
              <a:t>como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9690" y="2123591"/>
            <a:ext cx="1044575" cy="9531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985" algn="r">
              <a:lnSpc>
                <a:spcPts val="3650"/>
              </a:lnSpc>
              <a:spcBef>
                <a:spcPts val="105"/>
              </a:spcBef>
            </a:pPr>
            <a:r>
              <a:rPr sz="3200" spc="-25" dirty="0">
                <a:latin typeface="Calibri"/>
                <a:cs typeface="Calibri"/>
              </a:rPr>
              <a:t>con</a:t>
            </a:r>
            <a:endParaRPr sz="3200">
              <a:latin typeface="Calibri"/>
              <a:cs typeface="Calibri"/>
            </a:endParaRPr>
          </a:p>
          <a:p>
            <a:pPr marR="5080" algn="r">
              <a:lnSpc>
                <a:spcPts val="3650"/>
              </a:lnSpc>
            </a:pPr>
            <a:r>
              <a:rPr sz="3200" b="1" spc="-10" dirty="0">
                <a:latin typeface="Calibri"/>
                <a:cs typeface="Calibri"/>
              </a:rPr>
              <a:t>claves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2509" y="2953822"/>
            <a:ext cx="8074025" cy="295148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algn="just">
              <a:lnSpc>
                <a:spcPct val="100000"/>
              </a:lnSpc>
              <a:spcBef>
                <a:spcPts val="480"/>
              </a:spcBef>
            </a:pPr>
            <a:r>
              <a:rPr sz="3200" dirty="0">
                <a:latin typeface="Calibri"/>
                <a:cs typeface="Calibri"/>
              </a:rPr>
              <a:t>(similares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arrays).</a:t>
            </a:r>
            <a:endParaRPr sz="320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3460"/>
              </a:lnSpc>
              <a:spcBef>
                <a:spcPts val="815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En</a:t>
            </a:r>
            <a:r>
              <a:rPr sz="3200" spc="63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una</a:t>
            </a:r>
            <a:r>
              <a:rPr sz="3200" spc="635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BD</a:t>
            </a:r>
            <a:r>
              <a:rPr sz="3200" spc="630" dirty="0">
                <a:latin typeface="Calibri"/>
                <a:cs typeface="Calibri"/>
              </a:rPr>
              <a:t>  </a:t>
            </a:r>
            <a:r>
              <a:rPr sz="3200" spc="-30" dirty="0">
                <a:latin typeface="Calibri"/>
                <a:cs typeface="Calibri"/>
              </a:rPr>
              <a:t>Clave-</a:t>
            </a:r>
            <a:r>
              <a:rPr sz="3200" dirty="0">
                <a:latin typeface="Calibri"/>
                <a:cs typeface="Calibri"/>
              </a:rPr>
              <a:t>Valor,</a:t>
            </a:r>
            <a:r>
              <a:rPr sz="3200" spc="630" dirty="0">
                <a:latin typeface="Calibri"/>
                <a:cs typeface="Calibri"/>
              </a:rPr>
              <a:t>  </a:t>
            </a:r>
            <a:r>
              <a:rPr sz="3200" b="1" dirty="0">
                <a:latin typeface="Calibri"/>
                <a:cs typeface="Calibri"/>
              </a:rPr>
              <a:t>valor</a:t>
            </a:r>
            <a:r>
              <a:rPr sz="3200" b="1" spc="620" dirty="0">
                <a:latin typeface="Calibri"/>
                <a:cs typeface="Calibri"/>
              </a:rPr>
              <a:t>  </a:t>
            </a:r>
            <a:r>
              <a:rPr sz="3200" dirty="0">
                <a:latin typeface="Calibri"/>
                <a:cs typeface="Calibri"/>
              </a:rPr>
              <a:t>tiene</a:t>
            </a:r>
            <a:r>
              <a:rPr sz="3200" spc="625" dirty="0">
                <a:latin typeface="Calibri"/>
                <a:cs typeface="Calibri"/>
              </a:rPr>
              <a:t>  </a:t>
            </a:r>
            <a:r>
              <a:rPr sz="3200" spc="-25" dirty="0">
                <a:latin typeface="Calibri"/>
                <a:cs typeface="Calibri"/>
              </a:rPr>
              <a:t>un </a:t>
            </a:r>
            <a:r>
              <a:rPr sz="3200" dirty="0">
                <a:latin typeface="Calibri"/>
                <a:cs typeface="Calibri"/>
              </a:rPr>
              <a:t>identificador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único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b="1" spc="-10" dirty="0">
                <a:latin typeface="Calibri"/>
                <a:cs typeface="Calibri"/>
              </a:rPr>
              <a:t>clave</a:t>
            </a:r>
            <a:r>
              <a:rPr sz="3200" spc="-10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  <a:p>
            <a:pPr marL="354965" marR="6350" indent="-342900" algn="just">
              <a:lnSpc>
                <a:spcPts val="3460"/>
              </a:lnSpc>
              <a:spcBef>
                <a:spcPts val="76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Las</a:t>
            </a:r>
            <a:r>
              <a:rPr sz="3200" spc="565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claves</a:t>
            </a:r>
            <a:r>
              <a:rPr sz="3200" b="1" spc="58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son</a:t>
            </a:r>
            <a:r>
              <a:rPr sz="3200" b="1" spc="56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únicas</a:t>
            </a:r>
            <a:r>
              <a:rPr sz="3200" b="1" spc="5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dentro</a:t>
            </a:r>
            <a:r>
              <a:rPr sz="3200" spc="5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del</a:t>
            </a:r>
            <a:r>
              <a:rPr sz="3200" spc="5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espacio</a:t>
            </a:r>
            <a:r>
              <a:rPr sz="3200" spc="5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de </a:t>
            </a:r>
            <a:r>
              <a:rPr sz="3200" dirty="0">
                <a:latin typeface="Calibri"/>
                <a:cs typeface="Calibri"/>
              </a:rPr>
              <a:t>nombres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(que puede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denominarse </a:t>
            </a:r>
            <a:r>
              <a:rPr sz="3200" spc="-10" dirty="0">
                <a:latin typeface="Calibri"/>
                <a:cs typeface="Calibri"/>
              </a:rPr>
              <a:t>agrupación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datos,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base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datos,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...)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894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3200" spc="-10" dirty="0"/>
              <a:t>Claves:</a:t>
            </a:r>
            <a:endParaRPr sz="3200"/>
          </a:p>
          <a:p>
            <a:pPr marL="755015" lvl="1" indent="-285115" algn="just">
              <a:lnSpc>
                <a:spcPct val="100000"/>
              </a:lnSpc>
              <a:spcBef>
                <a:spcPts val="690"/>
              </a:spcBef>
              <a:buClr>
                <a:srgbClr val="E75C01"/>
              </a:buClr>
              <a:buFont typeface="Arial"/>
              <a:buChar char="–"/>
              <a:tabLst>
                <a:tab pos="755015" algn="l"/>
              </a:tabLst>
            </a:pPr>
            <a:r>
              <a:rPr sz="2800" spc="-10" dirty="0">
                <a:latin typeface="Calibri"/>
                <a:cs typeface="Calibri"/>
              </a:rPr>
              <a:t>Identificadores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asociados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valores.</a:t>
            </a:r>
            <a:endParaRPr sz="2800">
              <a:latin typeface="Calibri"/>
              <a:cs typeface="Calibri"/>
            </a:endParaRPr>
          </a:p>
          <a:p>
            <a:pPr marL="754380" lvl="1" indent="-285115" algn="just">
              <a:lnSpc>
                <a:spcPct val="100000"/>
              </a:lnSpc>
              <a:spcBef>
                <a:spcPts val="670"/>
              </a:spcBef>
              <a:buClr>
                <a:srgbClr val="E75C01"/>
              </a:buClr>
              <a:buFont typeface="Arial"/>
              <a:buChar char="–"/>
              <a:tabLst>
                <a:tab pos="754380" algn="l"/>
              </a:tabLst>
            </a:pPr>
            <a:r>
              <a:rPr sz="2800" dirty="0">
                <a:latin typeface="Calibri"/>
                <a:cs typeface="Calibri"/>
              </a:rPr>
              <a:t>Análogos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etiquetas</a:t>
            </a:r>
            <a:r>
              <a:rPr sz="28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de</a:t>
            </a:r>
            <a:r>
              <a:rPr sz="2800" spc="-5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los</a:t>
            </a:r>
            <a:r>
              <a:rPr sz="2800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70C0"/>
                </a:solidFill>
                <a:latin typeface="Calibri"/>
                <a:cs typeface="Calibri"/>
              </a:rPr>
              <a:t>equipajes</a:t>
            </a:r>
            <a:r>
              <a:rPr sz="2800" spc="-10" dirty="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marL="1154430" lvl="2" indent="-227329" algn="just">
              <a:lnSpc>
                <a:spcPct val="100000"/>
              </a:lnSpc>
              <a:spcBef>
                <a:spcPts val="605"/>
              </a:spcBef>
              <a:buClr>
                <a:srgbClr val="E75C01"/>
              </a:buClr>
              <a:buFont typeface="Arial"/>
              <a:buChar char="•"/>
              <a:tabLst>
                <a:tab pos="1154430" algn="l"/>
              </a:tabLst>
            </a:pPr>
            <a:r>
              <a:rPr sz="2400" dirty="0">
                <a:latin typeface="Calibri"/>
                <a:cs typeface="Calibri"/>
              </a:rPr>
              <a:t>Permiten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encontrar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tu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equipaje.</a:t>
            </a:r>
            <a:endParaRPr sz="2400">
              <a:latin typeface="Calibri"/>
              <a:cs typeface="Calibri"/>
            </a:endParaRPr>
          </a:p>
          <a:p>
            <a:pPr marL="1154430" marR="5080" lvl="2" indent="-227329" algn="just">
              <a:lnSpc>
                <a:spcPct val="100000"/>
              </a:lnSpc>
              <a:spcBef>
                <a:spcPts val="575"/>
              </a:spcBef>
              <a:buClr>
                <a:srgbClr val="E75C01"/>
              </a:buClr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Si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los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equipajes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2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organizan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por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2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229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etiqueta, 	</a:t>
            </a:r>
            <a:r>
              <a:rPr sz="2400" dirty="0">
                <a:latin typeface="Calibri"/>
                <a:cs typeface="Calibri"/>
              </a:rPr>
              <a:t>estos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fácil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encontrar.</a:t>
            </a:r>
            <a:endParaRPr sz="2400">
              <a:latin typeface="Calibri"/>
              <a:cs typeface="Calibri"/>
            </a:endParaRPr>
          </a:p>
          <a:p>
            <a:pPr marL="1154430" marR="6350" lvl="2" indent="-227329" algn="just">
              <a:lnSpc>
                <a:spcPct val="100000"/>
              </a:lnSpc>
              <a:spcBef>
                <a:spcPts val="575"/>
              </a:spcBef>
              <a:buClr>
                <a:srgbClr val="E75C01"/>
              </a:buClr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Calibri"/>
                <a:cs typeface="Calibri"/>
              </a:rPr>
              <a:t>La</a:t>
            </a:r>
            <a:r>
              <a:rPr sz="2400" spc="4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etiqueta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</a:t>
            </a:r>
            <a:r>
              <a:rPr sz="2400" spc="4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</a:t>
            </a:r>
            <a:r>
              <a:rPr sz="2400" spc="4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facturar,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5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podría</a:t>
            </a:r>
            <a:r>
              <a:rPr sz="2400" spc="4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tener</a:t>
            </a:r>
            <a:r>
              <a:rPr sz="2400" spc="49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un 	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4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vuelo</a:t>
            </a:r>
            <a:r>
              <a:rPr sz="2400" spc="4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4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número</a:t>
            </a:r>
            <a:r>
              <a:rPr sz="2400" spc="4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secuencial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para</a:t>
            </a:r>
            <a:r>
              <a:rPr sz="2400" spc="4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cada 	</a:t>
            </a:r>
            <a:r>
              <a:rPr sz="2400" dirty="0">
                <a:latin typeface="Calibri"/>
                <a:cs typeface="Calibri"/>
              </a:rPr>
              <a:t>equipaje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(simplificación,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vuelos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iguales).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05787" y="6477668"/>
            <a:ext cx="7747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8A8A8A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35803" y="1555496"/>
            <a:ext cx="8072755" cy="2342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764530" indent="342900" algn="just">
              <a:lnSpc>
                <a:spcPct val="100000"/>
              </a:lnSpc>
              <a:spcBef>
                <a:spcPts val="95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200" b="1" dirty="0">
                <a:latin typeface="Calibri"/>
                <a:cs typeface="Calibri"/>
              </a:rPr>
              <a:t>Diseño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Claves Ejemplo:</a:t>
            </a:r>
            <a:endParaRPr sz="2200">
              <a:latin typeface="Calibri"/>
              <a:cs typeface="Calibri"/>
            </a:endParaRPr>
          </a:p>
          <a:p>
            <a:pPr marL="753745" marR="5080" lvl="1" indent="-284480" algn="just">
              <a:lnSpc>
                <a:spcPct val="80000"/>
              </a:lnSpc>
              <a:spcBef>
                <a:spcPts val="489"/>
              </a:spcBef>
              <a:buClr>
                <a:srgbClr val="E75C01"/>
              </a:buClr>
              <a:buFont typeface="Arial"/>
              <a:buChar char="–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Sitio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web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necesita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almacenar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CLIENTES: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cada</a:t>
            </a:r>
            <a:r>
              <a:rPr sz="2000" b="1" spc="2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cliente 	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la</a:t>
            </a:r>
            <a:r>
              <a:rPr sz="2000" b="1" spc="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página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número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cuenta,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nombre,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número</a:t>
            </a:r>
            <a:r>
              <a:rPr sz="2000" spc="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productos,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tipo 	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cliente.</a:t>
            </a:r>
            <a:endParaRPr sz="2000">
              <a:latin typeface="Calibri"/>
              <a:cs typeface="Calibri"/>
            </a:endParaRPr>
          </a:p>
          <a:p>
            <a:pPr marL="753745" marR="5080" lvl="1" indent="-284480" algn="just">
              <a:lnSpc>
                <a:spcPct val="8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podría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asignar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cada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cliente</a:t>
            </a:r>
            <a:r>
              <a:rPr sz="2000" b="1" spc="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un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número</a:t>
            </a:r>
            <a:r>
              <a:rPr sz="2000" b="1" spc="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secuencial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incluye 	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(p.e.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Cliente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&gt;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1)</a:t>
            </a:r>
            <a:endParaRPr sz="2000">
              <a:latin typeface="Calibri"/>
              <a:cs typeface="Calibri"/>
            </a:endParaRPr>
          </a:p>
          <a:p>
            <a:pPr marL="754380" lvl="1" indent="-284480" algn="just">
              <a:lnSpc>
                <a:spcPct val="100000"/>
              </a:lnSpc>
              <a:buClr>
                <a:srgbClr val="E75C01"/>
              </a:buClr>
              <a:buFont typeface="Arial"/>
              <a:buChar char="–"/>
              <a:tabLst>
                <a:tab pos="754380" algn="l"/>
              </a:tabLst>
            </a:pPr>
            <a:r>
              <a:rPr sz="2000" dirty="0">
                <a:latin typeface="Calibri"/>
                <a:cs typeface="Calibri"/>
              </a:rPr>
              <a:t>Se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generarían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claves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Valor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siguiente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forma: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615438" y="4307078"/>
            <a:ext cx="2186940" cy="457200"/>
            <a:chOff x="2615438" y="4307078"/>
            <a:chExt cx="2186940" cy="457200"/>
          </a:xfrm>
        </p:grpSpPr>
        <p:sp>
          <p:nvSpPr>
            <p:cNvPr id="8" name="object 8"/>
            <p:cNvSpPr/>
            <p:nvPr/>
          </p:nvSpPr>
          <p:spPr>
            <a:xfrm>
              <a:off x="2628138" y="4319778"/>
              <a:ext cx="2161540" cy="431800"/>
            </a:xfrm>
            <a:custGeom>
              <a:avLst/>
              <a:gdLst/>
              <a:ahLst/>
              <a:cxnLst/>
              <a:rect l="l" t="t" r="r" b="b"/>
              <a:pathLst>
                <a:path w="2161540" h="431800">
                  <a:moveTo>
                    <a:pt x="2161032" y="0"/>
                  </a:moveTo>
                  <a:lnTo>
                    <a:pt x="0" y="0"/>
                  </a:lnTo>
                  <a:lnTo>
                    <a:pt x="0" y="431292"/>
                  </a:lnTo>
                  <a:lnTo>
                    <a:pt x="2161032" y="431292"/>
                  </a:lnTo>
                  <a:lnTo>
                    <a:pt x="2161032" y="0"/>
                  </a:lnTo>
                  <a:close/>
                </a:path>
              </a:pathLst>
            </a:custGeom>
            <a:solidFill>
              <a:srgbClr val="FE86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28138" y="4319778"/>
              <a:ext cx="2161540" cy="431800"/>
            </a:xfrm>
            <a:custGeom>
              <a:avLst/>
              <a:gdLst/>
              <a:ahLst/>
              <a:cxnLst/>
              <a:rect l="l" t="t" r="r" b="b"/>
              <a:pathLst>
                <a:path w="2161540" h="431800">
                  <a:moveTo>
                    <a:pt x="0" y="0"/>
                  </a:moveTo>
                  <a:lnTo>
                    <a:pt x="2161032" y="0"/>
                  </a:lnTo>
                  <a:lnTo>
                    <a:pt x="2161032" y="431292"/>
                  </a:lnTo>
                  <a:lnTo>
                    <a:pt x="0" y="43129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BB6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640838" y="4369434"/>
            <a:ext cx="21361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1765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1.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NúmerodeCuenta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256050" y="3497834"/>
            <a:ext cx="5261610" cy="1100455"/>
            <a:chOff x="1256050" y="3497834"/>
            <a:chExt cx="5261610" cy="1100455"/>
          </a:xfrm>
        </p:grpSpPr>
        <p:sp>
          <p:nvSpPr>
            <p:cNvPr id="12" name="object 12"/>
            <p:cNvSpPr/>
            <p:nvPr/>
          </p:nvSpPr>
          <p:spPr>
            <a:xfrm>
              <a:off x="4789169" y="4534662"/>
              <a:ext cx="1614170" cy="0"/>
            </a:xfrm>
            <a:custGeom>
              <a:avLst/>
              <a:gdLst/>
              <a:ahLst/>
              <a:cxnLst/>
              <a:rect l="l" t="t" r="r" b="b"/>
              <a:pathLst>
                <a:path w="1614170">
                  <a:moveTo>
                    <a:pt x="0" y="0"/>
                  </a:moveTo>
                  <a:lnTo>
                    <a:pt x="1613890" y="0"/>
                  </a:lnTo>
                </a:path>
              </a:pathLst>
            </a:custGeom>
            <a:ln w="254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90360" y="4471162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68750" y="3510534"/>
              <a:ext cx="2784475" cy="995044"/>
            </a:xfrm>
            <a:custGeom>
              <a:avLst/>
              <a:gdLst/>
              <a:ahLst/>
              <a:cxnLst/>
              <a:rect l="l" t="t" r="r" b="b"/>
              <a:pathLst>
                <a:path w="2784475" h="995045">
                  <a:moveTo>
                    <a:pt x="2784327" y="0"/>
                  </a:moveTo>
                  <a:lnTo>
                    <a:pt x="2717245" y="11303"/>
                  </a:lnTo>
                  <a:lnTo>
                    <a:pt x="2650196" y="22604"/>
                  </a:lnTo>
                  <a:lnTo>
                    <a:pt x="2583217" y="33903"/>
                  </a:lnTo>
                  <a:lnTo>
                    <a:pt x="2516340" y="45198"/>
                  </a:lnTo>
                  <a:lnTo>
                    <a:pt x="2449599" y="56486"/>
                  </a:lnTo>
                  <a:lnTo>
                    <a:pt x="2383030" y="67767"/>
                  </a:lnTo>
                  <a:lnTo>
                    <a:pt x="2316666" y="79039"/>
                  </a:lnTo>
                  <a:lnTo>
                    <a:pt x="2250541" y="90301"/>
                  </a:lnTo>
                  <a:lnTo>
                    <a:pt x="2184690" y="101551"/>
                  </a:lnTo>
                  <a:lnTo>
                    <a:pt x="2119147" y="112787"/>
                  </a:lnTo>
                  <a:lnTo>
                    <a:pt x="2053946" y="124009"/>
                  </a:lnTo>
                  <a:lnTo>
                    <a:pt x="1989120" y="135214"/>
                  </a:lnTo>
                  <a:lnTo>
                    <a:pt x="1924706" y="146402"/>
                  </a:lnTo>
                  <a:lnTo>
                    <a:pt x="1860735" y="157570"/>
                  </a:lnTo>
                  <a:lnTo>
                    <a:pt x="1797244" y="168718"/>
                  </a:lnTo>
                  <a:lnTo>
                    <a:pt x="1734266" y="179843"/>
                  </a:lnTo>
                  <a:lnTo>
                    <a:pt x="1671834" y="190945"/>
                  </a:lnTo>
                  <a:lnTo>
                    <a:pt x="1609984" y="202022"/>
                  </a:lnTo>
                  <a:lnTo>
                    <a:pt x="1548750" y="213072"/>
                  </a:lnTo>
                  <a:lnTo>
                    <a:pt x="1488166" y="224093"/>
                  </a:lnTo>
                  <a:lnTo>
                    <a:pt x="1428265" y="235086"/>
                  </a:lnTo>
                  <a:lnTo>
                    <a:pt x="1369083" y="246047"/>
                  </a:lnTo>
                  <a:lnTo>
                    <a:pt x="1310653" y="256975"/>
                  </a:lnTo>
                  <a:lnTo>
                    <a:pt x="1253009" y="267869"/>
                  </a:lnTo>
                  <a:lnTo>
                    <a:pt x="1196187" y="278728"/>
                  </a:lnTo>
                  <a:lnTo>
                    <a:pt x="1140219" y="289550"/>
                  </a:lnTo>
                  <a:lnTo>
                    <a:pt x="1085141" y="300333"/>
                  </a:lnTo>
                  <a:lnTo>
                    <a:pt x="1030985" y="311076"/>
                  </a:lnTo>
                  <a:lnTo>
                    <a:pt x="977788" y="321778"/>
                  </a:lnTo>
                  <a:lnTo>
                    <a:pt x="925582" y="332437"/>
                  </a:lnTo>
                  <a:lnTo>
                    <a:pt x="874402" y="343051"/>
                  </a:lnTo>
                  <a:lnTo>
                    <a:pt x="824283" y="353620"/>
                  </a:lnTo>
                  <a:lnTo>
                    <a:pt x="775257" y="364141"/>
                  </a:lnTo>
                  <a:lnTo>
                    <a:pt x="727361" y="374613"/>
                  </a:lnTo>
                  <a:lnTo>
                    <a:pt x="680627" y="385035"/>
                  </a:lnTo>
                  <a:lnTo>
                    <a:pt x="635089" y="395405"/>
                  </a:lnTo>
                  <a:lnTo>
                    <a:pt x="590784" y="405722"/>
                  </a:lnTo>
                  <a:lnTo>
                    <a:pt x="547743" y="415983"/>
                  </a:lnTo>
                  <a:lnTo>
                    <a:pt x="506002" y="426189"/>
                  </a:lnTo>
                  <a:lnTo>
                    <a:pt x="465595" y="436337"/>
                  </a:lnTo>
                  <a:lnTo>
                    <a:pt x="426556" y="446425"/>
                  </a:lnTo>
                  <a:lnTo>
                    <a:pt x="388919" y="456453"/>
                  </a:lnTo>
                  <a:lnTo>
                    <a:pt x="317988" y="476320"/>
                  </a:lnTo>
                  <a:lnTo>
                    <a:pt x="253076" y="495927"/>
                  </a:lnTo>
                  <a:lnTo>
                    <a:pt x="194456" y="515261"/>
                  </a:lnTo>
                  <a:lnTo>
                    <a:pt x="142403" y="534311"/>
                  </a:lnTo>
                  <a:lnTo>
                    <a:pt x="97189" y="553064"/>
                  </a:lnTo>
                  <a:lnTo>
                    <a:pt x="59089" y="571510"/>
                  </a:lnTo>
                  <a:lnTo>
                    <a:pt x="12002" y="603150"/>
                  </a:lnTo>
                  <a:lnTo>
                    <a:pt x="0" y="631058"/>
                  </a:lnTo>
                  <a:lnTo>
                    <a:pt x="3642" y="645378"/>
                  </a:lnTo>
                  <a:lnTo>
                    <a:pt x="28389" y="674563"/>
                  </a:lnTo>
                  <a:lnTo>
                    <a:pt x="73988" y="704229"/>
                  </a:lnTo>
                  <a:lnTo>
                    <a:pt x="137522" y="734080"/>
                  </a:lnTo>
                  <a:lnTo>
                    <a:pt x="175102" y="748983"/>
                  </a:lnTo>
                  <a:lnTo>
                    <a:pt x="216072" y="763821"/>
                  </a:lnTo>
                  <a:lnTo>
                    <a:pt x="260066" y="778558"/>
                  </a:lnTo>
                  <a:lnTo>
                    <a:pt x="306720" y="793156"/>
                  </a:lnTo>
                  <a:lnTo>
                    <a:pt x="355669" y="807578"/>
                  </a:lnTo>
                  <a:lnTo>
                    <a:pt x="406548" y="821788"/>
                  </a:lnTo>
                  <a:lnTo>
                    <a:pt x="458993" y="835748"/>
                  </a:lnTo>
                  <a:lnTo>
                    <a:pt x="512639" y="849422"/>
                  </a:lnTo>
                  <a:lnTo>
                    <a:pt x="567121" y="862773"/>
                  </a:lnTo>
                  <a:lnTo>
                    <a:pt x="622075" y="875762"/>
                  </a:lnTo>
                  <a:lnTo>
                    <a:pt x="677135" y="888355"/>
                  </a:lnTo>
                  <a:lnTo>
                    <a:pt x="731936" y="900513"/>
                  </a:lnTo>
                  <a:lnTo>
                    <a:pt x="786115" y="912200"/>
                  </a:lnTo>
                  <a:lnTo>
                    <a:pt x="839306" y="923378"/>
                  </a:lnTo>
                  <a:lnTo>
                    <a:pt x="891145" y="934012"/>
                  </a:lnTo>
                  <a:lnTo>
                    <a:pt x="941267" y="944062"/>
                  </a:lnTo>
                  <a:lnTo>
                    <a:pt x="989307" y="953494"/>
                  </a:lnTo>
                  <a:lnTo>
                    <a:pt x="1034900" y="962269"/>
                  </a:lnTo>
                  <a:lnTo>
                    <a:pt x="1077682" y="970351"/>
                  </a:lnTo>
                  <a:lnTo>
                    <a:pt x="1117287" y="977703"/>
                  </a:lnTo>
                  <a:lnTo>
                    <a:pt x="1185512" y="990067"/>
                  </a:lnTo>
                  <a:lnTo>
                    <a:pt x="1213400" y="995006"/>
                  </a:lnTo>
                </a:path>
              </a:pathLst>
            </a:custGeom>
            <a:ln w="25400">
              <a:solidFill>
                <a:srgbClr val="BB6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463546" y="4465891"/>
              <a:ext cx="81915" cy="75565"/>
            </a:xfrm>
            <a:custGeom>
              <a:avLst/>
              <a:gdLst/>
              <a:ahLst/>
              <a:cxnLst/>
              <a:rect l="l" t="t" r="r" b="b"/>
              <a:pathLst>
                <a:path w="81914" h="75564">
                  <a:moveTo>
                    <a:pt x="12928" y="0"/>
                  </a:moveTo>
                  <a:lnTo>
                    <a:pt x="0" y="75095"/>
                  </a:lnTo>
                  <a:lnTo>
                    <a:pt x="81559" y="50482"/>
                  </a:lnTo>
                  <a:lnTo>
                    <a:pt x="12928" y="0"/>
                  </a:lnTo>
                  <a:close/>
                </a:path>
              </a:pathLst>
            </a:custGeom>
            <a:solidFill>
              <a:srgbClr val="BB61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17385" y="4319778"/>
            <a:ext cx="2159635" cy="43180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9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123456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28138" y="4946141"/>
            <a:ext cx="2161540" cy="43307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610870">
              <a:lnSpc>
                <a:spcPct val="100000"/>
              </a:lnSpc>
              <a:spcBef>
                <a:spcPts val="500"/>
              </a:spcBef>
            </a:pPr>
            <a:r>
              <a:rPr sz="1800" spc="-10" dirty="0">
                <a:latin typeface="Calibri"/>
                <a:cs typeface="Calibri"/>
              </a:rPr>
              <a:t>1.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Nombre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789170" y="5099050"/>
            <a:ext cx="1728470" cy="127000"/>
            <a:chOff x="4789170" y="5099050"/>
            <a:chExt cx="1728470" cy="127000"/>
          </a:xfrm>
        </p:grpSpPr>
        <p:sp>
          <p:nvSpPr>
            <p:cNvPr id="19" name="object 19"/>
            <p:cNvSpPr/>
            <p:nvPr/>
          </p:nvSpPr>
          <p:spPr>
            <a:xfrm>
              <a:off x="4789170" y="5162550"/>
              <a:ext cx="1614170" cy="0"/>
            </a:xfrm>
            <a:custGeom>
              <a:avLst/>
              <a:gdLst/>
              <a:ahLst/>
              <a:cxnLst/>
              <a:rect l="l" t="t" r="r" b="b"/>
              <a:pathLst>
                <a:path w="1614170">
                  <a:moveTo>
                    <a:pt x="0" y="0"/>
                  </a:moveTo>
                  <a:lnTo>
                    <a:pt x="1613890" y="0"/>
                  </a:lnTo>
                </a:path>
              </a:pathLst>
            </a:custGeom>
            <a:ln w="254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390360" y="509905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517385" y="4946141"/>
            <a:ext cx="2159635" cy="43307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587375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Juan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Pérez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628138" y="5555741"/>
            <a:ext cx="2161540" cy="43307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500"/>
              </a:spcBef>
            </a:pPr>
            <a:r>
              <a:rPr sz="1800" spc="-10" dirty="0">
                <a:latin typeface="Calibri"/>
                <a:cs typeface="Calibri"/>
              </a:rPr>
              <a:t>1.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NúmProductos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89170" y="5708644"/>
            <a:ext cx="1728470" cy="127000"/>
            <a:chOff x="4789170" y="5708644"/>
            <a:chExt cx="1728470" cy="127000"/>
          </a:xfrm>
        </p:grpSpPr>
        <p:sp>
          <p:nvSpPr>
            <p:cNvPr id="24" name="object 24"/>
            <p:cNvSpPr/>
            <p:nvPr/>
          </p:nvSpPr>
          <p:spPr>
            <a:xfrm>
              <a:off x="4789170" y="5772150"/>
              <a:ext cx="1614170" cy="0"/>
            </a:xfrm>
            <a:custGeom>
              <a:avLst/>
              <a:gdLst/>
              <a:ahLst/>
              <a:cxnLst/>
              <a:rect l="l" t="t" r="r" b="b"/>
              <a:pathLst>
                <a:path w="1614170">
                  <a:moveTo>
                    <a:pt x="0" y="0"/>
                  </a:moveTo>
                  <a:lnTo>
                    <a:pt x="1613890" y="0"/>
                  </a:lnTo>
                </a:path>
              </a:pathLst>
            </a:custGeom>
            <a:ln w="254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390360" y="5708644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517385" y="5555741"/>
            <a:ext cx="2159635" cy="43307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615438" y="6152641"/>
            <a:ext cx="2186940" cy="458470"/>
            <a:chOff x="2615438" y="6152641"/>
            <a:chExt cx="2186940" cy="458470"/>
          </a:xfrm>
        </p:grpSpPr>
        <p:sp>
          <p:nvSpPr>
            <p:cNvPr id="28" name="object 28"/>
            <p:cNvSpPr/>
            <p:nvPr/>
          </p:nvSpPr>
          <p:spPr>
            <a:xfrm>
              <a:off x="2628138" y="6165341"/>
              <a:ext cx="2161540" cy="433070"/>
            </a:xfrm>
            <a:custGeom>
              <a:avLst/>
              <a:gdLst/>
              <a:ahLst/>
              <a:cxnLst/>
              <a:rect l="l" t="t" r="r" b="b"/>
              <a:pathLst>
                <a:path w="2161540" h="433070">
                  <a:moveTo>
                    <a:pt x="2161032" y="0"/>
                  </a:moveTo>
                  <a:lnTo>
                    <a:pt x="0" y="0"/>
                  </a:lnTo>
                  <a:lnTo>
                    <a:pt x="0" y="432816"/>
                  </a:lnTo>
                  <a:lnTo>
                    <a:pt x="2161032" y="432816"/>
                  </a:lnTo>
                  <a:lnTo>
                    <a:pt x="2161032" y="0"/>
                  </a:lnTo>
                  <a:close/>
                </a:path>
              </a:pathLst>
            </a:custGeom>
            <a:solidFill>
              <a:srgbClr val="FE86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628138" y="6165341"/>
              <a:ext cx="2161540" cy="433070"/>
            </a:xfrm>
            <a:custGeom>
              <a:avLst/>
              <a:gdLst/>
              <a:ahLst/>
              <a:cxnLst/>
              <a:rect l="l" t="t" r="r" b="b"/>
              <a:pathLst>
                <a:path w="2161540" h="433070">
                  <a:moveTo>
                    <a:pt x="0" y="0"/>
                  </a:moveTo>
                  <a:lnTo>
                    <a:pt x="2161032" y="0"/>
                  </a:lnTo>
                  <a:lnTo>
                    <a:pt x="2161032" y="432816"/>
                  </a:lnTo>
                  <a:lnTo>
                    <a:pt x="0" y="432816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BB6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3091065" y="6216228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1.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TipoCliente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789170" y="6318244"/>
            <a:ext cx="1728470" cy="127000"/>
            <a:chOff x="4789170" y="6318244"/>
            <a:chExt cx="1728470" cy="127000"/>
          </a:xfrm>
        </p:grpSpPr>
        <p:sp>
          <p:nvSpPr>
            <p:cNvPr id="32" name="object 32"/>
            <p:cNvSpPr/>
            <p:nvPr/>
          </p:nvSpPr>
          <p:spPr>
            <a:xfrm>
              <a:off x="4789170" y="6381750"/>
              <a:ext cx="1614170" cy="0"/>
            </a:xfrm>
            <a:custGeom>
              <a:avLst/>
              <a:gdLst/>
              <a:ahLst/>
              <a:cxnLst/>
              <a:rect l="l" t="t" r="r" b="b"/>
              <a:pathLst>
                <a:path w="1614170">
                  <a:moveTo>
                    <a:pt x="0" y="0"/>
                  </a:moveTo>
                  <a:lnTo>
                    <a:pt x="1613890" y="0"/>
                  </a:lnTo>
                </a:path>
              </a:pathLst>
            </a:custGeom>
            <a:ln w="254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390360" y="6318244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0"/>
                  </a:moveTo>
                  <a:lnTo>
                    <a:pt x="0" y="127000"/>
                  </a:lnTo>
                  <a:lnTo>
                    <a:pt x="127000" y="63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517385" y="6165341"/>
            <a:ext cx="2159635" cy="43307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611505">
              <a:lnSpc>
                <a:spcPct val="100000"/>
              </a:lnSpc>
              <a:spcBef>
                <a:spcPts val="5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Prioritario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6851"/>
            <a:ext cx="8071484" cy="425323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9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3200" dirty="0">
                <a:latin typeface="Calibri"/>
                <a:cs typeface="Calibri"/>
              </a:rPr>
              <a:t>Diseño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Claves</a:t>
            </a:r>
            <a:endParaRPr sz="3200">
              <a:latin typeface="Calibri"/>
              <a:cs typeface="Calibri"/>
            </a:endParaRPr>
          </a:p>
          <a:p>
            <a:pPr marL="754380" marR="5080" lvl="1" indent="-285115" algn="just">
              <a:lnSpc>
                <a:spcPts val="3030"/>
              </a:lnSpc>
              <a:spcBef>
                <a:spcPts val="730"/>
              </a:spcBef>
              <a:buClr>
                <a:srgbClr val="E75C01"/>
              </a:buClr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La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aproximación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complica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queremos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guardar 	</a:t>
            </a:r>
            <a:r>
              <a:rPr sz="2800" dirty="0">
                <a:latin typeface="Calibri"/>
                <a:cs typeface="Calibri"/>
              </a:rPr>
              <a:t>también</a:t>
            </a:r>
            <a:r>
              <a:rPr sz="2800" spc="2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información</a:t>
            </a:r>
            <a:r>
              <a:rPr sz="2800" spc="2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250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otras</a:t>
            </a:r>
            <a:r>
              <a:rPr sz="2800" b="1" spc="250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entidades</a:t>
            </a:r>
            <a:r>
              <a:rPr sz="2800" b="1" spc="250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(por 	</a:t>
            </a:r>
            <a:r>
              <a:rPr sz="2800" dirty="0">
                <a:latin typeface="Calibri"/>
                <a:cs typeface="Calibri"/>
              </a:rPr>
              <a:t>ejemplo,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clientes,</a:t>
            </a:r>
            <a:r>
              <a:rPr sz="2800" spc="-1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0070C0"/>
                </a:solidFill>
                <a:latin typeface="Calibri"/>
                <a:cs typeface="Calibri"/>
              </a:rPr>
              <a:t>almacenes,</a:t>
            </a:r>
            <a:r>
              <a:rPr sz="2800" spc="-12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proveedores…)</a:t>
            </a:r>
            <a:endParaRPr sz="2800">
              <a:latin typeface="Calibri"/>
              <a:cs typeface="Calibri"/>
            </a:endParaRPr>
          </a:p>
          <a:p>
            <a:pPr marL="754380" marR="5080" lvl="1" indent="-285115" algn="just">
              <a:lnSpc>
                <a:spcPts val="3030"/>
              </a:lnSpc>
              <a:spcBef>
                <a:spcPts val="65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Dado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podemos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querer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recoger</a:t>
            </a:r>
            <a:r>
              <a:rPr sz="2800" spc="114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características 	</a:t>
            </a:r>
            <a:r>
              <a:rPr sz="2800" dirty="0">
                <a:latin typeface="Calibri"/>
                <a:cs typeface="Calibri"/>
              </a:rPr>
              <a:t>con</a:t>
            </a:r>
            <a:r>
              <a:rPr sz="2800" spc="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mismo</a:t>
            </a:r>
            <a:r>
              <a:rPr sz="2800" spc="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nombre,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añadiremos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las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claves</a:t>
            </a:r>
            <a:r>
              <a:rPr sz="2800" spc="9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un 	</a:t>
            </a:r>
            <a:r>
              <a:rPr sz="2800" b="1" dirty="0">
                <a:latin typeface="Calibri"/>
                <a:cs typeface="Calibri"/>
              </a:rPr>
              <a:t>prefijo</a:t>
            </a:r>
            <a:r>
              <a:rPr sz="2800" b="1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el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nombre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la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entidad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(p.e.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FF0000"/>
                </a:solidFill>
                <a:latin typeface="Calibri"/>
                <a:cs typeface="Calibri"/>
              </a:rPr>
              <a:t>cli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70C0"/>
                </a:solidFill>
                <a:latin typeface="Calibri"/>
                <a:cs typeface="Calibri"/>
              </a:rPr>
              <a:t>alm</a:t>
            </a:r>
            <a:r>
              <a:rPr sz="2800" spc="-10" dirty="0">
                <a:latin typeface="Calibri"/>
                <a:cs typeface="Calibri"/>
              </a:rPr>
              <a:t>):</a:t>
            </a:r>
            <a:endParaRPr sz="2800">
              <a:latin typeface="Calibri"/>
              <a:cs typeface="Calibri"/>
            </a:endParaRPr>
          </a:p>
          <a:p>
            <a:pPr marL="1154430" lvl="2" indent="-227329">
              <a:lnSpc>
                <a:spcPct val="100000"/>
              </a:lnSpc>
              <a:spcBef>
                <a:spcPts val="260"/>
              </a:spcBef>
              <a:buClr>
                <a:srgbClr val="E75C01"/>
              </a:buClr>
              <a:buFont typeface="Arial"/>
              <a:buChar char="•"/>
              <a:tabLst>
                <a:tab pos="1154430" algn="l"/>
              </a:tabLst>
            </a:pP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cli1.</a:t>
            </a:r>
            <a:r>
              <a:rPr sz="2400" spc="-10" dirty="0">
                <a:latin typeface="Calibri"/>
                <a:cs typeface="Calibri"/>
              </a:rPr>
              <a:t>NúmerodeCuenta,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cli1.</a:t>
            </a:r>
            <a:r>
              <a:rPr sz="2400" dirty="0">
                <a:latin typeface="Calibri"/>
                <a:cs typeface="Calibri"/>
              </a:rPr>
              <a:t>Nombre,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cli1.</a:t>
            </a:r>
            <a:r>
              <a:rPr sz="2400" spc="-10" dirty="0">
                <a:latin typeface="Calibri"/>
                <a:cs typeface="Calibri"/>
              </a:rPr>
              <a:t>Dirección</a:t>
            </a:r>
            <a:endParaRPr sz="2400">
              <a:latin typeface="Calibri"/>
              <a:cs typeface="Calibri"/>
            </a:endParaRPr>
          </a:p>
          <a:p>
            <a:pPr marL="1153795" lvl="2" indent="-227329">
              <a:lnSpc>
                <a:spcPct val="100000"/>
              </a:lnSpc>
              <a:spcBef>
                <a:spcPts val="290"/>
              </a:spcBef>
              <a:buClr>
                <a:srgbClr val="E75C01"/>
              </a:buClr>
              <a:buFont typeface="Arial"/>
              <a:buChar char="•"/>
              <a:tabLst>
                <a:tab pos="1153795" algn="l"/>
              </a:tabLst>
            </a:pP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cli2.</a:t>
            </a:r>
            <a:r>
              <a:rPr sz="2400" spc="-10" dirty="0">
                <a:latin typeface="Calibri"/>
                <a:cs typeface="Calibri"/>
              </a:rPr>
              <a:t>NúmerodeCuenta,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cli2.</a:t>
            </a:r>
            <a:r>
              <a:rPr sz="2400" dirty="0">
                <a:latin typeface="Calibri"/>
                <a:cs typeface="Calibri"/>
              </a:rPr>
              <a:t>Nombre,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cli2.</a:t>
            </a:r>
            <a:r>
              <a:rPr sz="2400" spc="-10" dirty="0">
                <a:latin typeface="Calibri"/>
                <a:cs typeface="Calibri"/>
              </a:rPr>
              <a:t>Dirección</a:t>
            </a:r>
            <a:endParaRPr sz="2400">
              <a:latin typeface="Calibri"/>
              <a:cs typeface="Calibri"/>
            </a:endParaRPr>
          </a:p>
          <a:p>
            <a:pPr marL="1153795" lvl="2" indent="-227329">
              <a:lnSpc>
                <a:spcPct val="100000"/>
              </a:lnSpc>
              <a:spcBef>
                <a:spcPts val="285"/>
              </a:spcBef>
              <a:buClr>
                <a:srgbClr val="E75C01"/>
              </a:buClr>
              <a:buFont typeface="Arial"/>
              <a:buChar char="•"/>
              <a:tabLst>
                <a:tab pos="1153795" algn="l"/>
              </a:tabLst>
            </a:pPr>
            <a:r>
              <a:rPr sz="2400" spc="-10" dirty="0">
                <a:solidFill>
                  <a:srgbClr val="0070C0"/>
                </a:solidFill>
                <a:latin typeface="Calibri"/>
                <a:cs typeface="Calibri"/>
              </a:rPr>
              <a:t>alm1.</a:t>
            </a:r>
            <a:r>
              <a:rPr sz="2400" spc="-10" dirty="0">
                <a:latin typeface="Calibri"/>
                <a:cs typeface="Calibri"/>
              </a:rPr>
              <a:t>Número,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70C0"/>
                </a:solidFill>
                <a:latin typeface="Calibri"/>
                <a:cs typeface="Calibri"/>
              </a:rPr>
              <a:t>alm1.</a:t>
            </a:r>
            <a:r>
              <a:rPr sz="2400" spc="-10" dirty="0">
                <a:latin typeface="Calibri"/>
                <a:cs typeface="Calibri"/>
              </a:rPr>
              <a:t>Dirección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06851"/>
            <a:ext cx="8072120" cy="436562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09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Claves</a:t>
            </a:r>
            <a:endParaRPr sz="3200">
              <a:latin typeface="Calibri"/>
              <a:cs typeface="Calibri"/>
            </a:endParaRPr>
          </a:p>
          <a:p>
            <a:pPr marL="754380" marR="5080" lvl="1" indent="-285115" algn="just">
              <a:lnSpc>
                <a:spcPts val="3030"/>
              </a:lnSpc>
              <a:spcBef>
                <a:spcPts val="730"/>
              </a:spcBef>
              <a:buClr>
                <a:srgbClr val="E75C01"/>
              </a:buClr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Las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claves</a:t>
            </a:r>
            <a:r>
              <a:rPr sz="2800" b="1" spc="22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deben</a:t>
            </a:r>
            <a:r>
              <a:rPr sz="2800" b="1" spc="2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ser</a:t>
            </a:r>
            <a:r>
              <a:rPr sz="2800" b="1" spc="2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únicas</a:t>
            </a:r>
            <a:r>
              <a:rPr sz="2800" b="1" spc="22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dentro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2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mismo 	</a:t>
            </a:r>
            <a:r>
              <a:rPr sz="2800" b="1" dirty="0">
                <a:latin typeface="Calibri"/>
                <a:cs typeface="Calibri"/>
              </a:rPr>
              <a:t>espacio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3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nombres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754380" marR="6350" lvl="1" indent="-285115" algn="just">
              <a:lnSpc>
                <a:spcPts val="3030"/>
              </a:lnSpc>
              <a:spcBef>
                <a:spcPts val="66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800" dirty="0">
                <a:latin typeface="Calibri"/>
                <a:cs typeface="Calibri"/>
              </a:rPr>
              <a:t>Un</a:t>
            </a:r>
            <a:r>
              <a:rPr sz="2800" spc="5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espacio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nombres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</a:t>
            </a:r>
            <a:r>
              <a:rPr sz="2800" spc="5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podría</a:t>
            </a:r>
            <a:r>
              <a:rPr sz="2800" spc="5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corresponder 	</a:t>
            </a:r>
            <a:r>
              <a:rPr sz="2800" dirty="0">
                <a:latin typeface="Calibri"/>
                <a:cs typeface="Calibri"/>
              </a:rPr>
              <a:t>con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una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datos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completa.</a:t>
            </a:r>
            <a:endParaRPr sz="2800">
              <a:latin typeface="Calibri"/>
              <a:cs typeface="Calibri"/>
            </a:endParaRPr>
          </a:p>
          <a:p>
            <a:pPr marL="754380" marR="5715" lvl="1" indent="-285115" algn="just">
              <a:lnSpc>
                <a:spcPts val="3030"/>
              </a:lnSpc>
              <a:spcBef>
                <a:spcPts val="660"/>
              </a:spcBef>
              <a:buClr>
                <a:srgbClr val="E75C01"/>
              </a:buClr>
              <a:buFont typeface="Arial"/>
              <a:buChar char="–"/>
              <a:tabLst>
                <a:tab pos="755650" algn="l"/>
              </a:tabLst>
            </a:pPr>
            <a:r>
              <a:rPr sz="2800" dirty="0">
                <a:latin typeface="Calibri"/>
                <a:cs typeface="Calibri"/>
              </a:rPr>
              <a:t>Algunas</a:t>
            </a:r>
            <a:r>
              <a:rPr sz="2800" spc="5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Bases</a:t>
            </a:r>
            <a:r>
              <a:rPr sz="2800" spc="5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Datos</a:t>
            </a:r>
            <a:r>
              <a:rPr sz="2800" spc="5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Clave-</a:t>
            </a:r>
            <a:r>
              <a:rPr sz="2800" dirty="0">
                <a:latin typeface="Calibri"/>
                <a:cs typeface="Calibri"/>
              </a:rPr>
              <a:t>Valor</a:t>
            </a:r>
            <a:r>
              <a:rPr sz="2800" spc="5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permiten</a:t>
            </a:r>
            <a:r>
              <a:rPr sz="2800" spc="52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la 	</a:t>
            </a:r>
            <a:r>
              <a:rPr sz="2800" dirty="0">
                <a:latin typeface="Calibri"/>
                <a:cs typeface="Calibri"/>
              </a:rPr>
              <a:t>existencia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</a:t>
            </a:r>
            <a:r>
              <a:rPr sz="2800" spc="5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varios</a:t>
            </a:r>
            <a:r>
              <a:rPr sz="2800" b="1" spc="5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espacios</a:t>
            </a:r>
            <a:r>
              <a:rPr sz="2800" b="1" spc="52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509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nombres</a:t>
            </a:r>
            <a:r>
              <a:rPr sz="2800" b="1" spc="5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</a:t>
            </a:r>
            <a:r>
              <a:rPr sz="2800" spc="509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la 	</a:t>
            </a:r>
            <a:r>
              <a:rPr sz="2800" b="1" dirty="0">
                <a:latin typeface="Calibri"/>
                <a:cs typeface="Calibri"/>
              </a:rPr>
              <a:t>misma</a:t>
            </a:r>
            <a:r>
              <a:rPr sz="2800" b="1" spc="-4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base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-3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datos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1016000" indent="-546735" algn="just">
              <a:lnSpc>
                <a:spcPts val="3180"/>
              </a:lnSpc>
              <a:spcBef>
                <a:spcPts val="300"/>
              </a:spcBef>
              <a:buFont typeface="Wingdings"/>
              <a:buChar char=""/>
              <a:tabLst>
                <a:tab pos="1016000" algn="l"/>
              </a:tabLst>
            </a:pPr>
            <a:r>
              <a:rPr sz="2800" dirty="0">
                <a:latin typeface="Calibri"/>
                <a:cs typeface="Calibri"/>
              </a:rPr>
              <a:t>Similar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los</a:t>
            </a:r>
            <a:r>
              <a:rPr sz="2800" spc="254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esquemas</a:t>
            </a:r>
            <a:r>
              <a:rPr sz="2800" b="1" spc="254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en</a:t>
            </a:r>
            <a:r>
              <a:rPr sz="2800" b="1" spc="254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bases</a:t>
            </a:r>
            <a:r>
              <a:rPr sz="2800" b="1" spc="260" dirty="0">
                <a:latin typeface="Calibri"/>
                <a:cs typeface="Calibri"/>
              </a:rPr>
              <a:t>  </a:t>
            </a:r>
            <a:r>
              <a:rPr sz="2800" b="1" dirty="0">
                <a:latin typeface="Calibri"/>
                <a:cs typeface="Calibri"/>
              </a:rPr>
              <a:t>de</a:t>
            </a:r>
            <a:r>
              <a:rPr sz="2800" b="1" spc="254" dirty="0">
                <a:latin typeface="Calibri"/>
                <a:cs typeface="Calibri"/>
              </a:rPr>
              <a:t>  </a:t>
            </a:r>
            <a:r>
              <a:rPr sz="2800" b="1" spc="-10" dirty="0">
                <a:latin typeface="Calibri"/>
                <a:cs typeface="Calibri"/>
              </a:rPr>
              <a:t>datos</a:t>
            </a:r>
            <a:endParaRPr sz="2800">
              <a:latin typeface="Calibri"/>
              <a:cs typeface="Calibri"/>
            </a:endParaRPr>
          </a:p>
          <a:p>
            <a:pPr marL="996950">
              <a:lnSpc>
                <a:spcPts val="3180"/>
              </a:lnSpc>
            </a:pPr>
            <a:r>
              <a:rPr sz="2800" spc="-10" dirty="0">
                <a:latin typeface="Calibri"/>
                <a:cs typeface="Calibri"/>
              </a:rPr>
              <a:t>relacionales.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2073" y="2952750"/>
            <a:ext cx="94678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31366" y="3132874"/>
            <a:ext cx="510540" cy="76200"/>
            <a:chOff x="1531366" y="3132874"/>
            <a:chExt cx="510540" cy="76200"/>
          </a:xfrm>
        </p:grpSpPr>
        <p:sp>
          <p:nvSpPr>
            <p:cNvPr id="5" name="object 5"/>
            <p:cNvSpPr/>
            <p:nvPr/>
          </p:nvSpPr>
          <p:spPr>
            <a:xfrm>
              <a:off x="1537716" y="3168395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89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65350" y="3132874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041398" y="2955798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5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2073" y="3580638"/>
            <a:ext cx="94678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31366" y="3760761"/>
            <a:ext cx="510540" cy="76200"/>
            <a:chOff x="1531366" y="3760761"/>
            <a:chExt cx="510540" cy="76200"/>
          </a:xfrm>
        </p:grpSpPr>
        <p:sp>
          <p:nvSpPr>
            <p:cNvPr id="10" name="object 10"/>
            <p:cNvSpPr/>
            <p:nvPr/>
          </p:nvSpPr>
          <p:spPr>
            <a:xfrm>
              <a:off x="1537716" y="3796283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89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65350" y="3760761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41398" y="3583685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2073" y="4190238"/>
            <a:ext cx="94678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531366" y="4370361"/>
            <a:ext cx="510540" cy="76200"/>
            <a:chOff x="1531366" y="4370361"/>
            <a:chExt cx="510540" cy="76200"/>
          </a:xfrm>
        </p:grpSpPr>
        <p:sp>
          <p:nvSpPr>
            <p:cNvPr id="15" name="object 15"/>
            <p:cNvSpPr/>
            <p:nvPr/>
          </p:nvSpPr>
          <p:spPr>
            <a:xfrm>
              <a:off x="1537716" y="4405883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89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65350" y="4370361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41398" y="4193285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2073" y="5365241"/>
            <a:ext cx="94678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22555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31366" y="5545366"/>
            <a:ext cx="510540" cy="76200"/>
            <a:chOff x="1531366" y="5545366"/>
            <a:chExt cx="510540" cy="76200"/>
          </a:xfrm>
        </p:grpSpPr>
        <p:sp>
          <p:nvSpPr>
            <p:cNvPr id="20" name="object 20"/>
            <p:cNvSpPr/>
            <p:nvPr/>
          </p:nvSpPr>
          <p:spPr>
            <a:xfrm>
              <a:off x="1537716" y="5580888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89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65350" y="554536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457" y="0"/>
                  </a:moveTo>
                  <a:lnTo>
                    <a:pt x="0" y="76199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41398" y="5368290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5677" y="4787138"/>
            <a:ext cx="104775" cy="403860"/>
            <a:chOff x="725677" y="4787138"/>
            <a:chExt cx="104775" cy="40386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677" y="4787138"/>
              <a:ext cx="104647" cy="9855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677" y="4939538"/>
              <a:ext cx="104647" cy="9855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5677" y="5091938"/>
              <a:ext cx="104647" cy="9855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460957" y="2438666"/>
            <a:ext cx="6502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Ventas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45262" y="2409698"/>
            <a:ext cx="2689860" cy="3622040"/>
            <a:chOff x="445262" y="2409698"/>
            <a:chExt cx="2689860" cy="3622040"/>
          </a:xfrm>
        </p:grpSpPr>
        <p:sp>
          <p:nvSpPr>
            <p:cNvPr id="29" name="object 29"/>
            <p:cNvSpPr/>
            <p:nvPr/>
          </p:nvSpPr>
          <p:spPr>
            <a:xfrm>
              <a:off x="457962" y="2422398"/>
              <a:ext cx="2664460" cy="3596640"/>
            </a:xfrm>
            <a:custGeom>
              <a:avLst/>
              <a:gdLst/>
              <a:ahLst/>
              <a:cxnLst/>
              <a:rect l="l" t="t" r="r" b="b"/>
              <a:pathLst>
                <a:path w="2664460" h="3596640">
                  <a:moveTo>
                    <a:pt x="2663952" y="0"/>
                  </a:moveTo>
                  <a:lnTo>
                    <a:pt x="0" y="0"/>
                  </a:lnTo>
                  <a:lnTo>
                    <a:pt x="0" y="3596640"/>
                  </a:lnTo>
                  <a:lnTo>
                    <a:pt x="2663952" y="3596640"/>
                  </a:lnTo>
                  <a:lnTo>
                    <a:pt x="2663952" y="0"/>
                  </a:lnTo>
                  <a:close/>
                </a:path>
              </a:pathLst>
            </a:custGeom>
            <a:solidFill>
              <a:srgbClr val="FFCFA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7962" y="2422398"/>
              <a:ext cx="2664460" cy="3596640"/>
            </a:xfrm>
            <a:custGeom>
              <a:avLst/>
              <a:gdLst/>
              <a:ahLst/>
              <a:cxnLst/>
              <a:rect l="l" t="t" r="r" b="b"/>
              <a:pathLst>
                <a:path w="2664460" h="3596640">
                  <a:moveTo>
                    <a:pt x="0" y="0"/>
                  </a:moveTo>
                  <a:lnTo>
                    <a:pt x="2663952" y="0"/>
                  </a:lnTo>
                  <a:lnTo>
                    <a:pt x="2663952" y="3596640"/>
                  </a:lnTo>
                  <a:lnTo>
                    <a:pt x="0" y="359664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BB6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56197" y="2952750"/>
            <a:ext cx="94805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097014" y="3132874"/>
            <a:ext cx="510540" cy="76200"/>
            <a:chOff x="7097014" y="3132874"/>
            <a:chExt cx="510540" cy="76200"/>
          </a:xfrm>
        </p:grpSpPr>
        <p:sp>
          <p:nvSpPr>
            <p:cNvPr id="33" name="object 33"/>
            <p:cNvSpPr/>
            <p:nvPr/>
          </p:nvSpPr>
          <p:spPr>
            <a:xfrm>
              <a:off x="7103364" y="3168395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90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530998" y="3132874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607045" y="2955798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5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56197" y="3580638"/>
            <a:ext cx="94805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097014" y="3760761"/>
            <a:ext cx="510540" cy="76200"/>
            <a:chOff x="7097014" y="3760761"/>
            <a:chExt cx="510540" cy="76200"/>
          </a:xfrm>
        </p:grpSpPr>
        <p:sp>
          <p:nvSpPr>
            <p:cNvPr id="38" name="object 38"/>
            <p:cNvSpPr/>
            <p:nvPr/>
          </p:nvSpPr>
          <p:spPr>
            <a:xfrm>
              <a:off x="7103364" y="3796283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90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30998" y="3760761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607045" y="3583685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156197" y="4190238"/>
            <a:ext cx="94805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097014" y="4370361"/>
            <a:ext cx="510540" cy="76200"/>
            <a:chOff x="7097014" y="4370361"/>
            <a:chExt cx="510540" cy="76200"/>
          </a:xfrm>
        </p:grpSpPr>
        <p:sp>
          <p:nvSpPr>
            <p:cNvPr id="43" name="object 43"/>
            <p:cNvSpPr/>
            <p:nvPr/>
          </p:nvSpPr>
          <p:spPr>
            <a:xfrm>
              <a:off x="7103364" y="4405883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90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530998" y="4370361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607045" y="4193285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156197" y="5365241"/>
            <a:ext cx="94805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23825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097014" y="5545366"/>
            <a:ext cx="510540" cy="76200"/>
            <a:chOff x="7097014" y="5545366"/>
            <a:chExt cx="510540" cy="76200"/>
          </a:xfrm>
        </p:grpSpPr>
        <p:sp>
          <p:nvSpPr>
            <p:cNvPr id="48" name="object 48"/>
            <p:cNvSpPr/>
            <p:nvPr/>
          </p:nvSpPr>
          <p:spPr>
            <a:xfrm>
              <a:off x="7103364" y="5580888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90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30998" y="554536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4" h="76200">
                  <a:moveTo>
                    <a:pt x="457" y="0"/>
                  </a:moveTo>
                  <a:lnTo>
                    <a:pt x="0" y="76199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7607045" y="5368290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291326" y="4787138"/>
            <a:ext cx="104775" cy="403860"/>
            <a:chOff x="6291326" y="4787138"/>
            <a:chExt cx="104775" cy="403860"/>
          </a:xfrm>
        </p:grpSpPr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1326" y="4787138"/>
              <a:ext cx="104648" cy="98551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1326" y="4939538"/>
              <a:ext cx="104648" cy="98551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1326" y="5091938"/>
              <a:ext cx="104648" cy="98551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6054839" y="2438666"/>
            <a:ext cx="2588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Descripciones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Productos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010909" y="2409698"/>
            <a:ext cx="2689860" cy="3622040"/>
            <a:chOff x="6010909" y="2409698"/>
            <a:chExt cx="2689860" cy="3622040"/>
          </a:xfrm>
        </p:grpSpPr>
        <p:sp>
          <p:nvSpPr>
            <p:cNvPr id="57" name="object 57"/>
            <p:cNvSpPr/>
            <p:nvPr/>
          </p:nvSpPr>
          <p:spPr>
            <a:xfrm>
              <a:off x="6023609" y="2422398"/>
              <a:ext cx="2664460" cy="3596640"/>
            </a:xfrm>
            <a:custGeom>
              <a:avLst/>
              <a:gdLst/>
              <a:ahLst/>
              <a:cxnLst/>
              <a:rect l="l" t="t" r="r" b="b"/>
              <a:pathLst>
                <a:path w="2664459" h="3596640">
                  <a:moveTo>
                    <a:pt x="2663951" y="0"/>
                  </a:moveTo>
                  <a:lnTo>
                    <a:pt x="0" y="0"/>
                  </a:lnTo>
                  <a:lnTo>
                    <a:pt x="0" y="3596640"/>
                  </a:lnTo>
                  <a:lnTo>
                    <a:pt x="2663951" y="3596640"/>
                  </a:lnTo>
                  <a:lnTo>
                    <a:pt x="2663951" y="0"/>
                  </a:lnTo>
                  <a:close/>
                </a:path>
              </a:pathLst>
            </a:custGeom>
            <a:solidFill>
              <a:srgbClr val="FFCFA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6023609" y="2422398"/>
              <a:ext cx="2664460" cy="3596640"/>
            </a:xfrm>
            <a:custGeom>
              <a:avLst/>
              <a:gdLst/>
              <a:ahLst/>
              <a:cxnLst/>
              <a:rect l="l" t="t" r="r" b="b"/>
              <a:pathLst>
                <a:path w="2664459" h="3596640">
                  <a:moveTo>
                    <a:pt x="0" y="0"/>
                  </a:moveTo>
                  <a:lnTo>
                    <a:pt x="2663951" y="0"/>
                  </a:lnTo>
                  <a:lnTo>
                    <a:pt x="2663951" y="3596640"/>
                  </a:lnTo>
                  <a:lnTo>
                    <a:pt x="0" y="359664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BB6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3390138" y="2952750"/>
            <a:ext cx="94678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5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329429" y="3132874"/>
            <a:ext cx="510540" cy="76200"/>
            <a:chOff x="4329429" y="3132874"/>
            <a:chExt cx="510540" cy="76200"/>
          </a:xfrm>
        </p:grpSpPr>
        <p:sp>
          <p:nvSpPr>
            <p:cNvPr id="61" name="object 61"/>
            <p:cNvSpPr/>
            <p:nvPr/>
          </p:nvSpPr>
          <p:spPr>
            <a:xfrm>
              <a:off x="4335779" y="3168395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89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763414" y="3132874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4840985" y="2955798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3500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5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390138" y="3580638"/>
            <a:ext cx="94678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4329429" y="3760761"/>
            <a:ext cx="510540" cy="76200"/>
            <a:chOff x="4329429" y="3760761"/>
            <a:chExt cx="510540" cy="76200"/>
          </a:xfrm>
        </p:grpSpPr>
        <p:sp>
          <p:nvSpPr>
            <p:cNvPr id="66" name="object 66"/>
            <p:cNvSpPr/>
            <p:nvPr/>
          </p:nvSpPr>
          <p:spPr>
            <a:xfrm>
              <a:off x="4335779" y="3796283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89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763414" y="3760761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4840985" y="3583685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390138" y="4190238"/>
            <a:ext cx="94678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39700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4329429" y="4370361"/>
            <a:ext cx="510540" cy="76200"/>
            <a:chOff x="4329429" y="4370361"/>
            <a:chExt cx="510540" cy="76200"/>
          </a:xfrm>
        </p:grpSpPr>
        <p:sp>
          <p:nvSpPr>
            <p:cNvPr id="71" name="object 71"/>
            <p:cNvSpPr/>
            <p:nvPr/>
          </p:nvSpPr>
          <p:spPr>
            <a:xfrm>
              <a:off x="4335779" y="4405883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89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4763414" y="4370361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457" y="0"/>
                  </a:moveTo>
                  <a:lnTo>
                    <a:pt x="0" y="76200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4840985" y="4193285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390138" y="5365241"/>
            <a:ext cx="94678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23189">
              <a:lnSpc>
                <a:spcPct val="100000"/>
              </a:lnSpc>
              <a:spcBef>
                <a:spcPts val="49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4329429" y="5545366"/>
            <a:ext cx="510540" cy="76200"/>
            <a:chOff x="4329429" y="5545366"/>
            <a:chExt cx="510540" cy="76200"/>
          </a:xfrm>
        </p:grpSpPr>
        <p:sp>
          <p:nvSpPr>
            <p:cNvPr id="76" name="object 76"/>
            <p:cNvSpPr/>
            <p:nvPr/>
          </p:nvSpPr>
          <p:spPr>
            <a:xfrm>
              <a:off x="4335779" y="5580888"/>
              <a:ext cx="440690" cy="3175"/>
            </a:xfrm>
            <a:custGeom>
              <a:avLst/>
              <a:gdLst/>
              <a:ahLst/>
              <a:cxnLst/>
              <a:rect l="l" t="t" r="r" b="b"/>
              <a:pathLst>
                <a:path w="440689" h="3175">
                  <a:moveTo>
                    <a:pt x="0" y="0"/>
                  </a:moveTo>
                  <a:lnTo>
                    <a:pt x="440563" y="2654"/>
                  </a:lnTo>
                </a:path>
              </a:pathLst>
            </a:custGeom>
            <a:ln w="127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763414" y="5545366"/>
              <a:ext cx="76835" cy="76200"/>
            </a:xfrm>
            <a:custGeom>
              <a:avLst/>
              <a:gdLst/>
              <a:ahLst/>
              <a:cxnLst/>
              <a:rect l="l" t="t" r="r" b="b"/>
              <a:pathLst>
                <a:path w="76835" h="76200">
                  <a:moveTo>
                    <a:pt x="457" y="0"/>
                  </a:moveTo>
                  <a:lnTo>
                    <a:pt x="0" y="76199"/>
                  </a:lnTo>
                  <a:lnTo>
                    <a:pt x="76428" y="38557"/>
                  </a:lnTo>
                  <a:lnTo>
                    <a:pt x="457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4840985" y="5368290"/>
            <a:ext cx="864235" cy="433070"/>
          </a:xfrm>
          <a:prstGeom prst="rect">
            <a:avLst/>
          </a:prstGeom>
          <a:solidFill>
            <a:srgbClr val="FFCFAF">
              <a:alpha val="25097"/>
            </a:srgbClr>
          </a:solidFill>
          <a:ln w="25400">
            <a:solidFill>
              <a:srgbClr val="BB6126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90500">
              <a:lnSpc>
                <a:spcPct val="100000"/>
              </a:lnSpc>
              <a:spcBef>
                <a:spcPts val="4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Valor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525265" y="4787138"/>
            <a:ext cx="104775" cy="403860"/>
            <a:chOff x="3525265" y="4787138"/>
            <a:chExt cx="104775" cy="403860"/>
          </a:xfrm>
        </p:grpSpPr>
        <p:pic>
          <p:nvPicPr>
            <p:cNvPr id="80" name="object 8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5265" y="4787138"/>
              <a:ext cx="104648" cy="9855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5265" y="4939538"/>
              <a:ext cx="104648" cy="9855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25265" y="5091938"/>
              <a:ext cx="104648" cy="98551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4074680" y="2438666"/>
            <a:ext cx="970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Inventario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3243326" y="2409698"/>
            <a:ext cx="2691130" cy="3622040"/>
            <a:chOff x="3243326" y="2409698"/>
            <a:chExt cx="2691130" cy="3622040"/>
          </a:xfrm>
        </p:grpSpPr>
        <p:sp>
          <p:nvSpPr>
            <p:cNvPr id="85" name="object 85"/>
            <p:cNvSpPr/>
            <p:nvPr/>
          </p:nvSpPr>
          <p:spPr>
            <a:xfrm>
              <a:off x="3256026" y="2422398"/>
              <a:ext cx="2665730" cy="3596640"/>
            </a:xfrm>
            <a:custGeom>
              <a:avLst/>
              <a:gdLst/>
              <a:ahLst/>
              <a:cxnLst/>
              <a:rect l="l" t="t" r="r" b="b"/>
              <a:pathLst>
                <a:path w="2665729" h="3596640">
                  <a:moveTo>
                    <a:pt x="2665476" y="0"/>
                  </a:moveTo>
                  <a:lnTo>
                    <a:pt x="0" y="0"/>
                  </a:lnTo>
                  <a:lnTo>
                    <a:pt x="0" y="3596640"/>
                  </a:lnTo>
                  <a:lnTo>
                    <a:pt x="2665476" y="3596640"/>
                  </a:lnTo>
                  <a:lnTo>
                    <a:pt x="2665476" y="0"/>
                  </a:lnTo>
                  <a:close/>
                </a:path>
              </a:pathLst>
            </a:custGeom>
            <a:solidFill>
              <a:srgbClr val="FFCFAF">
                <a:alpha val="2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256026" y="2422398"/>
              <a:ext cx="2665730" cy="3596640"/>
            </a:xfrm>
            <a:custGeom>
              <a:avLst/>
              <a:gdLst/>
              <a:ahLst/>
              <a:cxnLst/>
              <a:rect l="l" t="t" r="r" b="b"/>
              <a:pathLst>
                <a:path w="2665729" h="3596640">
                  <a:moveTo>
                    <a:pt x="0" y="0"/>
                  </a:moveTo>
                  <a:lnTo>
                    <a:pt x="2665476" y="0"/>
                  </a:lnTo>
                  <a:lnTo>
                    <a:pt x="2665476" y="3596640"/>
                  </a:lnTo>
                  <a:lnTo>
                    <a:pt x="0" y="359664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BB6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535940" y="1716214"/>
            <a:ext cx="6469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Base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Clave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Valor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tres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espacios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de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nombres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diferentes</a:t>
            </a:r>
            <a:r>
              <a:rPr sz="1800" spc="-10" dirty="0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8" name="object 8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89" name="object 8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3000" spc="-10" dirty="0"/>
              <a:t>Valores</a:t>
            </a:r>
            <a:endParaRPr sz="3000"/>
          </a:p>
          <a:p>
            <a:pPr marL="756285" marR="5080" lvl="1" indent="-287020" algn="just">
              <a:lnSpc>
                <a:spcPts val="2500"/>
              </a:lnSpc>
              <a:spcBef>
                <a:spcPts val="61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Son</a:t>
            </a:r>
            <a:r>
              <a:rPr sz="2600" spc="3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datos</a:t>
            </a:r>
            <a:r>
              <a:rPr sz="2600" b="1" spc="3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3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</a:t>
            </a:r>
            <a:r>
              <a:rPr sz="2600" spc="3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almacenan</a:t>
            </a:r>
            <a:r>
              <a:rPr sz="2600" spc="3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</a:t>
            </a:r>
            <a:r>
              <a:rPr sz="2600" spc="3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</a:t>
            </a:r>
            <a:r>
              <a:rPr sz="2600" spc="3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claves.</a:t>
            </a:r>
            <a:r>
              <a:rPr sz="2600" spc="3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Pueden </a:t>
            </a:r>
            <a:r>
              <a:rPr sz="2600" dirty="0">
                <a:latin typeface="Calibri"/>
                <a:cs typeface="Calibri"/>
              </a:rPr>
              <a:t>ser</a:t>
            </a:r>
            <a:r>
              <a:rPr sz="2600" spc="45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cadenas</a:t>
            </a:r>
            <a:r>
              <a:rPr sz="2600" spc="45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45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caracteres,</a:t>
            </a:r>
            <a:r>
              <a:rPr sz="2600" spc="4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números,</a:t>
            </a:r>
            <a:r>
              <a:rPr sz="2600" spc="445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imágenes, </a:t>
            </a:r>
            <a:r>
              <a:rPr sz="2600" dirty="0">
                <a:latin typeface="Calibri"/>
                <a:cs typeface="Calibri"/>
              </a:rPr>
              <a:t>objetos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binarios…</a:t>
            </a:r>
            <a:endParaRPr sz="26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80000"/>
              </a:lnSpc>
              <a:spcBef>
                <a:spcPts val="63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Las</a:t>
            </a:r>
            <a:r>
              <a:rPr sz="2600" spc="6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Bases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Datos</a:t>
            </a:r>
            <a:r>
              <a:rPr sz="2600" spc="62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Clave-</a:t>
            </a:r>
            <a:r>
              <a:rPr sz="2600" dirty="0">
                <a:latin typeface="Calibri"/>
                <a:cs typeface="Calibri"/>
              </a:rPr>
              <a:t>Valor</a:t>
            </a:r>
            <a:r>
              <a:rPr sz="2600" spc="3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proporcionan</a:t>
            </a:r>
            <a:r>
              <a:rPr sz="2600" spc="6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63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los </a:t>
            </a:r>
            <a:r>
              <a:rPr sz="2600" dirty="0">
                <a:latin typeface="Calibri"/>
                <a:cs typeface="Calibri"/>
              </a:rPr>
              <a:t>desarrolladores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una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gran</a:t>
            </a:r>
            <a:r>
              <a:rPr sz="2600" b="1" spc="20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flexibilidad</a:t>
            </a:r>
            <a:r>
              <a:rPr sz="2600" b="1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204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almacenar </a:t>
            </a:r>
            <a:r>
              <a:rPr sz="2600" dirty="0">
                <a:latin typeface="Calibri"/>
                <a:cs typeface="Calibri"/>
              </a:rPr>
              <a:t>valores,</a:t>
            </a:r>
            <a:r>
              <a:rPr sz="2600" spc="434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con</a:t>
            </a:r>
            <a:r>
              <a:rPr sz="2600" spc="43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distintos</a:t>
            </a:r>
            <a:r>
              <a:rPr sz="2600" spc="44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tipos</a:t>
            </a:r>
            <a:r>
              <a:rPr sz="2600" spc="434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y</a:t>
            </a:r>
            <a:r>
              <a:rPr sz="2600" spc="434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tamaños.</a:t>
            </a:r>
            <a:r>
              <a:rPr sz="2600" spc="434" dirty="0">
                <a:latin typeface="Calibri"/>
                <a:cs typeface="Calibri"/>
              </a:rPr>
              <a:t> 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</a:t>
            </a:r>
            <a:r>
              <a:rPr sz="2600" b="1" spc="434" dirty="0">
                <a:latin typeface="Calibri"/>
                <a:cs typeface="Calibri"/>
              </a:rPr>
              <a:t>  </a:t>
            </a:r>
            <a:r>
              <a:rPr sz="2600" b="1" spc="-25" dirty="0">
                <a:latin typeface="Calibri"/>
                <a:cs typeface="Calibri"/>
              </a:rPr>
              <a:t>se </a:t>
            </a:r>
            <a:r>
              <a:rPr sz="2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comprueba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el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tipo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datos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los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valores.</a:t>
            </a:r>
            <a:endParaRPr sz="260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ts val="2500"/>
              </a:lnSpc>
              <a:spcBef>
                <a:spcPts val="60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600" dirty="0">
                <a:latin typeface="Calibri"/>
                <a:cs typeface="Calibri"/>
              </a:rPr>
              <a:t>Dado</a:t>
            </a:r>
            <a:r>
              <a:rPr sz="2600" spc="6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5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</a:t>
            </a:r>
            <a:r>
              <a:rPr sz="2600" spc="6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Bases</a:t>
            </a:r>
            <a:r>
              <a:rPr sz="2600" spc="6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5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Datos</a:t>
            </a:r>
            <a:r>
              <a:rPr sz="2600" spc="59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Clave-</a:t>
            </a:r>
            <a:r>
              <a:rPr sz="2600" dirty="0">
                <a:latin typeface="Calibri"/>
                <a:cs typeface="Calibri"/>
              </a:rPr>
              <a:t>Valor</a:t>
            </a:r>
            <a:r>
              <a:rPr sz="2600" spc="6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permiten </a:t>
            </a:r>
            <a:r>
              <a:rPr sz="2600" b="1" dirty="0">
                <a:latin typeface="Calibri"/>
                <a:cs typeface="Calibri"/>
              </a:rPr>
              <a:t>cualquier</a:t>
            </a:r>
            <a:r>
              <a:rPr sz="2600" b="1" spc="280" dirty="0">
                <a:latin typeface="Calibri"/>
                <a:cs typeface="Calibri"/>
              </a:rPr>
              <a:t>  </a:t>
            </a:r>
            <a:r>
              <a:rPr sz="2600" b="1" dirty="0">
                <a:latin typeface="Calibri"/>
                <a:cs typeface="Calibri"/>
              </a:rPr>
              <a:t>tipo</a:t>
            </a:r>
            <a:r>
              <a:rPr sz="2600" b="1" spc="265" dirty="0">
                <a:latin typeface="Calibri"/>
                <a:cs typeface="Calibri"/>
              </a:rPr>
              <a:t>  </a:t>
            </a:r>
            <a:r>
              <a:rPr sz="2600" b="1" dirty="0">
                <a:latin typeface="Calibri"/>
                <a:cs typeface="Calibri"/>
              </a:rPr>
              <a:t>de</a:t>
            </a:r>
            <a:r>
              <a:rPr sz="2600" b="1" spc="280" dirty="0">
                <a:latin typeface="Calibri"/>
                <a:cs typeface="Calibri"/>
              </a:rPr>
              <a:t>  </a:t>
            </a:r>
            <a:r>
              <a:rPr sz="2600" b="1" dirty="0">
                <a:latin typeface="Calibri"/>
                <a:cs typeface="Calibri"/>
              </a:rPr>
              <a:t>datos</a:t>
            </a:r>
            <a:r>
              <a:rPr sz="2600" dirty="0">
                <a:latin typeface="Calibri"/>
                <a:cs typeface="Calibri"/>
              </a:rPr>
              <a:t>,</a:t>
            </a:r>
            <a:r>
              <a:rPr sz="2600" spc="2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es</a:t>
            </a:r>
            <a:r>
              <a:rPr sz="2600" spc="28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importante</a:t>
            </a:r>
            <a:r>
              <a:rPr sz="2600" spc="27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270" dirty="0">
                <a:latin typeface="Calibri"/>
                <a:cs typeface="Calibri"/>
              </a:rPr>
              <a:t>  </a:t>
            </a:r>
            <a:r>
              <a:rPr sz="2600" spc="-25" dirty="0">
                <a:latin typeface="Calibri"/>
                <a:cs typeface="Calibri"/>
              </a:rPr>
              <a:t>los </a:t>
            </a:r>
            <a:r>
              <a:rPr sz="2600" dirty="0">
                <a:latin typeface="Calibri"/>
                <a:cs typeface="Calibri"/>
              </a:rPr>
              <a:t>desarrolladores</a:t>
            </a:r>
            <a:r>
              <a:rPr sz="2600" spc="1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implementen</a:t>
            </a:r>
            <a:r>
              <a:rPr sz="2600" spc="1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</a:t>
            </a:r>
            <a:r>
              <a:rPr sz="2600" spc="1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comprobaciones</a:t>
            </a:r>
            <a:r>
              <a:rPr sz="2600" b="1" spc="150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en </a:t>
            </a:r>
            <a:r>
              <a:rPr sz="2600" b="1" dirty="0">
                <a:latin typeface="Calibri"/>
                <a:cs typeface="Calibri"/>
              </a:rPr>
              <a:t>sus</a:t>
            </a:r>
            <a:r>
              <a:rPr sz="2600" b="1" spc="-2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aplicaciones</a:t>
            </a:r>
            <a:r>
              <a:rPr sz="2600" spc="-10" dirty="0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24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7208"/>
            <a:ext cx="8074659" cy="4537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700" b="1" dirty="0">
                <a:latin typeface="Calibri"/>
                <a:cs typeface="Calibri"/>
              </a:rPr>
              <a:t>Uso</a:t>
            </a:r>
            <a:r>
              <a:rPr sz="2700" b="1" spc="-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de</a:t>
            </a:r>
            <a:r>
              <a:rPr sz="2700" b="1" spc="1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BD</a:t>
            </a:r>
            <a:r>
              <a:rPr sz="2700" b="1" spc="-10" dirty="0">
                <a:latin typeface="Calibri"/>
                <a:cs typeface="Calibri"/>
              </a:rPr>
              <a:t> </a:t>
            </a:r>
            <a:r>
              <a:rPr sz="2700" b="1" spc="-25" dirty="0">
                <a:latin typeface="Calibri"/>
                <a:cs typeface="Calibri"/>
              </a:rPr>
              <a:t>Clave-</a:t>
            </a:r>
            <a:r>
              <a:rPr sz="2700" b="1" spc="-10" dirty="0">
                <a:latin typeface="Calibri"/>
                <a:cs typeface="Calibri"/>
              </a:rPr>
              <a:t>Valor:</a:t>
            </a:r>
            <a:endParaRPr sz="2700">
              <a:latin typeface="Calibri"/>
              <a:cs typeface="Calibri"/>
            </a:endParaRPr>
          </a:p>
          <a:p>
            <a:pPr marL="754380" marR="5080" lvl="1" indent="-285115" algn="just">
              <a:lnSpc>
                <a:spcPts val="2300"/>
              </a:lnSpc>
              <a:spcBef>
                <a:spcPts val="57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Cuando</a:t>
            </a:r>
            <a:r>
              <a:rPr sz="2400" spc="4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4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facilidad</a:t>
            </a:r>
            <a:r>
              <a:rPr sz="2400" b="1" spc="4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4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almacenamiento</a:t>
            </a:r>
            <a:r>
              <a:rPr sz="2400" b="1" spc="48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y</a:t>
            </a:r>
            <a:r>
              <a:rPr sz="2400" b="1" spc="4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recuperación 	</a:t>
            </a:r>
            <a:r>
              <a:rPr sz="2400" dirty="0">
                <a:latin typeface="Calibri"/>
                <a:cs typeface="Calibri"/>
              </a:rPr>
              <a:t>son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más</a:t>
            </a:r>
            <a:r>
              <a:rPr sz="2400" b="1" spc="11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importantes</a:t>
            </a:r>
            <a:r>
              <a:rPr sz="2400" b="1" spc="1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organización</a:t>
            </a:r>
            <a:r>
              <a:rPr sz="2400" b="1" i="1" spc="10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de</a:t>
            </a:r>
            <a:r>
              <a:rPr sz="2400" b="1" i="1" spc="11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los</a:t>
            </a:r>
            <a:r>
              <a:rPr sz="2400" b="1" i="1" spc="114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datos</a:t>
            </a:r>
            <a:r>
              <a:rPr sz="2400" b="1" i="1" spc="114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en 	</a:t>
            </a:r>
            <a:r>
              <a:rPr sz="2400" dirty="0">
                <a:latin typeface="Calibri"/>
                <a:cs typeface="Calibri"/>
              </a:rPr>
              <a:t>estructuras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más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complejas,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tablas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redes.</a:t>
            </a:r>
            <a:endParaRPr sz="2400">
              <a:latin typeface="Calibri"/>
              <a:cs typeface="Calibri"/>
            </a:endParaRPr>
          </a:p>
          <a:p>
            <a:pPr marL="754380" marR="5715" lvl="1" indent="-285115" algn="just">
              <a:lnSpc>
                <a:spcPts val="2300"/>
              </a:lnSpc>
              <a:spcBef>
                <a:spcPts val="59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Permite</a:t>
            </a:r>
            <a:r>
              <a:rPr sz="2400" spc="10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implementar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11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forma</a:t>
            </a:r>
            <a:r>
              <a:rPr sz="2400" spc="10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sencilla</a:t>
            </a:r>
            <a:r>
              <a:rPr sz="2400" spc="10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estructuras</a:t>
            </a:r>
            <a:r>
              <a:rPr sz="2400" spc="9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de 	</a:t>
            </a:r>
            <a:r>
              <a:rPr sz="2400" dirty="0">
                <a:latin typeface="Calibri"/>
                <a:cs typeface="Calibri"/>
              </a:rPr>
              <a:t>datos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similares</a:t>
            </a:r>
            <a:r>
              <a:rPr sz="2400" spc="3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tablas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utilizando</a:t>
            </a:r>
            <a:r>
              <a:rPr sz="2400" spc="3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una</a:t>
            </a:r>
            <a:r>
              <a:rPr sz="2400" spc="3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convención</a:t>
            </a:r>
            <a:r>
              <a:rPr sz="2400" b="1" spc="3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</a:t>
            </a:r>
            <a:r>
              <a:rPr sz="2400" b="1" spc="35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el 	</a:t>
            </a:r>
            <a:r>
              <a:rPr sz="2400" b="1" dirty="0">
                <a:latin typeface="Calibri"/>
                <a:cs typeface="Calibri"/>
              </a:rPr>
              <a:t>nombre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las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claves</a:t>
            </a:r>
            <a:r>
              <a:rPr sz="2400" spc="-1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731520" algn="just">
              <a:lnSpc>
                <a:spcPct val="100000"/>
              </a:lnSpc>
              <a:spcBef>
                <a:spcPts val="25"/>
              </a:spcBef>
            </a:pP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nombre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tabla:</a:t>
            </a:r>
            <a:r>
              <a:rPr sz="2400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valor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4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r>
              <a:rPr sz="24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primaria:</a:t>
            </a:r>
            <a:r>
              <a:rPr sz="24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0000"/>
                </a:solidFill>
                <a:latin typeface="Calibri"/>
                <a:cs typeface="Calibri"/>
              </a:rPr>
              <a:t>nombre</a:t>
            </a:r>
            <a:r>
              <a:rPr sz="24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Calibri"/>
                <a:cs typeface="Calibri"/>
              </a:rPr>
              <a:t>atributo</a:t>
            </a:r>
            <a:endParaRPr sz="2400">
              <a:latin typeface="Calibri"/>
              <a:cs typeface="Calibri"/>
            </a:endParaRPr>
          </a:p>
          <a:p>
            <a:pPr marL="925194" marR="4683125" indent="1270">
              <a:lnSpc>
                <a:spcPct val="100000"/>
              </a:lnSpc>
              <a:spcBef>
                <a:spcPts val="15"/>
              </a:spcBef>
            </a:pPr>
            <a:r>
              <a:rPr sz="2000" spc="-10" dirty="0">
                <a:latin typeface="Calibri"/>
                <a:cs typeface="Calibri"/>
              </a:rPr>
              <a:t>Cliente:00001:nombre Cliente:00001:apellido1 Cliente:00001:apellido2 Cliente:00001:dirección Cliente:00001:ciudad Cliente:00001:teléfono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pc="-10" dirty="0"/>
              <a:t>Diferencias</a:t>
            </a:r>
            <a:r>
              <a:rPr spc="-25" dirty="0"/>
              <a:t> </a:t>
            </a:r>
            <a:r>
              <a:rPr dirty="0"/>
              <a:t>entre</a:t>
            </a:r>
            <a:r>
              <a:rPr spc="-40" dirty="0"/>
              <a:t> </a:t>
            </a: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25" dirty="0"/>
              <a:t> Clave-</a:t>
            </a:r>
            <a:r>
              <a:rPr spc="-10" dirty="0"/>
              <a:t>Valor</a:t>
            </a:r>
            <a:r>
              <a:rPr spc="-25" dirty="0"/>
              <a:t> </a:t>
            </a:r>
            <a:r>
              <a:rPr dirty="0"/>
              <a:t>y</a:t>
            </a:r>
            <a:r>
              <a:rPr spc="-65" dirty="0"/>
              <a:t> </a:t>
            </a:r>
            <a:r>
              <a:rPr spc="-10" dirty="0"/>
              <a:t>Relacionales</a:t>
            </a:r>
          </a:p>
          <a:p>
            <a:pPr marL="753745" marR="5715" lvl="1" indent="-284480" algn="just">
              <a:lnSpc>
                <a:spcPct val="80000"/>
              </a:lnSpc>
              <a:spcBef>
                <a:spcPts val="489"/>
              </a:spcBef>
              <a:buClr>
                <a:srgbClr val="E75C01"/>
              </a:buClr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Las</a:t>
            </a:r>
            <a:r>
              <a:rPr sz="2000" spc="1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Bases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Clave-</a:t>
            </a:r>
            <a:r>
              <a:rPr sz="2000" dirty="0">
                <a:latin typeface="Calibri"/>
                <a:cs typeface="Calibri"/>
              </a:rPr>
              <a:t>Valor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modelan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sobre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principios</a:t>
            </a:r>
            <a:r>
              <a:rPr sz="2000" b="1" spc="130" dirty="0"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mínimos</a:t>
            </a:r>
            <a:r>
              <a:rPr sz="2000" b="1" spc="-10" dirty="0">
                <a:latin typeface="Calibri"/>
                <a:cs typeface="Calibri"/>
              </a:rPr>
              <a:t> 	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almacenar</a:t>
            </a:r>
            <a:r>
              <a:rPr sz="2000" b="1" spc="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</a:t>
            </a:r>
            <a:r>
              <a:rPr sz="2000" b="1" spc="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recuperar</a:t>
            </a:r>
            <a:r>
              <a:rPr sz="2000" b="1" spc="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datos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diferencia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Bases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Datos 	</a:t>
            </a:r>
            <a:r>
              <a:rPr sz="2000" dirty="0">
                <a:latin typeface="Calibri"/>
                <a:cs typeface="Calibri"/>
              </a:rPr>
              <a:t>Relacionales,</a:t>
            </a:r>
            <a:r>
              <a:rPr sz="2000" spc="21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no</a:t>
            </a:r>
            <a:r>
              <a:rPr sz="2000" b="1" spc="21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hay</a:t>
            </a:r>
            <a:r>
              <a:rPr sz="2000" b="1" spc="21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tablas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21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204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tanto</a:t>
            </a:r>
            <a:r>
              <a:rPr sz="2000" spc="21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21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existen</a:t>
            </a:r>
            <a:r>
              <a:rPr sz="2000" spc="220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propiedades 	</a:t>
            </a:r>
            <a:r>
              <a:rPr sz="2000" dirty="0">
                <a:latin typeface="Calibri"/>
                <a:cs typeface="Calibri"/>
              </a:rPr>
              <a:t>asociadas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tablas,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columnas</a:t>
            </a:r>
            <a:r>
              <a:rPr sz="2000" b="1" spc="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y</a:t>
            </a:r>
            <a:r>
              <a:rPr sz="2000" b="1" spc="9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restricciones</a:t>
            </a:r>
            <a:r>
              <a:rPr sz="2000" b="1" spc="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sobre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ellas.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No 	</a:t>
            </a:r>
            <a:r>
              <a:rPr sz="2000" dirty="0">
                <a:latin typeface="Calibri"/>
                <a:cs typeface="Calibri"/>
              </a:rPr>
              <a:t>son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necesarios</a:t>
            </a:r>
            <a:r>
              <a:rPr sz="2000" spc="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joins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tanto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hay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claves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ajenas.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</a:t>
            </a:r>
            <a:r>
              <a:rPr sz="2000" b="1" spc="10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soportan 	</a:t>
            </a:r>
            <a:r>
              <a:rPr sz="2000" b="1" dirty="0">
                <a:latin typeface="Calibri"/>
                <a:cs typeface="Calibri"/>
              </a:rPr>
              <a:t>un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lenguaje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consulta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rico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SQL.</a:t>
            </a:r>
            <a:endParaRPr sz="2000">
              <a:latin typeface="Calibri"/>
              <a:cs typeface="Calibri"/>
            </a:endParaRPr>
          </a:p>
          <a:p>
            <a:pPr marL="753745" marR="5080" lvl="1" indent="-284480" algn="just">
              <a:lnSpc>
                <a:spcPct val="8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Algunas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Clave-</a:t>
            </a:r>
            <a:r>
              <a:rPr sz="2000" spc="-10" dirty="0">
                <a:latin typeface="Calibri"/>
                <a:cs typeface="Calibri"/>
              </a:rPr>
              <a:t>Valor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soportan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espacios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nombres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separados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para 	</a:t>
            </a:r>
            <a:r>
              <a:rPr sz="2000" dirty="0">
                <a:latin typeface="Calibri"/>
                <a:cs typeface="Calibri"/>
              </a:rPr>
              <a:t>implementar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algo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análogo</a:t>
            </a:r>
            <a:r>
              <a:rPr sz="2000" b="1" spc="459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47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los</a:t>
            </a:r>
            <a:r>
              <a:rPr sz="2000" b="1" spc="4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esquemas</a:t>
            </a:r>
            <a:r>
              <a:rPr sz="2000" b="1" spc="48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4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Bases</a:t>
            </a:r>
            <a:r>
              <a:rPr sz="2000" spc="4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4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Datos 	</a:t>
            </a:r>
            <a:r>
              <a:rPr sz="2000" dirty="0">
                <a:latin typeface="Calibri"/>
                <a:cs typeface="Calibri"/>
              </a:rPr>
              <a:t>relacionales,</a:t>
            </a:r>
            <a:r>
              <a:rPr sz="2000" spc="4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especialmente</a:t>
            </a:r>
            <a:r>
              <a:rPr sz="2000" spc="47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cuando</a:t>
            </a:r>
            <a:r>
              <a:rPr sz="2000" spc="4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lo</a:t>
            </a:r>
            <a:r>
              <a:rPr sz="2000" spc="45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combinamos</a:t>
            </a:r>
            <a:r>
              <a:rPr sz="2000" spc="4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459" dirty="0">
                <a:latin typeface="Calibri"/>
                <a:cs typeface="Calibri"/>
              </a:rPr>
              <a:t>  </a:t>
            </a:r>
            <a:r>
              <a:rPr sz="2000" spc="-25" dirty="0">
                <a:latin typeface="Calibri"/>
                <a:cs typeface="Calibri"/>
              </a:rPr>
              <a:t>una 	</a:t>
            </a:r>
            <a:r>
              <a:rPr sz="2000" dirty="0">
                <a:latin typeface="Calibri"/>
                <a:cs typeface="Calibri"/>
              </a:rPr>
              <a:t>convención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nombres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clave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(p.e.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anteponiendo</a:t>
            </a:r>
            <a:r>
              <a:rPr sz="2000" spc="1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nombre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3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la 	</a:t>
            </a:r>
            <a:r>
              <a:rPr sz="2000" spc="-10" dirty="0">
                <a:latin typeface="Calibri"/>
                <a:cs typeface="Calibri"/>
              </a:rPr>
              <a:t>“entidad”)</a:t>
            </a:r>
            <a:endParaRPr sz="2000">
              <a:latin typeface="Calibri"/>
              <a:cs typeface="Calibri"/>
            </a:endParaRPr>
          </a:p>
          <a:p>
            <a:pPr marL="753745" marR="5080" lvl="1" indent="-284480" algn="just">
              <a:lnSpc>
                <a:spcPct val="8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–"/>
              <a:tabLst>
                <a:tab pos="755015" algn="l"/>
              </a:tabLst>
            </a:pPr>
            <a:r>
              <a:rPr sz="2000" dirty="0">
                <a:latin typeface="Calibri"/>
                <a:cs typeface="Calibri"/>
              </a:rPr>
              <a:t>Existen</a:t>
            </a:r>
            <a:r>
              <a:rPr sz="2000" spc="1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paralelismos</a:t>
            </a:r>
            <a:r>
              <a:rPr sz="2000" spc="1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entre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convención</a:t>
            </a:r>
            <a:r>
              <a:rPr sz="2000" b="1" spc="1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1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nombres</a:t>
            </a:r>
            <a:r>
              <a:rPr sz="2000" b="1" spc="1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1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claves</a:t>
            </a:r>
            <a:r>
              <a:rPr sz="2000" b="1" spc="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las 	</a:t>
            </a:r>
            <a:r>
              <a:rPr sz="2000" dirty="0">
                <a:latin typeface="Calibri"/>
                <a:cs typeface="Calibri"/>
              </a:rPr>
              <a:t>tablas,</a:t>
            </a:r>
            <a:r>
              <a:rPr sz="2000" spc="30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claves</a:t>
            </a:r>
            <a:r>
              <a:rPr sz="2000" spc="31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primarias</a:t>
            </a:r>
            <a:r>
              <a:rPr sz="2000" spc="31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31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columnas:</a:t>
            </a:r>
            <a:r>
              <a:rPr sz="2000" spc="31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30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clave</a:t>
            </a:r>
            <a:r>
              <a:rPr sz="2000" spc="310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‘cli123.dirección’ 	</a:t>
            </a:r>
            <a:r>
              <a:rPr sz="2000" dirty="0">
                <a:latin typeface="Calibri"/>
                <a:cs typeface="Calibri"/>
              </a:rPr>
              <a:t>equivaldría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tabla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CLI,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columna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llamada</a:t>
            </a:r>
            <a:r>
              <a:rPr sz="2000" spc="1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Dirección</a:t>
            </a:r>
            <a:r>
              <a:rPr sz="2000" spc="1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un 	</a:t>
            </a:r>
            <a:r>
              <a:rPr sz="2000" spc="-10" dirty="0">
                <a:latin typeface="Calibri"/>
                <a:cs typeface="Calibri"/>
              </a:rPr>
              <a:t>identificador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(clave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primaria)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123.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4955" y="1866900"/>
            <a:ext cx="4514088" cy="312420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8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10" dirty="0"/>
              <a:t>Valor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6540"/>
            <a:ext cx="6591300" cy="124714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54965" marR="5080" indent="-342900">
              <a:lnSpc>
                <a:spcPct val="80000"/>
              </a:lnSpc>
              <a:spcBef>
                <a:spcPts val="82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  <a:tab pos="891540" algn="l"/>
                <a:tab pos="2259965" algn="l"/>
                <a:tab pos="3070860" algn="l"/>
                <a:tab pos="4845050" algn="l"/>
                <a:tab pos="5661660" algn="l"/>
              </a:tabLst>
            </a:pPr>
            <a:r>
              <a:rPr sz="3000" spc="-25" dirty="0">
                <a:latin typeface="Calibri"/>
                <a:cs typeface="Calibri"/>
              </a:rPr>
              <a:t>Al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diseñar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una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10" dirty="0">
                <a:latin typeface="Calibri"/>
                <a:cs typeface="Calibri"/>
              </a:rPr>
              <a:t>aplicación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que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0" dirty="0">
                <a:latin typeface="Calibri"/>
                <a:cs typeface="Calibri"/>
              </a:rPr>
              <a:t>utiliza Clave-</a:t>
            </a:r>
            <a:r>
              <a:rPr sz="3000" spc="-75" dirty="0">
                <a:latin typeface="Calibri"/>
                <a:cs typeface="Calibri"/>
              </a:rPr>
              <a:t>Valor,</a:t>
            </a:r>
            <a:r>
              <a:rPr sz="3000" spc="-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hay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que</a:t>
            </a:r>
            <a:r>
              <a:rPr sz="3000" spc="-4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tener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en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cuenta:</a:t>
            </a:r>
            <a:endParaRPr sz="3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5"/>
              </a:spcBef>
            </a:pPr>
            <a:r>
              <a:rPr sz="2600" dirty="0">
                <a:solidFill>
                  <a:srgbClr val="E75C01"/>
                </a:solidFill>
                <a:latin typeface="Arial"/>
                <a:cs typeface="Arial"/>
              </a:rPr>
              <a:t>–</a:t>
            </a:r>
            <a:r>
              <a:rPr sz="2600" spc="60" dirty="0">
                <a:solidFill>
                  <a:srgbClr val="E75C01"/>
                </a:solidFill>
                <a:latin typeface="Arial"/>
                <a:cs typeface="Arial"/>
              </a:rPr>
              <a:t> </a:t>
            </a:r>
            <a:r>
              <a:rPr sz="2600" dirty="0">
                <a:latin typeface="Calibri"/>
                <a:cs typeface="Calibri"/>
              </a:rPr>
              <a:t>Cómo</a:t>
            </a:r>
            <a:r>
              <a:rPr sz="2600" spc="-10" dirty="0">
                <a:latin typeface="Calibri"/>
                <a:cs typeface="Calibri"/>
              </a:rPr>
              <a:t> estructurar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claves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29931" y="1526540"/>
            <a:ext cx="12750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2960" algn="l"/>
              </a:tabLst>
            </a:pPr>
            <a:r>
              <a:rPr sz="3000" spc="-25" dirty="0">
                <a:latin typeface="Calibri"/>
                <a:cs typeface="Calibri"/>
              </a:rPr>
              <a:t>una</a:t>
            </a:r>
            <a:r>
              <a:rPr sz="3000" dirty="0">
                <a:latin typeface="Calibri"/>
                <a:cs typeface="Calibri"/>
              </a:rPr>
              <a:t>	</a:t>
            </a:r>
            <a:r>
              <a:rPr sz="3000" spc="-25" dirty="0">
                <a:latin typeface="Calibri"/>
                <a:cs typeface="Calibri"/>
              </a:rPr>
              <a:t>BD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2750311"/>
            <a:ext cx="7615555" cy="324231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697230" marR="6985" indent="-227965" algn="just">
              <a:lnSpc>
                <a:spcPts val="2110"/>
              </a:lnSpc>
              <a:spcBef>
                <a:spcPts val="605"/>
              </a:spcBef>
              <a:buClr>
                <a:srgbClr val="E75C01"/>
              </a:buClr>
              <a:buFont typeface="Arial"/>
              <a:buChar char="•"/>
              <a:tabLst>
                <a:tab pos="698500" algn="l"/>
              </a:tabLst>
            </a:pPr>
            <a:r>
              <a:rPr sz="2200" b="1" dirty="0">
                <a:latin typeface="Calibri"/>
                <a:cs typeface="Calibri"/>
              </a:rPr>
              <a:t>Claves</a:t>
            </a:r>
            <a:r>
              <a:rPr sz="2200" b="1" spc="3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bien</a:t>
            </a:r>
            <a:r>
              <a:rPr sz="2200" b="1" spc="3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diseñadas</a:t>
            </a:r>
            <a:r>
              <a:rPr sz="2200" b="1" spc="3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pueden</a:t>
            </a:r>
            <a:r>
              <a:rPr sz="2200" spc="3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hacer</a:t>
            </a:r>
            <a:r>
              <a:rPr sz="2200" spc="3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que</a:t>
            </a:r>
            <a:r>
              <a:rPr sz="2200" spc="3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el</a:t>
            </a:r>
            <a:r>
              <a:rPr sz="2200" spc="3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código</a:t>
            </a:r>
            <a:r>
              <a:rPr sz="2200" spc="3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3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las 	</a:t>
            </a:r>
            <a:r>
              <a:rPr sz="2200" dirty="0">
                <a:latin typeface="Calibri"/>
                <a:cs typeface="Calibri"/>
              </a:rPr>
              <a:t>aplicaciones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sea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más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legible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y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mantenible</a:t>
            </a:r>
            <a:r>
              <a:rPr sz="2200" spc="-10" dirty="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Clr>
                <a:srgbClr val="E75C01"/>
              </a:buClr>
              <a:buFont typeface="Arial"/>
              <a:buChar char="–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Qué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información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capturar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valores</a:t>
            </a:r>
            <a:endParaRPr sz="2600">
              <a:latin typeface="Calibri"/>
              <a:cs typeface="Calibri"/>
            </a:endParaRPr>
          </a:p>
          <a:p>
            <a:pPr marL="697865" marR="7620" lvl="1" indent="-228600" algn="just">
              <a:lnSpc>
                <a:spcPts val="2110"/>
              </a:lnSpc>
              <a:spcBef>
                <a:spcPts val="530"/>
              </a:spcBef>
              <a:buClr>
                <a:srgbClr val="E75C01"/>
              </a:buClr>
              <a:buFont typeface="Arial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Capturar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los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datos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correctos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</a:t>
            </a:r>
            <a:r>
              <a:rPr sz="2200" spc="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importante</a:t>
            </a:r>
            <a:r>
              <a:rPr sz="2200" spc="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alcanzar</a:t>
            </a:r>
            <a:r>
              <a:rPr sz="2200" spc="3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los </a:t>
            </a:r>
            <a:r>
              <a:rPr sz="2200" b="1" dirty="0">
                <a:latin typeface="Calibri"/>
                <a:cs typeface="Calibri"/>
              </a:rPr>
              <a:t>requisitos</a:t>
            </a:r>
            <a:r>
              <a:rPr sz="2200" b="1" spc="190" dirty="0">
                <a:latin typeface="Calibri"/>
                <a:cs typeface="Calibri"/>
              </a:rPr>
              <a:t>  </a:t>
            </a:r>
            <a:r>
              <a:rPr sz="2200" b="1" dirty="0">
                <a:latin typeface="Calibri"/>
                <a:cs typeface="Calibri"/>
              </a:rPr>
              <a:t>funcionales</a:t>
            </a:r>
            <a:r>
              <a:rPr sz="2200" b="1" spc="19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00" spc="19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para</a:t>
            </a:r>
            <a:r>
              <a:rPr sz="2200" spc="19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asegurar</a:t>
            </a:r>
            <a:r>
              <a:rPr sz="2200" spc="19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un</a:t>
            </a:r>
            <a:r>
              <a:rPr sz="2200" spc="185" dirty="0">
                <a:latin typeface="Calibri"/>
                <a:cs typeface="Calibri"/>
              </a:rPr>
              <a:t>  </a:t>
            </a:r>
            <a:r>
              <a:rPr sz="2200" b="1" spc="-10" dirty="0">
                <a:latin typeface="Calibri"/>
                <a:cs typeface="Calibri"/>
              </a:rPr>
              <a:t>rendimiento </a:t>
            </a:r>
            <a:r>
              <a:rPr sz="2200" dirty="0">
                <a:latin typeface="Calibri"/>
                <a:cs typeface="Calibri"/>
              </a:rPr>
              <a:t>adecuado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aplicación.</a:t>
            </a:r>
            <a:endParaRPr sz="2200">
              <a:latin typeface="Calibri"/>
              <a:cs typeface="Calibri"/>
            </a:endParaRPr>
          </a:p>
          <a:p>
            <a:pPr marL="299085" marR="5080" indent="-287020" algn="just">
              <a:lnSpc>
                <a:spcPts val="2500"/>
              </a:lnSpc>
              <a:spcBef>
                <a:spcPts val="605"/>
              </a:spcBef>
              <a:buClr>
                <a:srgbClr val="E75C01"/>
              </a:buClr>
              <a:buFont typeface="Arial"/>
              <a:buChar char="–"/>
              <a:tabLst>
                <a:tab pos="299085" algn="l"/>
              </a:tabLst>
            </a:pPr>
            <a:r>
              <a:rPr sz="2600" dirty="0">
                <a:latin typeface="Calibri"/>
                <a:cs typeface="Calibri"/>
              </a:rPr>
              <a:t>Cómo</a:t>
            </a:r>
            <a:r>
              <a:rPr sz="2600" spc="6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introducir</a:t>
            </a:r>
            <a:r>
              <a:rPr sz="2600" spc="6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abstracciones</a:t>
            </a:r>
            <a:r>
              <a:rPr sz="2600" spc="6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(patrones</a:t>
            </a:r>
            <a:r>
              <a:rPr sz="2600" spc="6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6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diseño </a:t>
            </a:r>
            <a:r>
              <a:rPr sz="2600" dirty="0">
                <a:latin typeface="Calibri"/>
                <a:cs typeface="Calibri"/>
              </a:rPr>
              <a:t>para</a:t>
            </a:r>
            <a:r>
              <a:rPr sz="2600" spc="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usar</a:t>
            </a:r>
            <a:r>
              <a:rPr sz="2600" spc="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en</a:t>
            </a:r>
            <a:r>
              <a:rPr sz="2600" spc="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las</a:t>
            </a:r>
            <a:r>
              <a:rPr sz="2600" spc="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aplicaciones)</a:t>
            </a:r>
            <a:r>
              <a:rPr sz="2600" spc="45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5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ayuden</a:t>
            </a:r>
            <a:r>
              <a:rPr sz="2600" spc="50" dirty="0">
                <a:latin typeface="Calibri"/>
                <a:cs typeface="Calibri"/>
              </a:rPr>
              <a:t> 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45" dirty="0">
                <a:latin typeface="Calibri"/>
                <a:cs typeface="Calibri"/>
              </a:rPr>
              <a:t>  </a:t>
            </a:r>
            <a:r>
              <a:rPr sz="2600" spc="-10" dirty="0">
                <a:latin typeface="Calibri"/>
                <a:cs typeface="Calibri"/>
              </a:rPr>
              <a:t>crear </a:t>
            </a:r>
            <a:r>
              <a:rPr sz="2600" dirty="0">
                <a:latin typeface="Calibri"/>
                <a:cs typeface="Calibri"/>
              </a:rPr>
              <a:t>estructuras</a:t>
            </a:r>
            <a:r>
              <a:rPr sz="2600" spc="4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</a:t>
            </a:r>
            <a:r>
              <a:rPr sz="2600" spc="4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más</a:t>
            </a:r>
            <a:r>
              <a:rPr sz="2600" spc="4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alto</a:t>
            </a:r>
            <a:r>
              <a:rPr sz="2600" spc="4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nivel</a:t>
            </a:r>
            <a:r>
              <a:rPr sz="2600" spc="484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</a:t>
            </a:r>
            <a:r>
              <a:rPr sz="2600" spc="4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las</a:t>
            </a:r>
            <a:r>
              <a:rPr sz="2600" spc="4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simples</a:t>
            </a:r>
            <a:r>
              <a:rPr sz="2600" spc="4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pares </a:t>
            </a:r>
            <a:r>
              <a:rPr sz="2600" spc="-25" dirty="0">
                <a:latin typeface="Calibri"/>
                <a:cs typeface="Calibri"/>
              </a:rPr>
              <a:t>Clave-</a:t>
            </a:r>
            <a:r>
              <a:rPr sz="2600" spc="-10" dirty="0">
                <a:latin typeface="Calibri"/>
                <a:cs typeface="Calibri"/>
              </a:rPr>
              <a:t>Valor.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240"/>
              </a:lnSpc>
            </a:pPr>
            <a:endParaRPr lang="es-AR" spc="-10" dirty="0"/>
          </a:p>
          <a:p>
            <a:pPr marL="12700">
              <a:lnSpc>
                <a:spcPct val="100000"/>
              </a:lnSpc>
            </a:pPr>
            <a:r>
              <a:rPr lang="es-AR" dirty="0"/>
              <a:t>BBDD</a:t>
            </a:r>
            <a:r>
              <a:rPr lang="es-AR" spc="-35" dirty="0"/>
              <a:t> </a:t>
            </a:r>
            <a:r>
              <a:rPr lang="es-AR" dirty="0"/>
              <a:t>No</a:t>
            </a:r>
            <a:r>
              <a:rPr lang="es-AR" spc="-10" dirty="0"/>
              <a:t> </a:t>
            </a:r>
            <a:r>
              <a:rPr lang="es-AR" dirty="0"/>
              <a:t>SQL.</a:t>
            </a:r>
            <a:r>
              <a:rPr lang="es-AR" spc="-15" dirty="0"/>
              <a:t> </a:t>
            </a:r>
            <a:r>
              <a:rPr lang="es-AR" dirty="0"/>
              <a:t>BD</a:t>
            </a:r>
            <a:r>
              <a:rPr lang="es-AR" spc="-25" dirty="0"/>
              <a:t> </a:t>
            </a:r>
            <a:r>
              <a:rPr lang="es-AR" dirty="0"/>
              <a:t>Clave</a:t>
            </a:r>
            <a:r>
              <a:rPr lang="es-AR" spc="-10" dirty="0"/>
              <a:t> </a:t>
            </a:r>
            <a:r>
              <a:rPr lang="es-AR" dirty="0"/>
              <a:t>–</a:t>
            </a:r>
            <a:r>
              <a:rPr lang="es-AR" spc="-10" dirty="0"/>
              <a:t> Valor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6105"/>
            <a:ext cx="8070215" cy="204927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b="1" dirty="0">
                <a:latin typeface="Calibri"/>
                <a:cs typeface="Calibri"/>
              </a:rPr>
              <a:t>Redis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NoSQL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tipo</a:t>
            </a:r>
            <a:r>
              <a:rPr sz="2000" spc="-25" dirty="0">
                <a:latin typeface="Calibri"/>
                <a:cs typeface="Calibri"/>
              </a:rPr>
              <a:t> clave-</a:t>
            </a:r>
            <a:r>
              <a:rPr sz="2000" spc="-10" dirty="0">
                <a:latin typeface="Calibri"/>
                <a:cs typeface="Calibri"/>
              </a:rPr>
              <a:t>valor.</a:t>
            </a:r>
            <a:endParaRPr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b="1" u="sng" spc="-10" dirty="0">
                <a:solidFill>
                  <a:srgbClr val="D2611C"/>
                </a:solidFill>
                <a:uFill>
                  <a:solidFill>
                    <a:srgbClr val="D2611C"/>
                  </a:solidFill>
                </a:uFill>
                <a:latin typeface="Calibri"/>
                <a:cs typeface="Calibri"/>
                <a:hlinkClick r:id="rId2"/>
              </a:rPr>
              <a:t>https://redis.io/</a:t>
            </a:r>
            <a:endParaRPr sz="20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buClr>
                <a:srgbClr val="E75C01"/>
              </a:buClr>
              <a:buFont typeface="Arial"/>
              <a:buChar char="•"/>
              <a:tabLst>
                <a:tab pos="355600" algn="l"/>
                <a:tab pos="1051560" algn="l"/>
                <a:tab pos="2193290" algn="l"/>
                <a:tab pos="2932430" algn="l"/>
                <a:tab pos="3376295" algn="l"/>
                <a:tab pos="4102735" algn="l"/>
                <a:tab pos="4509770" algn="l"/>
                <a:tab pos="5676900" algn="l"/>
                <a:tab pos="7080884" algn="l"/>
                <a:tab pos="7941309" algn="l"/>
              </a:tabLst>
            </a:pPr>
            <a:r>
              <a:rPr sz="2000" spc="-10" dirty="0">
                <a:latin typeface="Calibri"/>
                <a:cs typeface="Calibri"/>
              </a:rPr>
              <a:t>Redis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almacena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b="1" spc="-20" dirty="0">
                <a:latin typeface="Calibri"/>
                <a:cs typeface="Calibri"/>
              </a:rPr>
              <a:t>todos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los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datos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en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memoria</a:t>
            </a:r>
            <a:r>
              <a:rPr sz="2000" spc="-10" dirty="0">
                <a:latin typeface="Calibri"/>
                <a:cs typeface="Calibri"/>
              </a:rPr>
              <a:t>: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operaciones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lectura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50" dirty="0">
                <a:latin typeface="Calibri"/>
                <a:cs typeface="Calibri"/>
              </a:rPr>
              <a:t>y </a:t>
            </a:r>
            <a:r>
              <a:rPr sz="2000" dirty="0">
                <a:latin typeface="Calibri"/>
                <a:cs typeface="Calibri"/>
              </a:rPr>
              <a:t>escritura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rápidas.</a:t>
            </a:r>
            <a:endParaRPr sz="2000" dirty="0">
              <a:latin typeface="Calibri"/>
              <a:cs typeface="Calibri"/>
            </a:endParaRPr>
          </a:p>
          <a:p>
            <a:pPr marL="355600" marR="5080" indent="-343535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Calibri"/>
                <a:cs typeface="Calibri"/>
              </a:rPr>
              <a:t>Los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también</a:t>
            </a:r>
            <a:r>
              <a:rPr sz="2000" spc="1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pueden</a:t>
            </a:r>
            <a:r>
              <a:rPr sz="2000" spc="1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hacer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persistentes</a:t>
            </a:r>
            <a:r>
              <a:rPr sz="2000" spc="1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disco</a:t>
            </a:r>
            <a:r>
              <a:rPr sz="2000" spc="1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(snapshot</a:t>
            </a:r>
            <a:r>
              <a:rPr sz="2000" dirty="0">
                <a:latin typeface="Calibri"/>
                <a:cs typeface="Calibri"/>
              </a:rPr>
              <a:t>)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1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ir </a:t>
            </a:r>
            <a:r>
              <a:rPr sz="2000" dirty="0">
                <a:latin typeface="Calibri"/>
                <a:cs typeface="Calibri"/>
              </a:rPr>
              <a:t>añadiendo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fichero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i="1" dirty="0">
                <a:latin typeface="Calibri"/>
                <a:cs typeface="Calibri"/>
              </a:rPr>
              <a:t>command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log</a:t>
            </a:r>
            <a:r>
              <a:rPr sz="2000" spc="-10" dirty="0">
                <a:latin typeface="Calibri"/>
                <a:cs typeface="Calibri"/>
              </a:rPr>
              <a:t>).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6526" y="4054855"/>
            <a:ext cx="45700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3380" algn="l"/>
                <a:tab pos="1066800" algn="l"/>
                <a:tab pos="2036445" algn="l"/>
                <a:tab pos="2932430" algn="l"/>
                <a:tab pos="4291330" algn="l"/>
              </a:tabLst>
            </a:pPr>
            <a:r>
              <a:rPr sz="2000" spc="-25" dirty="0">
                <a:latin typeface="Calibri"/>
                <a:cs typeface="Calibri"/>
              </a:rPr>
              <a:t>es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decir,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siempre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ejecuta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únicamente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un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5" y="3601085"/>
            <a:ext cx="8070850" cy="234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4707890" indent="-339725" algn="just">
              <a:lnSpc>
                <a:spcPct val="100000"/>
              </a:lnSpc>
              <a:spcBef>
                <a:spcPts val="10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REDIS</a:t>
            </a:r>
            <a:r>
              <a:rPr sz="2000" spc="5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“single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spc="-35" dirty="0">
                <a:latin typeface="Calibri"/>
                <a:cs typeface="Calibri"/>
              </a:rPr>
              <a:t>threaded”, 	</a:t>
            </a:r>
            <a:r>
              <a:rPr sz="2000" spc="-10" dirty="0">
                <a:latin typeface="Calibri"/>
                <a:cs typeface="Calibri"/>
              </a:rPr>
              <a:t>comando.</a:t>
            </a:r>
            <a:endParaRPr sz="2000" dirty="0">
              <a:latin typeface="Calibri"/>
              <a:cs typeface="Calibri"/>
            </a:endParaRPr>
          </a:p>
          <a:p>
            <a:pPr marL="352425" indent="-339725" algn="just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352425" algn="l"/>
              </a:tabLst>
            </a:pPr>
            <a:r>
              <a:rPr sz="2000" dirty="0">
                <a:latin typeface="Calibri"/>
                <a:cs typeface="Calibri"/>
              </a:rPr>
              <a:t>Los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comandos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atómicos.</a:t>
            </a:r>
            <a:endParaRPr sz="2000" dirty="0">
              <a:latin typeface="Calibri"/>
              <a:cs typeface="Calibri"/>
            </a:endParaRPr>
          </a:p>
          <a:p>
            <a:pPr marL="351790" marR="5080" indent="-339725" algn="just">
              <a:lnSpc>
                <a:spcPct val="100000"/>
              </a:lnSpc>
              <a:spcBef>
                <a:spcPts val="484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Permite</a:t>
            </a:r>
            <a:r>
              <a:rPr sz="2000" spc="8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trabajar</a:t>
            </a:r>
            <a:r>
              <a:rPr sz="2000" spc="8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8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múltiples</a:t>
            </a:r>
            <a:r>
              <a:rPr sz="2000" b="1" spc="8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bases</a:t>
            </a:r>
            <a:r>
              <a:rPr sz="2000" b="1" spc="8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de</a:t>
            </a:r>
            <a:r>
              <a:rPr sz="2000" b="1" spc="8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datos</a:t>
            </a:r>
            <a:r>
              <a:rPr sz="2000" b="1" spc="8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identificadas</a:t>
            </a:r>
            <a:r>
              <a:rPr sz="2000" b="1" spc="80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por</a:t>
            </a:r>
            <a:r>
              <a:rPr sz="2000" b="1" spc="75" dirty="0">
                <a:latin typeface="Calibri"/>
                <a:cs typeface="Calibri"/>
              </a:rPr>
              <a:t>  </a:t>
            </a:r>
            <a:r>
              <a:rPr sz="2000" b="1" spc="-25" dirty="0">
                <a:latin typeface="Calibri"/>
                <a:cs typeface="Calibri"/>
              </a:rPr>
              <a:t>un 	</a:t>
            </a:r>
            <a:r>
              <a:rPr sz="2000" b="1" dirty="0">
                <a:latin typeface="Calibri"/>
                <a:cs typeface="Calibri"/>
              </a:rPr>
              <a:t>número</a:t>
            </a:r>
            <a:r>
              <a:rPr sz="2000" b="1" spc="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secuencial</a:t>
            </a:r>
            <a:r>
              <a:rPr sz="2000" b="1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(por</a:t>
            </a:r>
            <a:r>
              <a:rPr sz="2000" spc="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defecto,</a:t>
            </a:r>
            <a:r>
              <a:rPr sz="2000" spc="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conexión</a:t>
            </a:r>
            <a:r>
              <a:rPr sz="2000" spc="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BD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0).</a:t>
            </a:r>
            <a:r>
              <a:rPr sz="2000" spc="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</a:t>
            </a:r>
            <a:r>
              <a:rPr sz="2000" spc="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cambiar</a:t>
            </a:r>
            <a:r>
              <a:rPr sz="2000" spc="6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a 	</a:t>
            </a:r>
            <a:r>
              <a:rPr sz="2000" dirty="0">
                <a:latin typeface="Calibri"/>
                <a:cs typeface="Calibri"/>
              </a:rPr>
              <a:t>otra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utilizando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comando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1.</a:t>
            </a:r>
            <a:endParaRPr sz="2000" dirty="0">
              <a:latin typeface="Calibri"/>
              <a:cs typeface="Calibri"/>
            </a:endParaRPr>
          </a:p>
          <a:p>
            <a:pPr marL="352425" indent="-339725" algn="just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352425" algn="l"/>
              </a:tabLst>
            </a:pPr>
            <a:r>
              <a:rPr sz="2000" spc="-10" dirty="0">
                <a:latin typeface="Calibri"/>
                <a:cs typeface="Calibri"/>
              </a:rPr>
              <a:t>Actualmente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Redis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usado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por: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u="sng" spc="-35" dirty="0">
                <a:solidFill>
                  <a:srgbClr val="D2611C"/>
                </a:solidFill>
                <a:uFill>
                  <a:solidFill>
                    <a:srgbClr val="D2611C"/>
                  </a:solidFill>
                </a:uFill>
                <a:latin typeface="Calibri"/>
                <a:cs typeface="Calibri"/>
                <a:hlinkClick r:id="rId3"/>
              </a:rPr>
              <a:t>Twitter</a:t>
            </a:r>
            <a:r>
              <a:rPr sz="2000" spc="-35" dirty="0">
                <a:latin typeface="Calibri"/>
                <a:cs typeface="Calibri"/>
              </a:rPr>
              <a:t>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u="sng" spc="-10" dirty="0">
                <a:solidFill>
                  <a:srgbClr val="D2611C"/>
                </a:solidFill>
                <a:uFill>
                  <a:solidFill>
                    <a:srgbClr val="D2611C"/>
                  </a:solidFill>
                </a:uFill>
                <a:latin typeface="Calibri"/>
                <a:cs typeface="Calibri"/>
                <a:hlinkClick r:id="rId4"/>
              </a:rPr>
              <a:t>Instagram</a:t>
            </a:r>
            <a:r>
              <a:rPr sz="2000" spc="-10" dirty="0">
                <a:latin typeface="Calibri"/>
                <a:cs typeface="Calibri"/>
              </a:rPr>
              <a:t>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u="sng" dirty="0">
                <a:solidFill>
                  <a:srgbClr val="D2611C"/>
                </a:solidFill>
                <a:uFill>
                  <a:solidFill>
                    <a:srgbClr val="D2611C"/>
                  </a:solidFill>
                </a:uFill>
                <a:latin typeface="Calibri"/>
                <a:cs typeface="Calibri"/>
                <a:hlinkClick r:id="rId5"/>
              </a:rPr>
              <a:t>GitHub</a:t>
            </a:r>
            <a:r>
              <a:rPr sz="2000" dirty="0">
                <a:latin typeface="Calibri"/>
                <a:cs typeface="Calibri"/>
              </a:rPr>
              <a:t>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u="sng" spc="-25" dirty="0">
                <a:solidFill>
                  <a:srgbClr val="D2611C"/>
                </a:solidFill>
                <a:uFill>
                  <a:solidFill>
                    <a:srgbClr val="D2611C"/>
                  </a:solidFill>
                </a:uFill>
                <a:latin typeface="Calibri"/>
                <a:cs typeface="Calibri"/>
                <a:hlinkClick r:id="rId6"/>
              </a:rPr>
              <a:t>Flickr</a:t>
            </a:r>
            <a:r>
              <a:rPr sz="2000" spc="-25" dirty="0">
                <a:latin typeface="Calibri"/>
                <a:cs typeface="Calibri"/>
              </a:rPr>
              <a:t>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….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B893-C63E-752D-F9FC-A9C2AB678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39FB0E5-1812-D936-C57F-3A1397E117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  <a:r>
              <a:rPr lang="es-AR" spc="-10" dirty="0"/>
              <a:t> – cont.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343D46C-C0BE-9727-2AEC-3EE41D63486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240"/>
              </a:lnSpc>
            </a:pPr>
            <a:endParaRPr lang="es-AR" spc="-10" dirty="0"/>
          </a:p>
          <a:p>
            <a:pPr marL="12700">
              <a:lnSpc>
                <a:spcPct val="100000"/>
              </a:lnSpc>
            </a:pPr>
            <a:r>
              <a:rPr lang="es-AR" dirty="0"/>
              <a:t>BBDD</a:t>
            </a:r>
            <a:r>
              <a:rPr lang="es-AR" spc="-35" dirty="0"/>
              <a:t> </a:t>
            </a:r>
            <a:r>
              <a:rPr lang="es-AR" dirty="0"/>
              <a:t>No</a:t>
            </a:r>
            <a:r>
              <a:rPr lang="es-AR" spc="-10" dirty="0"/>
              <a:t> </a:t>
            </a:r>
            <a:r>
              <a:rPr lang="es-AR" dirty="0"/>
              <a:t>SQL.</a:t>
            </a:r>
            <a:r>
              <a:rPr lang="es-AR" spc="-15" dirty="0"/>
              <a:t> </a:t>
            </a:r>
            <a:r>
              <a:rPr lang="es-AR" dirty="0"/>
              <a:t>BD</a:t>
            </a:r>
            <a:r>
              <a:rPr lang="es-AR" spc="-25" dirty="0"/>
              <a:t> </a:t>
            </a:r>
            <a:r>
              <a:rPr lang="es-AR" dirty="0"/>
              <a:t>Clave</a:t>
            </a:r>
            <a:r>
              <a:rPr lang="es-AR" spc="-10" dirty="0"/>
              <a:t> </a:t>
            </a:r>
            <a:r>
              <a:rPr lang="es-AR" dirty="0"/>
              <a:t>–</a:t>
            </a:r>
            <a:r>
              <a:rPr lang="es-AR" spc="-10" dirty="0"/>
              <a:t> Valor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73DABFE-833A-B15A-31D6-6FDD184E277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3E5D37A-56C8-D845-7026-5939589A98A6}"/>
              </a:ext>
            </a:extLst>
          </p:cNvPr>
          <p:cNvSpPr txBox="1"/>
          <p:nvPr/>
        </p:nvSpPr>
        <p:spPr>
          <a:xfrm>
            <a:off x="535940" y="1556105"/>
            <a:ext cx="8070215" cy="253659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b="1" dirty="0">
                <a:latin typeface="Calibri"/>
                <a:cs typeface="Calibri"/>
              </a:rPr>
              <a:t>Creado en:</a:t>
            </a:r>
            <a:r>
              <a:rPr lang="es-AR" sz="2000" dirty="0">
                <a:latin typeface="Calibri"/>
                <a:cs typeface="Calibri"/>
              </a:rPr>
              <a:t> 2009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b="1" dirty="0">
                <a:latin typeface="Calibri"/>
                <a:cs typeface="Calibri"/>
              </a:rPr>
              <a:t>Autor:</a:t>
            </a:r>
            <a:r>
              <a:rPr lang="es-AR" sz="2000" dirty="0">
                <a:latin typeface="Calibri"/>
                <a:cs typeface="Calibri"/>
              </a:rPr>
              <a:t> Salvatore </a:t>
            </a:r>
            <a:r>
              <a:rPr lang="es-AR" sz="2000" dirty="0" err="1">
                <a:latin typeface="Calibri"/>
                <a:cs typeface="Calibri"/>
              </a:rPr>
              <a:t>Sanfilippo</a:t>
            </a:r>
            <a:endParaRPr lang="es-AR"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b="1" dirty="0">
                <a:latin typeface="Calibri"/>
                <a:cs typeface="Calibri"/>
              </a:rPr>
              <a:t>Objetivo inicial:</a:t>
            </a:r>
            <a:r>
              <a:rPr lang="es-AR" sz="2000" dirty="0">
                <a:latin typeface="Calibri"/>
                <a:cs typeface="Calibri"/>
              </a:rPr>
              <a:t> mejorar la escalabilidad de una aplicación web en tiempo real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Fue diseñando primero como prototipo en </a:t>
            </a:r>
            <a:r>
              <a:rPr lang="es-AR" sz="2000" dirty="0" err="1">
                <a:latin typeface="Calibri"/>
                <a:cs typeface="Calibri"/>
              </a:rPr>
              <a:t>Tcl</a:t>
            </a:r>
            <a:r>
              <a:rPr lang="es-AR" sz="2000" dirty="0">
                <a:latin typeface="Calibri"/>
                <a:cs typeface="Calibri"/>
              </a:rPr>
              <a:t> y luego reescrito en C.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Se usa típicamente para: Caché de consultas costosas, Sesiones de usuario, Rankings / </a:t>
            </a:r>
            <a:r>
              <a:rPr lang="es-AR" sz="2000" dirty="0" err="1">
                <a:latin typeface="Calibri"/>
                <a:cs typeface="Calibri"/>
              </a:rPr>
              <a:t>leaderboards</a:t>
            </a:r>
            <a:r>
              <a:rPr lang="es-AR" sz="2000" dirty="0">
                <a:latin typeface="Calibri"/>
                <a:cs typeface="Calibri"/>
              </a:rPr>
              <a:t>, Sistemas en tiempo real entre otros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013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70FED-B852-EDE5-AB81-C659D3E7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744F7E5-4ED1-2EFD-82AD-0015E45DF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  <a:r>
              <a:rPr lang="es-AR" spc="-10" dirty="0"/>
              <a:t> – cont.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AE76158-2B6B-C7A2-3E07-1C7B8AC23BD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240"/>
              </a:lnSpc>
            </a:pPr>
            <a:endParaRPr lang="es-AR" spc="-10" dirty="0"/>
          </a:p>
          <a:p>
            <a:pPr marL="12700">
              <a:lnSpc>
                <a:spcPct val="100000"/>
              </a:lnSpc>
            </a:pPr>
            <a:r>
              <a:rPr lang="es-AR" dirty="0"/>
              <a:t>BBDD</a:t>
            </a:r>
            <a:r>
              <a:rPr lang="es-AR" spc="-35" dirty="0"/>
              <a:t> </a:t>
            </a:r>
            <a:r>
              <a:rPr lang="es-AR" dirty="0"/>
              <a:t>No</a:t>
            </a:r>
            <a:r>
              <a:rPr lang="es-AR" spc="-10" dirty="0"/>
              <a:t> </a:t>
            </a:r>
            <a:r>
              <a:rPr lang="es-AR" dirty="0"/>
              <a:t>SQL.</a:t>
            </a:r>
            <a:r>
              <a:rPr lang="es-AR" spc="-15" dirty="0"/>
              <a:t> </a:t>
            </a:r>
            <a:r>
              <a:rPr lang="es-AR" dirty="0"/>
              <a:t>BD</a:t>
            </a:r>
            <a:r>
              <a:rPr lang="es-AR" spc="-25" dirty="0"/>
              <a:t> </a:t>
            </a:r>
            <a:r>
              <a:rPr lang="es-AR" dirty="0"/>
              <a:t>Clave</a:t>
            </a:r>
            <a:r>
              <a:rPr lang="es-AR" spc="-10" dirty="0"/>
              <a:t> </a:t>
            </a:r>
            <a:r>
              <a:rPr lang="es-AR" dirty="0"/>
              <a:t>–</a:t>
            </a:r>
            <a:r>
              <a:rPr lang="es-AR" spc="-10" dirty="0"/>
              <a:t> Valor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B369684-2D06-6A1D-2EFD-445FFC73DD0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AE0551B-B3CD-1867-02A6-39526F79B4EF}"/>
              </a:ext>
            </a:extLst>
          </p:cNvPr>
          <p:cNvSpPr txBox="1"/>
          <p:nvPr/>
        </p:nvSpPr>
        <p:spPr>
          <a:xfrm>
            <a:off x="535940" y="1556105"/>
            <a:ext cx="8070215" cy="222881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b="1" dirty="0">
                <a:latin typeface="Calibri"/>
                <a:cs typeface="Calibri"/>
              </a:rPr>
              <a:t>Arquitectura: </a:t>
            </a:r>
            <a:r>
              <a:rPr lang="es-AR" sz="2000" dirty="0">
                <a:latin typeface="Calibri"/>
                <a:cs typeface="Calibri"/>
              </a:rPr>
              <a:t>Cliente-servidor 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Master–Replica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 err="1">
                <a:latin typeface="Calibri"/>
                <a:cs typeface="Calibri"/>
              </a:rPr>
              <a:t>Cluster</a:t>
            </a:r>
            <a:r>
              <a:rPr lang="es-AR" sz="2000" dirty="0">
                <a:latin typeface="Calibri"/>
                <a:cs typeface="Calibri"/>
              </a:rPr>
              <a:t> (</a:t>
            </a:r>
            <a:r>
              <a:rPr lang="es-AR" sz="2000" dirty="0" err="1">
                <a:latin typeface="Calibri"/>
                <a:cs typeface="Calibri"/>
              </a:rPr>
              <a:t>sharding</a:t>
            </a:r>
            <a:r>
              <a:rPr lang="es-AR" sz="2000" dirty="0">
                <a:latin typeface="Calibri"/>
                <a:cs typeface="Calibri"/>
              </a:rPr>
              <a:t>)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Replicación asíncrona + </a:t>
            </a:r>
            <a:r>
              <a:rPr lang="es-AR" sz="2000" dirty="0" err="1">
                <a:latin typeface="Calibri"/>
                <a:cs typeface="Calibri"/>
              </a:rPr>
              <a:t>failover</a:t>
            </a:r>
            <a:r>
              <a:rPr lang="es-AR" sz="2000" dirty="0">
                <a:latin typeface="Calibri"/>
                <a:cs typeface="Calibri"/>
              </a:rPr>
              <a:t> con </a:t>
            </a:r>
            <a:r>
              <a:rPr lang="es-AR" sz="2000" dirty="0" err="1">
                <a:latin typeface="Calibri"/>
                <a:cs typeface="Calibri"/>
              </a:rPr>
              <a:t>Sentinel</a:t>
            </a:r>
            <a:endParaRPr lang="es-AR" sz="20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b="1" dirty="0">
                <a:latin typeface="Calibri"/>
                <a:cs typeface="Calibri"/>
              </a:rPr>
              <a:t>CAP</a:t>
            </a:r>
            <a:r>
              <a:rPr lang="es-AR" sz="2000" dirty="0">
                <a:latin typeface="Calibri"/>
                <a:cs typeface="Calibri"/>
              </a:rPr>
              <a:t>: orientación CP (consistencia priorizada frente a disponibilidad en particiones)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1888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2699C-1C0B-E694-6F02-354DB970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5CE195C-3820-7F86-32AF-ECBA985E59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91833"/>
            <a:ext cx="563245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  <a:r>
              <a:rPr lang="es-AR" spc="-10" dirty="0"/>
              <a:t> (Ejemplo Netflix)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5DD630C-96B1-675A-D3D4-77F0A48F991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240"/>
              </a:lnSpc>
            </a:pPr>
            <a:endParaRPr lang="es-AR" spc="-10" dirty="0"/>
          </a:p>
          <a:p>
            <a:pPr marL="12700">
              <a:lnSpc>
                <a:spcPct val="100000"/>
              </a:lnSpc>
            </a:pPr>
            <a:r>
              <a:rPr lang="es-AR" dirty="0"/>
              <a:t>BBDD</a:t>
            </a:r>
            <a:r>
              <a:rPr lang="es-AR" spc="-35" dirty="0"/>
              <a:t> </a:t>
            </a:r>
            <a:r>
              <a:rPr lang="es-AR" dirty="0"/>
              <a:t>No</a:t>
            </a:r>
            <a:r>
              <a:rPr lang="es-AR" spc="-10" dirty="0"/>
              <a:t> </a:t>
            </a:r>
            <a:r>
              <a:rPr lang="es-AR" dirty="0"/>
              <a:t>SQL.</a:t>
            </a:r>
            <a:r>
              <a:rPr lang="es-AR" spc="-15" dirty="0"/>
              <a:t> </a:t>
            </a:r>
            <a:r>
              <a:rPr lang="es-AR" dirty="0"/>
              <a:t>BD</a:t>
            </a:r>
            <a:r>
              <a:rPr lang="es-AR" spc="-25" dirty="0"/>
              <a:t> </a:t>
            </a:r>
            <a:r>
              <a:rPr lang="es-AR" dirty="0"/>
              <a:t>Clave</a:t>
            </a:r>
            <a:r>
              <a:rPr lang="es-AR" spc="-10" dirty="0"/>
              <a:t> </a:t>
            </a:r>
            <a:r>
              <a:rPr lang="es-AR" dirty="0"/>
              <a:t>–</a:t>
            </a:r>
            <a:r>
              <a:rPr lang="es-AR" spc="-10" dirty="0"/>
              <a:t> Valor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2CAD62-09C9-DC4B-C619-6323B05BE87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BE1A6C4-2FFE-2C2D-C7B6-8AC5532DB032}"/>
              </a:ext>
            </a:extLst>
          </p:cNvPr>
          <p:cNvSpPr txBox="1"/>
          <p:nvPr/>
        </p:nvSpPr>
        <p:spPr>
          <a:xfrm>
            <a:off x="535940" y="1556105"/>
            <a:ext cx="8070215" cy="115159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lvl="8" indent="-342265"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Caché de datos</a:t>
            </a:r>
          </a:p>
          <a:p>
            <a:pPr marL="354965" lvl="8" indent="-342265"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Colas de procesamiento</a:t>
            </a:r>
          </a:p>
          <a:p>
            <a:pPr marL="354965" lvl="8" indent="-342265"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Sistema de baja latencia para servicios internos</a:t>
            </a:r>
          </a:p>
        </p:txBody>
      </p:sp>
    </p:spTree>
    <p:extLst>
      <p:ext uri="{BB962C8B-B14F-4D97-AF65-F5344CB8AC3E}">
        <p14:creationId xmlns:p14="http://schemas.microsoft.com/office/powerpoint/2010/main" val="2547688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6B10A-37F9-05F1-02F7-C5B14B4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B29D69-61A8-47E9-338A-C7F534C73F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91833"/>
            <a:ext cx="563245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  <a:r>
              <a:rPr lang="es-AR" spc="-10" dirty="0"/>
              <a:t> (Ejemplo Uber)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4EF117B-5809-D193-5D87-592CD005314B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240"/>
              </a:lnSpc>
            </a:pPr>
            <a:endParaRPr lang="es-AR" spc="-10" dirty="0"/>
          </a:p>
          <a:p>
            <a:pPr marL="12700">
              <a:lnSpc>
                <a:spcPct val="100000"/>
              </a:lnSpc>
            </a:pPr>
            <a:r>
              <a:rPr lang="es-AR" dirty="0"/>
              <a:t>BBDD</a:t>
            </a:r>
            <a:r>
              <a:rPr lang="es-AR" spc="-35" dirty="0"/>
              <a:t> </a:t>
            </a:r>
            <a:r>
              <a:rPr lang="es-AR" dirty="0"/>
              <a:t>No</a:t>
            </a:r>
            <a:r>
              <a:rPr lang="es-AR" spc="-10" dirty="0"/>
              <a:t> </a:t>
            </a:r>
            <a:r>
              <a:rPr lang="es-AR" dirty="0"/>
              <a:t>SQL.</a:t>
            </a:r>
            <a:r>
              <a:rPr lang="es-AR" spc="-15" dirty="0"/>
              <a:t> </a:t>
            </a:r>
            <a:r>
              <a:rPr lang="es-AR" dirty="0"/>
              <a:t>BD</a:t>
            </a:r>
            <a:r>
              <a:rPr lang="es-AR" spc="-25" dirty="0"/>
              <a:t> </a:t>
            </a:r>
            <a:r>
              <a:rPr lang="es-AR" dirty="0"/>
              <a:t>Clave</a:t>
            </a:r>
            <a:r>
              <a:rPr lang="es-AR" spc="-10" dirty="0"/>
              <a:t> </a:t>
            </a:r>
            <a:r>
              <a:rPr lang="es-AR" dirty="0"/>
              <a:t>–</a:t>
            </a:r>
            <a:r>
              <a:rPr lang="es-AR" spc="-10" dirty="0"/>
              <a:t> Valor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6213970-CF0F-CB1D-F86B-5D7B67157F6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38211AE-9DD4-36CE-C545-DF5CB47ECA23}"/>
              </a:ext>
            </a:extLst>
          </p:cNvPr>
          <p:cNvSpPr txBox="1"/>
          <p:nvPr/>
        </p:nvSpPr>
        <p:spPr>
          <a:xfrm>
            <a:off x="535940" y="1556105"/>
            <a:ext cx="8070215" cy="76687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lvl="8" indent="-342265"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Procesamiento en tiempo real</a:t>
            </a:r>
          </a:p>
          <a:p>
            <a:pPr marL="354965" lvl="7" indent="-342265"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Geolocalización</a:t>
            </a:r>
          </a:p>
        </p:txBody>
      </p:sp>
    </p:spTree>
    <p:extLst>
      <p:ext uri="{BB962C8B-B14F-4D97-AF65-F5344CB8AC3E}">
        <p14:creationId xmlns:p14="http://schemas.microsoft.com/office/powerpoint/2010/main" val="2899984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8E31-7D4F-FCE4-6814-BC1F5373C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60057EF-26EA-506D-AA7E-BFFBA29BDF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91833"/>
            <a:ext cx="563245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  <a:r>
              <a:rPr lang="es-AR" spc="-10" dirty="0"/>
              <a:t> (Ejemplo Twitter)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11FAB0B8-6BA3-5A03-157F-D05582B2DE1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240"/>
              </a:lnSpc>
            </a:pPr>
            <a:endParaRPr lang="es-AR" spc="-10" dirty="0"/>
          </a:p>
          <a:p>
            <a:pPr marL="12700">
              <a:lnSpc>
                <a:spcPct val="100000"/>
              </a:lnSpc>
            </a:pPr>
            <a:r>
              <a:rPr lang="es-AR" dirty="0"/>
              <a:t>BBDD</a:t>
            </a:r>
            <a:r>
              <a:rPr lang="es-AR" spc="-35" dirty="0"/>
              <a:t> </a:t>
            </a:r>
            <a:r>
              <a:rPr lang="es-AR" dirty="0"/>
              <a:t>No</a:t>
            </a:r>
            <a:r>
              <a:rPr lang="es-AR" spc="-10" dirty="0"/>
              <a:t> </a:t>
            </a:r>
            <a:r>
              <a:rPr lang="es-AR" dirty="0"/>
              <a:t>SQL.</a:t>
            </a:r>
            <a:r>
              <a:rPr lang="es-AR" spc="-15" dirty="0"/>
              <a:t> </a:t>
            </a:r>
            <a:r>
              <a:rPr lang="es-AR" dirty="0"/>
              <a:t>BD</a:t>
            </a:r>
            <a:r>
              <a:rPr lang="es-AR" spc="-25" dirty="0"/>
              <a:t> </a:t>
            </a:r>
            <a:r>
              <a:rPr lang="es-AR" dirty="0"/>
              <a:t>Clave</a:t>
            </a:r>
            <a:r>
              <a:rPr lang="es-AR" spc="-10" dirty="0"/>
              <a:t> </a:t>
            </a:r>
            <a:r>
              <a:rPr lang="es-AR" dirty="0"/>
              <a:t>–</a:t>
            </a:r>
            <a:r>
              <a:rPr lang="es-AR" spc="-10" dirty="0"/>
              <a:t> Valor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EA1BD75-EDA9-A7AF-6376-FEC3CCA417E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026ABA3-C62A-2D66-0BCA-AA8B62AAEDAC}"/>
              </a:ext>
            </a:extLst>
          </p:cNvPr>
          <p:cNvSpPr txBox="1"/>
          <p:nvPr/>
        </p:nvSpPr>
        <p:spPr>
          <a:xfrm>
            <a:off x="535940" y="1556105"/>
            <a:ext cx="8070215" cy="766877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lvl="8" indent="-342265"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Timelines</a:t>
            </a:r>
          </a:p>
          <a:p>
            <a:pPr marL="354965" lvl="8" indent="-342265"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Cacheo de datos</a:t>
            </a:r>
          </a:p>
        </p:txBody>
      </p:sp>
    </p:spTree>
    <p:extLst>
      <p:ext uri="{BB962C8B-B14F-4D97-AF65-F5344CB8AC3E}">
        <p14:creationId xmlns:p14="http://schemas.microsoft.com/office/powerpoint/2010/main" val="1942350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5F46-3FF4-347C-5FC8-1D918574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5E528AB-A6A1-4F9A-DF66-4F19859D66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5940" y="191833"/>
            <a:ext cx="563245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  <a:r>
              <a:rPr lang="es-AR" spc="-10" dirty="0"/>
              <a:t> (Ejemplo Airbnb)</a:t>
            </a:r>
            <a:endParaRPr spc="-10" dirty="0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4267CFB-6A64-210F-3FBA-F415C270A04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3600894" y="6373528"/>
            <a:ext cx="1942464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240">
              <a:lnSpc>
                <a:spcPts val="1240"/>
              </a:lnSpc>
            </a:pPr>
            <a:endParaRPr lang="es-AR" spc="-10" dirty="0"/>
          </a:p>
          <a:p>
            <a:pPr marL="12700">
              <a:lnSpc>
                <a:spcPct val="100000"/>
              </a:lnSpc>
            </a:pPr>
            <a:r>
              <a:rPr lang="es-AR" dirty="0"/>
              <a:t>BBDD</a:t>
            </a:r>
            <a:r>
              <a:rPr lang="es-AR" spc="-35" dirty="0"/>
              <a:t> </a:t>
            </a:r>
            <a:r>
              <a:rPr lang="es-AR" dirty="0"/>
              <a:t>No</a:t>
            </a:r>
            <a:r>
              <a:rPr lang="es-AR" spc="-10" dirty="0"/>
              <a:t> </a:t>
            </a:r>
            <a:r>
              <a:rPr lang="es-AR" dirty="0"/>
              <a:t>SQL.</a:t>
            </a:r>
            <a:r>
              <a:rPr lang="es-AR" spc="-15" dirty="0"/>
              <a:t> </a:t>
            </a:r>
            <a:r>
              <a:rPr lang="es-AR" dirty="0"/>
              <a:t>BD</a:t>
            </a:r>
            <a:r>
              <a:rPr lang="es-AR" spc="-25" dirty="0"/>
              <a:t> </a:t>
            </a:r>
            <a:r>
              <a:rPr lang="es-AR" dirty="0"/>
              <a:t>Clave</a:t>
            </a:r>
            <a:r>
              <a:rPr lang="es-AR" spc="-10" dirty="0"/>
              <a:t> </a:t>
            </a:r>
            <a:r>
              <a:rPr lang="es-AR" dirty="0"/>
              <a:t>–</a:t>
            </a:r>
            <a:r>
              <a:rPr lang="es-AR" spc="-10" dirty="0"/>
              <a:t> Valor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25BE906-16B7-C650-F920-335A9BCBB1D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6F9C6B8-405D-F099-8269-BBEF53C0862D}"/>
              </a:ext>
            </a:extLst>
          </p:cNvPr>
          <p:cNvSpPr txBox="1"/>
          <p:nvPr/>
        </p:nvSpPr>
        <p:spPr>
          <a:xfrm>
            <a:off x="535940" y="1556105"/>
            <a:ext cx="8070215" cy="38215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54965" lvl="8" indent="-342265">
              <a:spcBef>
                <a:spcPts val="5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lang="es-AR" sz="2000" dirty="0">
                <a:latin typeface="Calibri"/>
                <a:cs typeface="Calibri"/>
              </a:rPr>
              <a:t>Cacheo de resultado de búsquedas</a:t>
            </a:r>
          </a:p>
        </p:txBody>
      </p:sp>
    </p:spTree>
    <p:extLst>
      <p:ext uri="{BB962C8B-B14F-4D97-AF65-F5344CB8AC3E}">
        <p14:creationId xmlns:p14="http://schemas.microsoft.com/office/powerpoint/2010/main" val="1720805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9211"/>
            <a:ext cx="6159500" cy="25212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ALGUNAS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SENTENCIAS: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solidFill>
                  <a:srgbClr val="0070C0"/>
                </a:solidFill>
                <a:latin typeface="Calibri"/>
                <a:cs typeface="Calibri"/>
              </a:rPr>
              <a:t>redis-</a:t>
            </a:r>
            <a:r>
              <a:rPr sz="1800" dirty="0">
                <a:solidFill>
                  <a:srgbClr val="0070C0"/>
                </a:solidFill>
                <a:latin typeface="Calibri"/>
                <a:cs typeface="Calibri"/>
              </a:rPr>
              <a:t>server</a:t>
            </a:r>
            <a:r>
              <a:rPr sz="1800" spc="-35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actual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almacenamiento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datos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10" dirty="0">
                <a:latin typeface="Calibri"/>
                <a:cs typeface="Calibri"/>
              </a:rPr>
              <a:t> REDIS.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spc="-10" dirty="0">
                <a:solidFill>
                  <a:srgbClr val="0070C0"/>
                </a:solidFill>
                <a:latin typeface="Calibri"/>
                <a:cs typeface="Calibri"/>
              </a:rPr>
              <a:t>redis-</a:t>
            </a:r>
            <a:r>
              <a:rPr sz="1800" dirty="0">
                <a:solidFill>
                  <a:srgbClr val="0070C0"/>
                </a:solidFill>
                <a:latin typeface="Calibri"/>
                <a:cs typeface="Calibri"/>
              </a:rPr>
              <a:t>cli</a:t>
            </a:r>
            <a:r>
              <a:rPr sz="1800" spc="-3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REDIS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(interfaz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línea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comandos).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Por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defecto: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puerto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6379</a:t>
            </a:r>
            <a:endParaRPr sz="1800" dirty="0">
              <a:latin typeface="Calibri"/>
              <a:cs typeface="Calibri"/>
            </a:endParaRPr>
          </a:p>
          <a:p>
            <a:pPr marL="3213100">
              <a:lnSpc>
                <a:spcPct val="100000"/>
              </a:lnSpc>
              <a:spcBef>
                <a:spcPts val="1680"/>
              </a:spcBef>
            </a:pPr>
            <a:r>
              <a:rPr lang="es-AR" sz="1800" dirty="0">
                <a:hlinkClick r:id="rId2"/>
              </a:rPr>
              <a:t>Try Free | Redis </a:t>
            </a:r>
            <a:endParaRPr sz="1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2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dirty="0" err="1">
                <a:latin typeface="Calibri"/>
                <a:cs typeface="Calibri"/>
              </a:rPr>
              <a:t>Comandos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SET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Y</a:t>
            </a:r>
            <a:r>
              <a:rPr sz="1800" b="1" spc="-20" dirty="0">
                <a:latin typeface="Calibri"/>
                <a:cs typeface="Calibri"/>
              </a:rPr>
              <a:t> GET</a:t>
            </a:r>
            <a:r>
              <a:rPr sz="1800" spc="-20" dirty="0">
                <a:latin typeface="Calibri"/>
                <a:cs typeface="Calibri"/>
              </a:rPr>
              <a:t>:</a:t>
            </a:r>
            <a:endParaRPr sz="1800" dirty="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10"/>
              </a:spcBef>
            </a:pP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1500" spc="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spc="-2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15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1500" dirty="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</a:pP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500" spc="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SET</a:t>
            </a:r>
            <a:r>
              <a:rPr sz="15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filosofo</a:t>
            </a:r>
            <a:r>
              <a:rPr sz="15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“Socrates"</a:t>
            </a:r>
            <a:endParaRPr sz="15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6752" y="4054855"/>
            <a:ext cx="2279650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3668C4"/>
                </a:solidFill>
                <a:latin typeface="Calibri"/>
                <a:cs typeface="Calibri"/>
              </a:rPr>
              <a:t>OK</a:t>
            </a:r>
            <a:endParaRPr sz="1500">
              <a:latin typeface="Calibri"/>
              <a:cs typeface="Calibri"/>
            </a:endParaRPr>
          </a:p>
          <a:p>
            <a:pPr marL="12700" marR="33655">
              <a:lnSpc>
                <a:spcPct val="100000"/>
              </a:lnSpc>
            </a:pP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500" spc="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GET </a:t>
            </a: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filosofo “Socrates"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500" spc="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GET </a:t>
            </a: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Filosofo</a:t>
            </a:r>
            <a:endParaRPr sz="1500">
              <a:latin typeface="Calibri"/>
              <a:cs typeface="Calibri"/>
            </a:endParaRPr>
          </a:p>
          <a:p>
            <a:pPr marL="12700" marR="1007110">
              <a:lnSpc>
                <a:spcPct val="100000"/>
              </a:lnSpc>
            </a:pP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(nil) 127.0.0.1:6379&gt;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6752" y="5426455"/>
            <a:ext cx="30861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127.0.0.1:6379</a:t>
            </a:r>
            <a:r>
              <a:rPr sz="15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500" spc="-6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SET</a:t>
            </a:r>
            <a:r>
              <a:rPr sz="15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filosofo</a:t>
            </a:r>
            <a:r>
              <a:rPr sz="1500" spc="-6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"Socratin" </a:t>
            </a:r>
            <a:r>
              <a:rPr sz="1500" spc="-25" dirty="0">
                <a:solidFill>
                  <a:srgbClr val="3668C4"/>
                </a:solidFill>
                <a:latin typeface="Calibri"/>
                <a:cs typeface="Calibri"/>
              </a:rPr>
              <a:t>OK</a:t>
            </a:r>
            <a:endParaRPr sz="1500">
              <a:latin typeface="Calibri"/>
              <a:cs typeface="Calibri"/>
            </a:endParaRPr>
          </a:p>
          <a:p>
            <a:pPr marL="12700" marR="840105">
              <a:lnSpc>
                <a:spcPct val="100000"/>
              </a:lnSpc>
            </a:pP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500" spc="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3668C4"/>
                </a:solidFill>
                <a:latin typeface="Calibri"/>
                <a:cs typeface="Calibri"/>
              </a:rPr>
              <a:t>GET </a:t>
            </a:r>
            <a:r>
              <a:rPr sz="1500" spc="-10" dirty="0">
                <a:solidFill>
                  <a:srgbClr val="3668C4"/>
                </a:solidFill>
                <a:latin typeface="Calibri"/>
                <a:cs typeface="Calibri"/>
              </a:rPr>
              <a:t>filosofo "Socratin"</a:t>
            </a:r>
            <a:endParaRPr sz="15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904" y="2852927"/>
            <a:ext cx="2909316" cy="3383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492246" y="4293870"/>
            <a:ext cx="1511935" cy="57658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97155" marR="90805" indent="173355">
              <a:lnSpc>
                <a:spcPts val="2160"/>
              </a:lnSpc>
              <a:spcBef>
                <a:spcPts val="5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Claves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son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Case-sensitive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8" name="object 8"/>
          <p:cNvSpPr txBox="1"/>
          <p:nvPr/>
        </p:nvSpPr>
        <p:spPr>
          <a:xfrm>
            <a:off x="4068317" y="5545073"/>
            <a:ext cx="1511935" cy="57658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61290" marR="154940" indent="63500">
              <a:lnSpc>
                <a:spcPts val="2160"/>
              </a:lnSpc>
              <a:spcBef>
                <a:spcPts val="5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existe,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se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sobreescribe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76414" y="5434638"/>
            <a:ext cx="3130550" cy="88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127.0.0.1:6379</a:t>
            </a:r>
            <a:r>
              <a:rPr sz="1400" spc="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400" spc="29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68C4"/>
                </a:solidFill>
                <a:latin typeface="Calibri"/>
                <a:cs typeface="Calibri"/>
              </a:rPr>
              <a:t>SETNX</a:t>
            </a:r>
            <a:r>
              <a:rPr sz="14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68C4"/>
                </a:solidFill>
                <a:latin typeface="Calibri"/>
                <a:cs typeface="Calibri"/>
              </a:rPr>
              <a:t>filosofo</a:t>
            </a:r>
            <a:r>
              <a:rPr sz="14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"Socratin" (integer)</a:t>
            </a:r>
            <a:r>
              <a:rPr sz="14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668C4"/>
                </a:solidFill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  <a:p>
            <a:pPr marL="12700" marR="985519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127.0.0.1:6379</a:t>
            </a:r>
            <a:r>
              <a:rPr sz="1400" spc="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4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68C4"/>
                </a:solidFill>
                <a:latin typeface="Calibri"/>
                <a:cs typeface="Calibri"/>
              </a:rPr>
              <a:t>GET</a:t>
            </a:r>
            <a:r>
              <a:rPr sz="14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filosofo "Socrates"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22214" y="4889753"/>
            <a:ext cx="3563620" cy="368935"/>
          </a:xfrm>
          <a:prstGeom prst="rect">
            <a:avLst/>
          </a:prstGeom>
          <a:ln w="38100">
            <a:solidFill>
              <a:srgbClr val="E75C01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29"/>
              </a:spcBef>
            </a:pPr>
            <a:r>
              <a:rPr sz="1800" dirty="0">
                <a:latin typeface="Calibri"/>
                <a:cs typeface="Calibri"/>
              </a:rPr>
              <a:t>Comando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SETNX</a:t>
            </a:r>
            <a:r>
              <a:rPr sz="1800" b="1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-&gt;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eXists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91833"/>
            <a:ext cx="56324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75" dirty="0"/>
              <a:t>Valor.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585991"/>
            <a:ext cx="3731260" cy="1701800"/>
          </a:xfrm>
          <a:prstGeom prst="rect">
            <a:avLst/>
          </a:prstGeom>
        </p:spPr>
        <p:txBody>
          <a:bodyPr vert="horz" wrap="square" lIns="0" tIns="2273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sz="4000" spc="-10" dirty="0">
                <a:latin typeface="Calibri"/>
                <a:cs typeface="Calibri"/>
              </a:rPr>
              <a:t>Redis</a:t>
            </a:r>
            <a:endParaRPr sz="4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5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Comandos</a:t>
            </a:r>
            <a:r>
              <a:rPr sz="2500" spc="-45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MSET</a:t>
            </a:r>
            <a:r>
              <a:rPr sz="2500" b="1" spc="-30" dirty="0">
                <a:latin typeface="Calibri"/>
                <a:cs typeface="Calibri"/>
              </a:rPr>
              <a:t> </a:t>
            </a:r>
            <a:r>
              <a:rPr sz="2500" b="1" dirty="0">
                <a:latin typeface="Calibri"/>
                <a:cs typeface="Calibri"/>
              </a:rPr>
              <a:t>Y</a:t>
            </a:r>
            <a:r>
              <a:rPr sz="2500" b="1" spc="-55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MGET</a:t>
            </a:r>
            <a:r>
              <a:rPr sz="2500" spc="-20" dirty="0">
                <a:latin typeface="Calibri"/>
                <a:cs typeface="Calibri"/>
              </a:rPr>
              <a:t>:</a:t>
            </a:r>
            <a:endParaRPr sz="25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10"/>
              </a:spcBef>
            </a:pPr>
            <a:r>
              <a:rPr sz="22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2200" spc="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22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262579"/>
            <a:ext cx="7550784" cy="3827779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413384" marR="5080">
              <a:lnSpc>
                <a:spcPts val="2110"/>
              </a:lnSpc>
              <a:spcBef>
                <a:spcPts val="605"/>
              </a:spcBef>
            </a:pPr>
            <a:r>
              <a:rPr sz="22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200" spc="-8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668C4"/>
                </a:solidFill>
                <a:latin typeface="Calibri"/>
                <a:cs typeface="Calibri"/>
              </a:rPr>
              <a:t>MSET</a:t>
            </a:r>
            <a:r>
              <a:rPr sz="2200" b="1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3668C4"/>
                </a:solidFill>
                <a:latin typeface="Calibri"/>
                <a:cs typeface="Calibri"/>
              </a:rPr>
              <a:t>filosofo1</a:t>
            </a:r>
            <a:r>
              <a:rPr sz="2200" i="1" spc="-7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668C4"/>
                </a:solidFill>
                <a:latin typeface="Calibri"/>
                <a:cs typeface="Calibri"/>
              </a:rPr>
              <a:t>“Platon“</a:t>
            </a:r>
            <a:r>
              <a:rPr sz="2200" spc="-6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3668C4"/>
                </a:solidFill>
                <a:latin typeface="Calibri"/>
                <a:cs typeface="Calibri"/>
              </a:rPr>
              <a:t>filosofo2</a:t>
            </a:r>
            <a:r>
              <a:rPr sz="2200" i="1" spc="-7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668C4"/>
                </a:solidFill>
                <a:latin typeface="Calibri"/>
                <a:cs typeface="Calibri"/>
              </a:rPr>
              <a:t>“Aristoteles” </a:t>
            </a:r>
            <a:r>
              <a:rPr sz="2200" dirty="0">
                <a:solidFill>
                  <a:srgbClr val="3668C4"/>
                </a:solidFill>
                <a:latin typeface="Calibri"/>
                <a:cs typeface="Calibri"/>
              </a:rPr>
              <a:t>filosofa</a:t>
            </a:r>
            <a:r>
              <a:rPr sz="2200" spc="-8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3668C4"/>
                </a:solidFill>
                <a:latin typeface="Calibri"/>
                <a:cs typeface="Calibri"/>
              </a:rPr>
              <a:t>“Hipatia”</a:t>
            </a:r>
            <a:endParaRPr sz="22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  <a:spcBef>
                <a:spcPts val="20"/>
              </a:spcBef>
            </a:pPr>
            <a:r>
              <a:rPr sz="2200" spc="-25" dirty="0">
                <a:solidFill>
                  <a:srgbClr val="3668C4"/>
                </a:solidFill>
                <a:latin typeface="Calibri"/>
                <a:cs typeface="Calibri"/>
              </a:rPr>
              <a:t>OK</a:t>
            </a:r>
            <a:endParaRPr sz="22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</a:pPr>
            <a:r>
              <a:rPr sz="22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200" spc="-8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668C4"/>
                </a:solidFill>
                <a:latin typeface="Calibri"/>
                <a:cs typeface="Calibri"/>
              </a:rPr>
              <a:t>MGET</a:t>
            </a:r>
            <a:r>
              <a:rPr sz="2200" b="1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i="1" dirty="0">
                <a:solidFill>
                  <a:srgbClr val="3668C4"/>
                </a:solidFill>
                <a:latin typeface="Calibri"/>
                <a:cs typeface="Calibri"/>
              </a:rPr>
              <a:t>filosofo1</a:t>
            </a:r>
            <a:r>
              <a:rPr sz="2200" i="1" spc="-8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200" i="1" spc="-10" dirty="0">
                <a:solidFill>
                  <a:srgbClr val="3668C4"/>
                </a:solidFill>
                <a:latin typeface="Calibri"/>
                <a:cs typeface="Calibri"/>
              </a:rPr>
              <a:t>filosofo2</a:t>
            </a:r>
            <a:endParaRPr sz="2200">
              <a:latin typeface="Calibri"/>
              <a:cs typeface="Calibri"/>
            </a:endParaRPr>
          </a:p>
          <a:p>
            <a:pPr marL="701675" indent="-288290">
              <a:lnSpc>
                <a:spcPct val="100000"/>
              </a:lnSpc>
              <a:buAutoNum type="arabicParenR"/>
              <a:tabLst>
                <a:tab pos="701675" algn="l"/>
              </a:tabLst>
            </a:pPr>
            <a:r>
              <a:rPr sz="2200" spc="-10" dirty="0">
                <a:solidFill>
                  <a:srgbClr val="3668C4"/>
                </a:solidFill>
                <a:latin typeface="Calibri"/>
                <a:cs typeface="Calibri"/>
              </a:rPr>
              <a:t>“Platon"</a:t>
            </a:r>
            <a:endParaRPr sz="2200">
              <a:latin typeface="Calibri"/>
              <a:cs typeface="Calibri"/>
            </a:endParaRPr>
          </a:p>
          <a:p>
            <a:pPr marL="701675" indent="-288290">
              <a:lnSpc>
                <a:spcPct val="100000"/>
              </a:lnSpc>
              <a:buAutoNum type="arabicParenR"/>
              <a:tabLst>
                <a:tab pos="701675" algn="l"/>
              </a:tabLst>
            </a:pPr>
            <a:r>
              <a:rPr sz="2200" spc="-10" dirty="0">
                <a:solidFill>
                  <a:srgbClr val="3668C4"/>
                </a:solidFill>
                <a:latin typeface="Calibri"/>
                <a:cs typeface="Calibri"/>
              </a:rPr>
              <a:t>“Aristoteles”</a:t>
            </a:r>
            <a:endParaRPr sz="2200">
              <a:latin typeface="Calibri"/>
              <a:cs typeface="Calibri"/>
            </a:endParaRPr>
          </a:p>
          <a:p>
            <a:pPr marL="413384">
              <a:lnSpc>
                <a:spcPts val="2635"/>
              </a:lnSpc>
            </a:pPr>
            <a:r>
              <a:rPr sz="22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ts val="2995"/>
              </a:lnSpc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500" dirty="0">
                <a:latin typeface="Calibri"/>
                <a:cs typeface="Calibri"/>
              </a:rPr>
              <a:t>Comando</a:t>
            </a:r>
            <a:r>
              <a:rPr sz="2500" spc="-65" dirty="0">
                <a:latin typeface="Calibri"/>
                <a:cs typeface="Calibri"/>
              </a:rPr>
              <a:t> </a:t>
            </a:r>
            <a:r>
              <a:rPr sz="2500" b="1" spc="-20" dirty="0">
                <a:latin typeface="Calibri"/>
                <a:cs typeface="Calibri"/>
              </a:rPr>
              <a:t>DEL</a:t>
            </a:r>
            <a:r>
              <a:rPr sz="2500" spc="-20" dirty="0">
                <a:latin typeface="Calibri"/>
                <a:cs typeface="Calibri"/>
              </a:rPr>
              <a:t>:</a:t>
            </a:r>
            <a:endParaRPr sz="25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</a:pPr>
            <a:r>
              <a:rPr sz="25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2500" spc="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25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25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</a:pPr>
            <a:r>
              <a:rPr sz="25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500" spc="-9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500" b="1" dirty="0">
                <a:solidFill>
                  <a:srgbClr val="3668C4"/>
                </a:solidFill>
                <a:latin typeface="Calibri"/>
                <a:cs typeface="Calibri"/>
              </a:rPr>
              <a:t>DEL</a:t>
            </a:r>
            <a:r>
              <a:rPr sz="2500" b="1" spc="-8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500" i="1" dirty="0">
                <a:solidFill>
                  <a:srgbClr val="3668C4"/>
                </a:solidFill>
                <a:latin typeface="Calibri"/>
                <a:cs typeface="Calibri"/>
              </a:rPr>
              <a:t>filosofo1</a:t>
            </a:r>
            <a:r>
              <a:rPr sz="2500" i="1" spc="-6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500" i="1" spc="-10" dirty="0">
                <a:solidFill>
                  <a:srgbClr val="3668C4"/>
                </a:solidFill>
                <a:latin typeface="Calibri"/>
                <a:cs typeface="Calibri"/>
              </a:rPr>
              <a:t>filosofo2</a:t>
            </a:r>
            <a:endParaRPr sz="2500">
              <a:latin typeface="Calibri"/>
              <a:cs typeface="Calibri"/>
            </a:endParaRPr>
          </a:p>
          <a:p>
            <a:pPr marL="413384">
              <a:lnSpc>
                <a:spcPct val="100000"/>
              </a:lnSpc>
            </a:pPr>
            <a:r>
              <a:rPr sz="2500" spc="-1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2500" spc="-6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500" spc="-50" dirty="0">
                <a:solidFill>
                  <a:srgbClr val="3668C4"/>
                </a:solidFill>
                <a:latin typeface="Calibri"/>
                <a:cs typeface="Calibri"/>
              </a:rPr>
              <a:t>2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71514" y="1131061"/>
            <a:ext cx="2618105" cy="939800"/>
            <a:chOff x="6271514" y="1131061"/>
            <a:chExt cx="2618105" cy="939800"/>
          </a:xfrm>
        </p:grpSpPr>
        <p:sp>
          <p:nvSpPr>
            <p:cNvPr id="6" name="object 6"/>
            <p:cNvSpPr/>
            <p:nvPr/>
          </p:nvSpPr>
          <p:spPr>
            <a:xfrm>
              <a:off x="6284214" y="1143761"/>
              <a:ext cx="2592705" cy="914400"/>
            </a:xfrm>
            <a:custGeom>
              <a:avLst/>
              <a:gdLst/>
              <a:ahLst/>
              <a:cxnLst/>
              <a:rect l="l" t="t" r="r" b="b"/>
              <a:pathLst>
                <a:path w="2592704" h="914400">
                  <a:moveTo>
                    <a:pt x="2592324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2592324" y="914400"/>
                  </a:lnTo>
                  <a:lnTo>
                    <a:pt x="2592324" y="0"/>
                  </a:lnTo>
                  <a:close/>
                </a:path>
              </a:pathLst>
            </a:custGeom>
            <a:solidFill>
              <a:srgbClr val="FE86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284214" y="1143761"/>
              <a:ext cx="2592705" cy="914400"/>
            </a:xfrm>
            <a:custGeom>
              <a:avLst/>
              <a:gdLst/>
              <a:ahLst/>
              <a:cxnLst/>
              <a:rect l="l" t="t" r="r" b="b"/>
              <a:pathLst>
                <a:path w="2592704" h="914400">
                  <a:moveTo>
                    <a:pt x="0" y="0"/>
                  </a:moveTo>
                  <a:lnTo>
                    <a:pt x="2592324" y="0"/>
                  </a:lnTo>
                  <a:lnTo>
                    <a:pt x="2592324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BB61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538048" y="1160779"/>
            <a:ext cx="2082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ya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existe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clave,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sp>
        <p:nvSpPr>
          <p:cNvPr id="9" name="object 9"/>
          <p:cNvSpPr txBox="1"/>
          <p:nvPr/>
        </p:nvSpPr>
        <p:spPr>
          <a:xfrm>
            <a:off x="6565480" y="1435100"/>
            <a:ext cx="2027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 marR="5080" indent="-2032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sobreescribe</a:t>
            </a:r>
            <a:r>
              <a:rPr sz="18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valor,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si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 se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usa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MSETNX.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13594" y="6386228"/>
            <a:ext cx="4970145" cy="335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">
              <a:lnSpc>
                <a:spcPts val="1140"/>
              </a:lnSpc>
              <a:tabLst>
                <a:tab pos="4813935" algn="l"/>
              </a:tabLst>
            </a:pP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	</a:t>
            </a:r>
            <a:r>
              <a:rPr sz="1800" spc="-37" baseline="-32407" dirty="0">
                <a:solidFill>
                  <a:srgbClr val="8A8A8A"/>
                </a:solidFill>
                <a:latin typeface="Calibri"/>
                <a:cs typeface="Calibri"/>
              </a:rPr>
              <a:t>18</a:t>
            </a:r>
            <a:endParaRPr sz="1800" baseline="-32407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BBDD</a:t>
            </a:r>
            <a:r>
              <a:rPr sz="1200" spc="-3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No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SQL.</a:t>
            </a:r>
            <a:r>
              <a:rPr sz="1200" spc="-1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BD</a:t>
            </a: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Clave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Valor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607312"/>
            <a:ext cx="7855584" cy="2171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Comando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KEYS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para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obtener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todas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las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claves </a:t>
            </a:r>
            <a:r>
              <a:rPr sz="3200" dirty="0">
                <a:latin typeface="Calibri"/>
                <a:cs typeface="Calibri"/>
              </a:rPr>
              <a:t>almacenadas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que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coincidan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con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el</a:t>
            </a:r>
            <a:r>
              <a:rPr sz="3200" spc="-9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patrón</a:t>
            </a:r>
            <a:endParaRPr sz="3200">
              <a:latin typeface="Calibri"/>
              <a:cs typeface="Calibri"/>
            </a:endParaRPr>
          </a:p>
          <a:p>
            <a:pPr marL="12700" marR="3844290">
              <a:lnSpc>
                <a:spcPts val="4610"/>
              </a:lnSpc>
              <a:spcBef>
                <a:spcPts val="90"/>
              </a:spcBef>
            </a:pPr>
            <a:r>
              <a:rPr sz="32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3200" spc="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668C4"/>
                </a:solidFill>
                <a:latin typeface="Calibri"/>
                <a:cs typeface="Calibri"/>
              </a:rPr>
              <a:t>redis-cli </a:t>
            </a:r>
            <a:r>
              <a:rPr sz="32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32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668C4"/>
                </a:solidFill>
                <a:latin typeface="Calibri"/>
                <a:cs typeface="Calibri"/>
              </a:rPr>
              <a:t>KEYS</a:t>
            </a:r>
            <a:r>
              <a:rPr sz="3200" spc="-7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3668C4"/>
                </a:solidFill>
                <a:latin typeface="Calibri"/>
                <a:cs typeface="Calibri"/>
              </a:rPr>
              <a:t>f*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6223" y="3850189"/>
            <a:ext cx="22059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4340" indent="-421640">
              <a:lnSpc>
                <a:spcPts val="3840"/>
              </a:lnSpc>
              <a:spcBef>
                <a:spcPts val="100"/>
              </a:spcBef>
              <a:buAutoNum type="arabicParenR"/>
              <a:tabLst>
                <a:tab pos="434340" algn="l"/>
              </a:tabLst>
            </a:pPr>
            <a:r>
              <a:rPr sz="3200" spc="-10" dirty="0">
                <a:solidFill>
                  <a:srgbClr val="3668C4"/>
                </a:solidFill>
                <a:latin typeface="Calibri"/>
                <a:cs typeface="Calibri"/>
              </a:rPr>
              <a:t>"filosofo2"</a:t>
            </a:r>
            <a:endParaRPr sz="3200">
              <a:latin typeface="Calibri"/>
              <a:cs typeface="Calibri"/>
            </a:endParaRPr>
          </a:p>
          <a:p>
            <a:pPr marL="434340" indent="-421640">
              <a:lnSpc>
                <a:spcPts val="3840"/>
              </a:lnSpc>
              <a:buAutoNum type="arabicParenR"/>
              <a:tabLst>
                <a:tab pos="434340" algn="l"/>
              </a:tabLst>
            </a:pPr>
            <a:r>
              <a:rPr sz="3200" spc="-10" dirty="0">
                <a:solidFill>
                  <a:srgbClr val="3668C4"/>
                </a:solidFill>
                <a:latin typeface="Calibri"/>
                <a:cs typeface="Calibri"/>
              </a:rPr>
              <a:t>"filosofo1"</a:t>
            </a:r>
            <a:endParaRPr sz="3200">
              <a:latin typeface="Calibri"/>
              <a:cs typeface="Calibri"/>
            </a:endParaRPr>
          </a:p>
          <a:p>
            <a:pPr marL="434340" indent="-421640">
              <a:lnSpc>
                <a:spcPct val="100000"/>
              </a:lnSpc>
              <a:buAutoNum type="arabicParenR"/>
              <a:tabLst>
                <a:tab pos="434340" algn="l"/>
              </a:tabLst>
            </a:pPr>
            <a:r>
              <a:rPr sz="3200" spc="-10" dirty="0">
                <a:solidFill>
                  <a:srgbClr val="3668C4"/>
                </a:solidFill>
                <a:latin typeface="Calibri"/>
                <a:cs typeface="Calibri"/>
              </a:rPr>
              <a:t>"filosofo"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12908" y="3740109"/>
            <a:ext cx="5771515" cy="2664460"/>
          </a:xfrm>
          <a:prstGeom prst="rect">
            <a:avLst/>
          </a:prstGeom>
          <a:solidFill>
            <a:srgbClr val="FE8637"/>
          </a:solidFill>
          <a:ln w="25400">
            <a:solidFill>
              <a:srgbClr val="BB6126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sz="2400" b="1" dirty="0">
                <a:latin typeface="Calibri"/>
                <a:cs typeface="Calibri"/>
              </a:rPr>
              <a:t>Posibles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patrones:</a:t>
            </a:r>
            <a:endParaRPr sz="24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  <a:spcBef>
                <a:spcPts val="3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dirty="0">
                <a:latin typeface="Calibri"/>
                <a:cs typeface="Calibri"/>
              </a:rPr>
              <a:t>?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llo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hello,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hallo,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hxllo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(exactamente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un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carácter)</a:t>
            </a:r>
            <a:endParaRPr sz="1800">
              <a:latin typeface="Calibri"/>
              <a:cs typeface="Calibri"/>
            </a:endParaRPr>
          </a:p>
          <a:p>
            <a:pPr marL="9080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</a:t>
            </a:r>
            <a:r>
              <a:rPr sz="1800" dirty="0">
                <a:latin typeface="Calibri"/>
                <a:cs typeface="Calibri"/>
              </a:rPr>
              <a:t>*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llo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hllo,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heeeello</a:t>
            </a:r>
            <a:r>
              <a:rPr sz="18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(0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..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n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caracteres)</a:t>
            </a:r>
            <a:endParaRPr sz="1800">
              <a:latin typeface="Calibri"/>
              <a:cs typeface="Calibri"/>
            </a:endParaRPr>
          </a:p>
          <a:p>
            <a:pPr marL="90805" marR="589280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h[ae]llo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hello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hallo,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pero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hullo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(cualquiera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de</a:t>
            </a:r>
            <a:r>
              <a:rPr sz="1800" i="1" spc="-25" dirty="0">
                <a:latin typeface="Calibri"/>
                <a:cs typeface="Calibri"/>
              </a:rPr>
              <a:t> los </a:t>
            </a:r>
            <a:r>
              <a:rPr sz="1800" i="1" dirty="0">
                <a:latin typeface="Calibri"/>
                <a:cs typeface="Calibri"/>
              </a:rPr>
              <a:t>caracteres</a:t>
            </a:r>
            <a:r>
              <a:rPr sz="1800" i="1" spc="-5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entre</a:t>
            </a:r>
            <a:r>
              <a:rPr sz="1800" i="1" spc="-6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corchetes)</a:t>
            </a:r>
            <a:endParaRPr sz="1800">
              <a:latin typeface="Calibri"/>
              <a:cs typeface="Calibri"/>
            </a:endParaRPr>
          </a:p>
          <a:p>
            <a:pPr marL="90805" marR="86995">
              <a:lnSpc>
                <a:spcPct val="100000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h[^e]llo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330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hallo,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hbllo,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...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hello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(un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carácter</a:t>
            </a:r>
            <a:r>
              <a:rPr sz="1800" i="1" spc="-2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que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spc="-25" dirty="0">
                <a:latin typeface="Calibri"/>
                <a:cs typeface="Calibri"/>
              </a:rPr>
              <a:t>no </a:t>
            </a:r>
            <a:r>
              <a:rPr sz="1800" i="1" dirty="0">
                <a:latin typeface="Calibri"/>
                <a:cs typeface="Calibri"/>
              </a:rPr>
              <a:t>sea</a:t>
            </a:r>
            <a:r>
              <a:rPr sz="1800" i="1" spc="-5" dirty="0">
                <a:latin typeface="Calibri"/>
                <a:cs typeface="Calibri"/>
              </a:rPr>
              <a:t> </a:t>
            </a:r>
            <a:r>
              <a:rPr sz="1800" i="1" spc="-20" dirty="0">
                <a:latin typeface="Calibri"/>
                <a:cs typeface="Calibri"/>
              </a:rPr>
              <a:t>“e”)</a:t>
            </a:r>
            <a:endParaRPr sz="1800">
              <a:latin typeface="Calibri"/>
              <a:cs typeface="Calibri"/>
            </a:endParaRPr>
          </a:p>
          <a:p>
            <a:pPr marL="90805" marR="498475">
              <a:lnSpc>
                <a:spcPct val="100000"/>
              </a:lnSpc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h[a-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b]llo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→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hallo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hbllo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(cualquiera</a:t>
            </a:r>
            <a:r>
              <a:rPr sz="1800" i="1" spc="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de</a:t>
            </a:r>
            <a:r>
              <a:rPr sz="1800" i="1" spc="-2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los</a:t>
            </a:r>
            <a:r>
              <a:rPr sz="1800" i="1" spc="-10" dirty="0">
                <a:latin typeface="Calibri"/>
                <a:cs typeface="Calibri"/>
              </a:rPr>
              <a:t> caracteres </a:t>
            </a:r>
            <a:r>
              <a:rPr sz="1800" i="1" dirty="0">
                <a:latin typeface="Calibri"/>
                <a:cs typeface="Calibri"/>
              </a:rPr>
              <a:t>comprendido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en</a:t>
            </a:r>
            <a:r>
              <a:rPr sz="1800" i="1" spc="-4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el</a:t>
            </a:r>
            <a:r>
              <a:rPr sz="1800" i="1" spc="-35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rango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dirty="0">
                <a:latin typeface="Calibri"/>
                <a:cs typeface="Calibri"/>
              </a:rPr>
              <a:t>entre</a:t>
            </a:r>
            <a:r>
              <a:rPr sz="1800" i="1" spc="-30" dirty="0">
                <a:latin typeface="Calibri"/>
                <a:cs typeface="Calibri"/>
              </a:rPr>
              <a:t> </a:t>
            </a:r>
            <a:r>
              <a:rPr sz="1800" i="1" spc="-10" dirty="0">
                <a:latin typeface="Calibri"/>
                <a:cs typeface="Calibri"/>
              </a:rPr>
              <a:t>corchetes)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40256"/>
            <a:ext cx="7751445" cy="2248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Tipos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Datos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Básicos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Valores: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String:</a:t>
            </a:r>
            <a:endParaRPr sz="2400">
              <a:latin typeface="Calibri"/>
              <a:cs typeface="Calibri"/>
            </a:endParaRPr>
          </a:p>
          <a:p>
            <a:pPr marL="756285" marR="36195" lvl="1" indent="-287020">
              <a:lnSpc>
                <a:spcPct val="100000"/>
              </a:lnSpc>
              <a:spcBef>
                <a:spcPts val="509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almacenar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cualquier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tipo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dato: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texto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(XML,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JSON,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HTML</a:t>
            </a:r>
            <a:r>
              <a:rPr sz="2000" spc="-50" dirty="0">
                <a:latin typeface="Calibri"/>
                <a:cs typeface="Calibri"/>
              </a:rPr>
              <a:t> o </a:t>
            </a:r>
            <a:r>
              <a:rPr sz="2000" dirty="0">
                <a:latin typeface="Calibri"/>
                <a:cs typeface="Calibri"/>
              </a:rPr>
              <a:t>texto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plano),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integers,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floats,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binarios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(vídeos,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imágenes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o </a:t>
            </a:r>
            <a:r>
              <a:rPr sz="2000" dirty="0">
                <a:latin typeface="Calibri"/>
                <a:cs typeface="Calibri"/>
              </a:rPr>
              <a:t>ficheros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audio).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Un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puede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superar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512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MB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texto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binarios.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61092" y="1516178"/>
            <a:ext cx="6882765" cy="475043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6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b="1" dirty="0">
                <a:latin typeface="Calibri"/>
                <a:cs typeface="Calibri"/>
              </a:rPr>
              <a:t>String: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Caché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expiración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automática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clave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</a:t>
            </a:r>
            <a:r>
              <a:rPr sz="1600" b="1" dirty="0">
                <a:latin typeface="Calibri"/>
                <a:cs typeface="Calibri"/>
              </a:rPr>
              <a:t>comandos EXPIRE,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TTL</a:t>
            </a:r>
            <a:r>
              <a:rPr sz="1600" spc="-20" dirty="0"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00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16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1600" dirty="0">
              <a:latin typeface="Calibri"/>
              <a:cs typeface="Calibri"/>
            </a:endParaRPr>
          </a:p>
          <a:p>
            <a:pPr marL="469265" marR="1225550">
              <a:lnSpc>
                <a:spcPct val="120000"/>
              </a:lnSpc>
              <a:spcBef>
                <a:spcPts val="5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SET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capitulo_actual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“Capítulo</a:t>
            </a:r>
            <a:r>
              <a:rPr sz="1600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1:</a:t>
            </a:r>
            <a:r>
              <a:rPr sz="16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Introducción"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OK</a:t>
            </a:r>
            <a:endParaRPr sz="1600" dirty="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80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6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668C4"/>
                </a:solidFill>
                <a:latin typeface="Calibri"/>
                <a:cs typeface="Calibri"/>
              </a:rPr>
              <a:t>TTL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capitulo_actual</a:t>
            </a:r>
            <a:endParaRPr sz="1600" dirty="0">
              <a:latin typeface="Calibri"/>
              <a:cs typeface="Calibri"/>
            </a:endParaRPr>
          </a:p>
          <a:p>
            <a:pPr marL="469265" marR="681355">
              <a:lnSpc>
                <a:spcPct val="119400"/>
              </a:lnSpc>
              <a:spcBef>
                <a:spcPts val="2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-1</a:t>
            </a:r>
            <a:r>
              <a:rPr sz="16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Wingdings"/>
                <a:cs typeface="Wingdings"/>
              </a:rPr>
              <a:t>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existe</a:t>
            </a:r>
            <a:r>
              <a:rPr sz="1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pero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sin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especificar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el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tiempo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expiración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EXPIRE</a:t>
            </a:r>
            <a:r>
              <a:rPr sz="16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capitulo_actual</a:t>
            </a:r>
            <a:r>
              <a:rPr sz="1600" spc="-6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10</a:t>
            </a:r>
            <a:endParaRPr sz="1600" dirty="0">
              <a:latin typeface="Calibri"/>
              <a:cs typeface="Calibri"/>
            </a:endParaRPr>
          </a:p>
          <a:p>
            <a:pPr marL="469265" marR="188595">
              <a:lnSpc>
                <a:spcPct val="119400"/>
              </a:lnSpc>
              <a:spcBef>
                <a:spcPts val="2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r>
              <a:rPr sz="16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Wingdings"/>
                <a:cs typeface="Wingdings"/>
              </a:rPr>
              <a:t></a:t>
            </a:r>
            <a:r>
              <a:rPr sz="16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Especificar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el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tiempo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vida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(en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segundos)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una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dada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GET</a:t>
            </a:r>
            <a:r>
              <a:rPr sz="16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capitulo_actual</a:t>
            </a:r>
            <a:endParaRPr sz="1600" dirty="0">
              <a:latin typeface="Calibri"/>
              <a:cs typeface="Calibri"/>
            </a:endParaRPr>
          </a:p>
          <a:p>
            <a:pPr marL="469265" marR="3420110">
              <a:lnSpc>
                <a:spcPct val="120000"/>
              </a:lnSpc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"</a:t>
            </a:r>
            <a:r>
              <a:rPr sz="16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Capítulo</a:t>
            </a:r>
            <a:r>
              <a:rPr sz="16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1:</a:t>
            </a:r>
            <a:r>
              <a:rPr sz="16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Introducción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3668C4"/>
                </a:solidFill>
                <a:latin typeface="Calibri"/>
                <a:cs typeface="Calibri"/>
              </a:rPr>
              <a:t>"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TTL</a:t>
            </a:r>
            <a:r>
              <a:rPr sz="16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capitulo_actual</a:t>
            </a:r>
            <a:endParaRPr sz="1600" dirty="0">
              <a:latin typeface="Calibri"/>
              <a:cs typeface="Calibri"/>
            </a:endParaRPr>
          </a:p>
          <a:p>
            <a:pPr marL="469265" marR="1646555">
              <a:lnSpc>
                <a:spcPct val="119400"/>
              </a:lnSpc>
              <a:spcBef>
                <a:spcPts val="2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3</a:t>
            </a:r>
            <a:r>
              <a:rPr sz="16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Wingdings"/>
                <a:cs typeface="Wingdings"/>
              </a:rPr>
              <a:t></a:t>
            </a:r>
            <a:r>
              <a:rPr sz="16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Número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segundos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vida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que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le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quedan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TTL</a:t>
            </a:r>
            <a:r>
              <a:rPr sz="16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capitulo_actual</a:t>
            </a:r>
            <a:endParaRPr sz="1600" dirty="0">
              <a:latin typeface="Calibri"/>
              <a:cs typeface="Calibri"/>
            </a:endParaRPr>
          </a:p>
          <a:p>
            <a:pPr marL="469265" marR="3378835">
              <a:lnSpc>
                <a:spcPct val="119700"/>
              </a:lnSpc>
              <a:spcBef>
                <a:spcPts val="1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FF0000"/>
                </a:solidFill>
                <a:latin typeface="Calibri"/>
                <a:cs typeface="Calibri"/>
              </a:rPr>
              <a:t>-2</a:t>
            </a:r>
            <a:r>
              <a:rPr sz="16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Wingdings"/>
                <a:cs typeface="Wingdings"/>
              </a:rPr>
              <a:t></a:t>
            </a:r>
            <a:r>
              <a:rPr sz="16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ha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expirado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GET</a:t>
            </a:r>
            <a:r>
              <a:rPr sz="16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capitulo_actual (nil)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92753" y="6354697"/>
            <a:ext cx="446405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14"/>
              </a:lnSpc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"7.4“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00894" y="6526064"/>
            <a:ext cx="2992755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00"/>
              </a:lnSpc>
            </a:pP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BBDD</a:t>
            </a:r>
            <a:r>
              <a:rPr sz="1200" spc="-3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No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SQL.</a:t>
            </a:r>
            <a:r>
              <a:rPr sz="1200" spc="-1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BD</a:t>
            </a: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Clave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Valor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885" y="1571571"/>
            <a:ext cx="6648450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84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600" dirty="0">
                <a:latin typeface="Calibri"/>
                <a:cs typeface="Calibri"/>
              </a:rPr>
              <a:t>Comandos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INCR,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30" dirty="0">
                <a:latin typeface="Calibri"/>
                <a:cs typeface="Calibri"/>
              </a:rPr>
              <a:t>INCRBY,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spc="-40" dirty="0">
                <a:latin typeface="Calibri"/>
                <a:cs typeface="Calibri"/>
              </a:rPr>
              <a:t>INCRBYFLOAT,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DECR,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40" dirty="0">
                <a:latin typeface="Calibri"/>
                <a:cs typeface="Calibri"/>
              </a:rPr>
              <a:t>DECRBY,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EXISTS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y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GETSET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El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valor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debe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ser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numérico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se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tiene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que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poder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representar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 como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tal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(p.e.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“22”)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2753" y="2156945"/>
            <a:ext cx="3618229" cy="4123054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16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1600">
              <a:latin typeface="Calibri"/>
              <a:cs typeface="Calibri"/>
            </a:endParaRPr>
          </a:p>
          <a:p>
            <a:pPr marL="12700" marR="776605">
              <a:lnSpc>
                <a:spcPct val="120000"/>
              </a:lnSpc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SET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contador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100 OK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INCR</a:t>
            </a:r>
            <a:r>
              <a:rPr sz="16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contador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101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INCRBY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contador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3668C4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106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DECR</a:t>
            </a:r>
            <a:r>
              <a:rPr sz="16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contador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105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 DECRBY</a:t>
            </a:r>
            <a:r>
              <a:rPr sz="16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contador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100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3668C4"/>
                </a:solidFill>
                <a:latin typeface="Calibri"/>
                <a:cs typeface="Calibri"/>
              </a:rPr>
              <a:t>5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GET</a:t>
            </a:r>
            <a:r>
              <a:rPr sz="16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contador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"5"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INCRBYFLOAT</a:t>
            </a:r>
            <a:r>
              <a:rPr sz="16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contador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2.4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38136" y="2249576"/>
            <a:ext cx="3529329" cy="23183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777240" lvl="3" indent="-764540">
              <a:lnSpc>
                <a:spcPct val="100000"/>
              </a:lnSpc>
              <a:spcBef>
                <a:spcPts val="484"/>
              </a:spcBef>
              <a:buSzPct val="93750"/>
              <a:buAutoNum type="arabicPeriod"/>
              <a:tabLst>
                <a:tab pos="777240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:6379</a:t>
            </a:r>
            <a:r>
              <a:rPr sz="1600" spc="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EXISTS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Variable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3668C4"/>
                </a:solidFill>
                <a:latin typeface="Calibri"/>
                <a:cs typeface="Calibri"/>
              </a:rPr>
              <a:t>0</a:t>
            </a:r>
            <a:endParaRPr sz="1600">
              <a:latin typeface="Calibri"/>
              <a:cs typeface="Calibri"/>
            </a:endParaRPr>
          </a:p>
          <a:p>
            <a:pPr marL="777240" lvl="3" indent="-764540">
              <a:lnSpc>
                <a:spcPct val="100000"/>
              </a:lnSpc>
              <a:spcBef>
                <a:spcPts val="384"/>
              </a:spcBef>
              <a:buSzPct val="93750"/>
              <a:buAutoNum type="arabicPeriod"/>
              <a:tabLst>
                <a:tab pos="777240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:6379</a:t>
            </a:r>
            <a:r>
              <a:rPr sz="1600" spc="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INCR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Variable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  <a:p>
            <a:pPr marL="12700" marR="5080" lvl="4" indent="226695">
              <a:lnSpc>
                <a:spcPts val="1910"/>
              </a:lnSpc>
              <a:spcBef>
                <a:spcPts val="465"/>
              </a:spcBef>
              <a:buFont typeface="Wingdings"/>
              <a:buChar char=""/>
              <a:tabLst>
                <a:tab pos="239395" algn="l"/>
              </a:tabLst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Si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existe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la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Variable,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primero 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se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crea,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inicializándola</a:t>
            </a:r>
            <a:r>
              <a:rPr sz="16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0.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127.0.0.1:6379</a:t>
            </a:r>
            <a:r>
              <a:rPr sz="1600" spc="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EXISTS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Variable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8136" y="4834506"/>
            <a:ext cx="3788410" cy="149034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777240" lvl="3" indent="-764540">
              <a:lnSpc>
                <a:spcPct val="100000"/>
              </a:lnSpc>
              <a:spcBef>
                <a:spcPts val="484"/>
              </a:spcBef>
              <a:buSzPct val="93750"/>
              <a:buAutoNum type="arabicPeriod"/>
              <a:tabLst>
                <a:tab pos="777240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:6379</a:t>
            </a:r>
            <a:r>
              <a:rPr sz="1600" spc="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INCR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3668C4"/>
                </a:solidFill>
                <a:latin typeface="Calibri"/>
                <a:cs typeface="Calibri"/>
              </a:rPr>
              <a:t>Clave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102</a:t>
            </a:r>
            <a:endParaRPr sz="1600">
              <a:latin typeface="Calibri"/>
              <a:cs typeface="Calibri"/>
            </a:endParaRPr>
          </a:p>
          <a:p>
            <a:pPr marL="777240" lvl="3" indent="-764540">
              <a:lnSpc>
                <a:spcPct val="100000"/>
              </a:lnSpc>
              <a:spcBef>
                <a:spcPts val="384"/>
              </a:spcBef>
              <a:buSzPct val="93750"/>
              <a:buAutoNum type="arabicPeriod"/>
              <a:tabLst>
                <a:tab pos="777240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:6379</a:t>
            </a:r>
            <a:r>
              <a:rPr sz="16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GETSET</a:t>
            </a:r>
            <a:r>
              <a:rPr sz="16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Clave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54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"102“</a:t>
            </a:r>
            <a:endParaRPr sz="1600">
              <a:latin typeface="Calibri"/>
              <a:cs typeface="Calibri"/>
            </a:endParaRPr>
          </a:p>
          <a:p>
            <a:pPr marL="239395" lvl="4" indent="-226695">
              <a:lnSpc>
                <a:spcPct val="100000"/>
              </a:lnSpc>
              <a:spcBef>
                <a:spcPts val="395"/>
              </a:spcBef>
              <a:buFont typeface="Wingdings"/>
              <a:buChar char=""/>
              <a:tabLst>
                <a:tab pos="239395" algn="l"/>
              </a:tabLst>
            </a:pP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Inicializa</a:t>
            </a:r>
            <a:r>
              <a:rPr sz="16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el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valor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la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54</a:t>
            </a:r>
            <a:r>
              <a:rPr sz="16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y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muestra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23240" y="1540256"/>
            <a:ext cx="8133715" cy="298005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675"/>
              </a:spcBef>
              <a:buClr>
                <a:srgbClr val="E75C01"/>
              </a:buClr>
              <a:buFont typeface="Arial"/>
              <a:buChar char="•"/>
              <a:tabLst>
                <a:tab pos="3676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Tipos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Datos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Básicos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Valores:</a:t>
            </a:r>
            <a:endParaRPr sz="2400">
              <a:latin typeface="Calibri"/>
              <a:cs typeface="Calibri"/>
            </a:endParaRPr>
          </a:p>
          <a:p>
            <a:pPr marL="367665" indent="-342265">
              <a:lnSpc>
                <a:spcPct val="100000"/>
              </a:lnSpc>
              <a:spcBef>
                <a:spcPts val="575"/>
              </a:spcBef>
              <a:buClr>
                <a:srgbClr val="E75C01"/>
              </a:buClr>
              <a:buFont typeface="Arial"/>
              <a:buChar char="•"/>
              <a:tabLst>
                <a:tab pos="367665" algn="l"/>
              </a:tabLst>
            </a:pPr>
            <a:r>
              <a:rPr sz="2400" b="1" spc="-10" dirty="0">
                <a:latin typeface="Calibri"/>
                <a:cs typeface="Calibri"/>
              </a:rPr>
              <a:t>Listas:</a:t>
            </a:r>
            <a:endParaRPr sz="2400">
              <a:latin typeface="Calibri"/>
              <a:cs typeface="Calibri"/>
            </a:endParaRPr>
          </a:p>
          <a:p>
            <a:pPr marL="768985" lvl="1" indent="-286385">
              <a:lnSpc>
                <a:spcPct val="100000"/>
              </a:lnSpc>
              <a:spcBef>
                <a:spcPts val="509"/>
              </a:spcBef>
              <a:buClr>
                <a:srgbClr val="E75C01"/>
              </a:buClr>
              <a:buFont typeface="Arial"/>
              <a:buChar char="–"/>
              <a:tabLst>
                <a:tab pos="768985" algn="l"/>
              </a:tabLst>
            </a:pPr>
            <a:r>
              <a:rPr sz="2000" dirty="0">
                <a:latin typeface="Calibri"/>
                <a:cs typeface="Calibri"/>
              </a:rPr>
              <a:t>Tipo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flexible.</a:t>
            </a:r>
            <a:endParaRPr sz="2000">
              <a:latin typeface="Calibri"/>
              <a:cs typeface="Calibri"/>
            </a:endParaRPr>
          </a:p>
          <a:p>
            <a:pPr marL="768985" lvl="1" indent="-286385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–"/>
              <a:tabLst>
                <a:tab pos="768985" algn="l"/>
              </a:tabLst>
            </a:pP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funcionar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simple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colección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pila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cola.</a:t>
            </a:r>
            <a:endParaRPr sz="2000">
              <a:latin typeface="Calibri"/>
              <a:cs typeface="Calibri"/>
            </a:endParaRPr>
          </a:p>
          <a:p>
            <a:pPr marL="768350" marR="56515" lvl="1" indent="-286385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–"/>
              <a:tabLst>
                <a:tab pos="768350" algn="l"/>
                <a:tab pos="1289685" algn="l"/>
                <a:tab pos="2556510" algn="l"/>
                <a:tab pos="3002915" algn="l"/>
                <a:tab pos="3717290" algn="l"/>
                <a:tab pos="4273550" algn="l"/>
                <a:tab pos="5408930" algn="l"/>
                <a:tab pos="6605905" algn="l"/>
                <a:tab pos="7179945" algn="l"/>
              </a:tabLst>
            </a:pPr>
            <a:r>
              <a:rPr sz="2000" spc="-25" dirty="0">
                <a:latin typeface="Calibri"/>
                <a:cs typeface="Calibri"/>
              </a:rPr>
              <a:t>Los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comandos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de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listas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25" dirty="0">
                <a:latin typeface="Calibri"/>
                <a:cs typeface="Calibri"/>
              </a:rPr>
              <a:t>son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b="1" spc="-10" dirty="0">
                <a:latin typeface="Calibri"/>
                <a:cs typeface="Calibri"/>
              </a:rPr>
              <a:t>atómicos</a:t>
            </a:r>
            <a:r>
              <a:rPr sz="2000" b="1" dirty="0">
                <a:latin typeface="Calibri"/>
                <a:cs typeface="Calibri"/>
              </a:rPr>
              <a:t>	</a:t>
            </a:r>
            <a:r>
              <a:rPr sz="2000" spc="-10" dirty="0">
                <a:latin typeface="Calibri"/>
                <a:cs typeface="Calibri"/>
              </a:rPr>
              <a:t>(garantiza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5" dirty="0">
                <a:latin typeface="Calibri"/>
                <a:cs typeface="Calibri"/>
              </a:rPr>
              <a:t>que</a:t>
            </a:r>
            <a:r>
              <a:rPr sz="2000" dirty="0">
                <a:latin typeface="Calibri"/>
                <a:cs typeface="Calibri"/>
              </a:rPr>
              <a:t>	</a:t>
            </a:r>
            <a:r>
              <a:rPr sz="2000" spc="-20" dirty="0">
                <a:latin typeface="Calibri"/>
                <a:cs typeface="Calibri"/>
              </a:rPr>
              <a:t>sistemas </a:t>
            </a:r>
            <a:r>
              <a:rPr sz="2000" spc="-10" dirty="0">
                <a:latin typeface="Calibri"/>
                <a:cs typeface="Calibri"/>
              </a:rPr>
              <a:t>concurrentes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solapen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ítems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cola)</a:t>
            </a:r>
            <a:endParaRPr sz="2000">
              <a:latin typeface="Calibri"/>
              <a:cs typeface="Calibri"/>
            </a:endParaRPr>
          </a:p>
          <a:p>
            <a:pPr marL="768350" marR="55880" lvl="1" indent="-286385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–"/>
              <a:tabLst>
                <a:tab pos="768350" algn="l"/>
              </a:tabLst>
            </a:pPr>
            <a:r>
              <a:rPr sz="2000" dirty="0">
                <a:latin typeface="Calibri"/>
                <a:cs typeface="Calibri"/>
              </a:rPr>
              <a:t>La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longitud</a:t>
            </a:r>
            <a:r>
              <a:rPr sz="2000" b="1" spc="1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máxima</a:t>
            </a:r>
            <a:r>
              <a:rPr sz="2000" b="1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lista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</a:t>
            </a:r>
            <a:r>
              <a:rPr sz="1950" baseline="25641" dirty="0">
                <a:latin typeface="Calibri"/>
                <a:cs typeface="Calibri"/>
              </a:rPr>
              <a:t>32</a:t>
            </a:r>
            <a:r>
              <a:rPr sz="1950" spc="397" baseline="25641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–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(más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000</a:t>
            </a:r>
            <a:r>
              <a:rPr sz="2000" spc="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millones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0" dirty="0">
                <a:latin typeface="Calibri"/>
                <a:cs typeface="Calibri"/>
              </a:rPr>
              <a:t> elementos).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363" y="64268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23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61880" y="6649721"/>
            <a:ext cx="194246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BBDD</a:t>
            </a:r>
            <a:r>
              <a:rPr sz="1200" spc="-3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No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SQL.</a:t>
            </a:r>
            <a:r>
              <a:rPr sz="1200" spc="-1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BD</a:t>
            </a: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Clave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Valor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537208"/>
            <a:ext cx="8072755" cy="446786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5600" marR="5715" indent="-343535">
              <a:lnSpc>
                <a:spcPct val="80000"/>
              </a:lnSpc>
              <a:spcBef>
                <a:spcPts val="745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Existen</a:t>
            </a:r>
            <a:r>
              <a:rPr sz="2700" spc="2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comandos</a:t>
            </a:r>
            <a:r>
              <a:rPr sz="2700" spc="2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para</a:t>
            </a:r>
            <a:r>
              <a:rPr sz="2700" spc="27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insertar</a:t>
            </a:r>
            <a:r>
              <a:rPr sz="2700" spc="2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datos</a:t>
            </a:r>
            <a:r>
              <a:rPr sz="2700" spc="2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</a:t>
            </a:r>
            <a:r>
              <a:rPr sz="2700" spc="26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principio</a:t>
            </a:r>
            <a:r>
              <a:rPr sz="2700" spc="28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y</a:t>
            </a:r>
            <a:r>
              <a:rPr sz="2700" spc="260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al </a:t>
            </a:r>
            <a:r>
              <a:rPr sz="2700" dirty="0">
                <a:latin typeface="Calibri"/>
                <a:cs typeface="Calibri"/>
              </a:rPr>
              <a:t>final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la</a:t>
            </a:r>
            <a:r>
              <a:rPr sz="2700" spc="-10" dirty="0">
                <a:latin typeface="Calibri"/>
                <a:cs typeface="Calibri"/>
              </a:rPr>
              <a:t> lista:</a:t>
            </a:r>
            <a:endParaRPr sz="2700">
              <a:latin typeface="Calibri"/>
              <a:cs typeface="Calibri"/>
            </a:endParaRPr>
          </a:p>
          <a:p>
            <a:pPr marL="355600" marR="5080" indent="-342900">
              <a:lnSpc>
                <a:spcPts val="2590"/>
              </a:lnSpc>
              <a:spcBef>
                <a:spcPts val="63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  <a:tab pos="1842770" algn="l"/>
                <a:tab pos="3013075" algn="l"/>
                <a:tab pos="4113529" algn="l"/>
                <a:tab pos="4652645" algn="l"/>
                <a:tab pos="5564505" algn="l"/>
                <a:tab pos="5954395" algn="l"/>
                <a:tab pos="7321550" algn="l"/>
                <a:tab pos="7815580" algn="l"/>
              </a:tabLst>
            </a:pPr>
            <a:r>
              <a:rPr sz="2700" spc="-10" dirty="0">
                <a:latin typeface="Calibri"/>
                <a:cs typeface="Calibri"/>
              </a:rPr>
              <a:t>Comando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b="1" spc="-10" dirty="0">
                <a:latin typeface="Calibri"/>
                <a:cs typeface="Calibri"/>
              </a:rPr>
              <a:t>LPUSH:</a:t>
            </a:r>
            <a:r>
              <a:rPr sz="2700" b="1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inserta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los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datos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al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10" dirty="0">
                <a:latin typeface="Calibri"/>
                <a:cs typeface="Calibri"/>
              </a:rPr>
              <a:t>principio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de</a:t>
            </a:r>
            <a:r>
              <a:rPr sz="2700" dirty="0">
                <a:latin typeface="Calibri"/>
                <a:cs typeface="Calibri"/>
              </a:rPr>
              <a:t>	</a:t>
            </a:r>
            <a:r>
              <a:rPr sz="2700" spc="-25" dirty="0">
                <a:latin typeface="Calibri"/>
                <a:cs typeface="Calibri"/>
              </a:rPr>
              <a:t>la </a:t>
            </a:r>
            <a:r>
              <a:rPr sz="2700" spc="-10" dirty="0">
                <a:latin typeface="Calibri"/>
                <a:cs typeface="Calibri"/>
              </a:rPr>
              <a:t>lista</a:t>
            </a:r>
            <a:endParaRPr sz="2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700" dirty="0">
                <a:latin typeface="Calibri"/>
                <a:cs typeface="Calibri"/>
              </a:rPr>
              <a:t>Comando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b="1" dirty="0">
                <a:latin typeface="Calibri"/>
                <a:cs typeface="Calibri"/>
              </a:rPr>
              <a:t>RPUSH: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inserta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los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datos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al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final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de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la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lista</a:t>
            </a:r>
            <a:endParaRPr sz="27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265"/>
              </a:spcBef>
            </a:pP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2000" spc="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20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2000">
              <a:latin typeface="Calibri"/>
              <a:cs typeface="Calibri"/>
            </a:endParaRPr>
          </a:p>
          <a:p>
            <a:pPr marL="468630" marR="2481580" indent="635">
              <a:lnSpc>
                <a:spcPct val="100000"/>
              </a:lnSpc>
            </a:pP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000" spc="-8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LPUSH</a:t>
            </a:r>
            <a:r>
              <a:rPr sz="20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20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“El</a:t>
            </a:r>
            <a:r>
              <a:rPr sz="2000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código</a:t>
            </a:r>
            <a:r>
              <a:rPr sz="2000" spc="-7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Da</a:t>
            </a:r>
            <a:r>
              <a:rPr sz="2000" spc="-6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Vinci" (integer)</a:t>
            </a:r>
            <a:r>
              <a:rPr sz="20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  <a:p>
            <a:pPr marL="467995" marR="215836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000" spc="-8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RPUSH</a:t>
            </a:r>
            <a:r>
              <a:rPr sz="20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20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“El</a:t>
            </a:r>
            <a:r>
              <a:rPr sz="20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nombre</a:t>
            </a:r>
            <a:r>
              <a:rPr sz="20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de</a:t>
            </a:r>
            <a:r>
              <a:rPr sz="20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la</a:t>
            </a:r>
            <a:r>
              <a:rPr sz="20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rosa" (integer)</a:t>
            </a:r>
            <a:r>
              <a:rPr sz="20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3668C4"/>
                </a:solidFill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  <a:p>
            <a:pPr marL="467359" marR="2620010">
              <a:lnSpc>
                <a:spcPct val="100000"/>
              </a:lnSpc>
            </a:pP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000" spc="-9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LPUSH</a:t>
            </a:r>
            <a:r>
              <a:rPr sz="20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20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“La</a:t>
            </a:r>
            <a:r>
              <a:rPr sz="20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chica</a:t>
            </a:r>
            <a:r>
              <a:rPr sz="20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del</a:t>
            </a:r>
            <a:r>
              <a:rPr sz="20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tren"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2000" spc="-114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3668C4"/>
                </a:solidFill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2367745"/>
              </p:ext>
            </p:extLst>
          </p:nvPr>
        </p:nvGraphicFramePr>
        <p:xfrm>
          <a:off x="2438400" y="5873583"/>
          <a:ext cx="5235573" cy="578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7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485">
                <a:tc>
                  <a:txBody>
                    <a:bodyPr/>
                    <a:lstStyle/>
                    <a:p>
                      <a:pPr marL="801370" marR="178435" indent="-61722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chica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tren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777240" marR="94615" indent="-6769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Vinci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883285" marR="87630" indent="-7912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rosa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9" name="object 9"/>
          <p:cNvGrpSpPr/>
          <p:nvPr/>
        </p:nvGrpSpPr>
        <p:grpSpPr>
          <a:xfrm>
            <a:off x="2517496" y="6541003"/>
            <a:ext cx="5163820" cy="114300"/>
            <a:chOff x="2556510" y="6541003"/>
            <a:chExt cx="5163820" cy="114300"/>
          </a:xfrm>
        </p:grpSpPr>
        <p:sp>
          <p:nvSpPr>
            <p:cNvPr id="10" name="object 10"/>
            <p:cNvSpPr/>
            <p:nvPr/>
          </p:nvSpPr>
          <p:spPr>
            <a:xfrm>
              <a:off x="2556510" y="6598158"/>
              <a:ext cx="5068570" cy="0"/>
            </a:xfrm>
            <a:custGeom>
              <a:avLst/>
              <a:gdLst/>
              <a:ahLst/>
              <a:cxnLst/>
              <a:rect l="l" t="t" r="r" b="b"/>
              <a:pathLst>
                <a:path w="5068570">
                  <a:moveTo>
                    <a:pt x="0" y="0"/>
                  </a:moveTo>
                  <a:lnTo>
                    <a:pt x="5068443" y="0"/>
                  </a:lnTo>
                </a:path>
              </a:pathLst>
            </a:custGeom>
            <a:ln w="381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605902" y="6541003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27" y="1559457"/>
            <a:ext cx="8072120" cy="1293495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55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900" dirty="0">
                <a:latin typeface="Calibri"/>
                <a:cs typeface="Calibri"/>
              </a:rPr>
              <a:t>Comando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LLEN:</a:t>
            </a:r>
            <a:r>
              <a:rPr sz="1900" b="1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devuelve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longitud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una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lista.</a:t>
            </a:r>
            <a:endParaRPr sz="1900">
              <a:latin typeface="Calibri"/>
              <a:cs typeface="Calibri"/>
            </a:endParaRPr>
          </a:p>
          <a:p>
            <a:pPr marL="354965" marR="5080" indent="-342900">
              <a:lnSpc>
                <a:spcPct val="109400"/>
              </a:lnSpc>
              <a:spcBef>
                <a:spcPts val="240"/>
              </a:spcBef>
              <a:buClr>
                <a:srgbClr val="E75C01"/>
              </a:buClr>
              <a:buFont typeface="Arial"/>
              <a:buChar char="•"/>
              <a:tabLst>
                <a:tab pos="413384" algn="l"/>
              </a:tabLst>
            </a:pPr>
            <a:r>
              <a:rPr sz="1900" dirty="0">
                <a:latin typeface="Calibri"/>
                <a:cs typeface="Calibri"/>
              </a:rPr>
              <a:t>Comando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b="1" dirty="0">
                <a:latin typeface="Calibri"/>
                <a:cs typeface="Calibri"/>
              </a:rPr>
              <a:t>LINDEX:</a:t>
            </a:r>
            <a:r>
              <a:rPr sz="1900" b="1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devuelve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el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elemento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la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posición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indicada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por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el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índice. 	</a:t>
            </a:r>
            <a:r>
              <a:rPr sz="1700" dirty="0">
                <a:latin typeface="Calibri"/>
                <a:cs typeface="Calibri"/>
              </a:rPr>
              <a:t>Los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elementos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siempre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acceden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izquierda</a:t>
            </a:r>
            <a:r>
              <a:rPr sz="1700" spc="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derecha,</a:t>
            </a:r>
            <a:r>
              <a:rPr sz="1700" spc="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siendo</a:t>
            </a:r>
            <a:r>
              <a:rPr sz="1700" spc="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el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primer</a:t>
            </a:r>
            <a:r>
              <a:rPr sz="1700" spc="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elemento 	</a:t>
            </a:r>
            <a:r>
              <a:rPr sz="1700" dirty="0">
                <a:latin typeface="Calibri"/>
                <a:cs typeface="Calibri"/>
              </a:rPr>
              <a:t>el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del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índice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0.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6535" y="3478686"/>
            <a:ext cx="7670800" cy="5441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Para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acceder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lista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en</a:t>
            </a:r>
            <a:r>
              <a:rPr sz="1700" spc="1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orden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inverso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(empezando</a:t>
            </a:r>
            <a:r>
              <a:rPr sz="1700" spc="1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desde</a:t>
            </a:r>
            <a:r>
              <a:rPr sz="1700" spc="1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el</a:t>
            </a:r>
            <a:r>
              <a:rPr sz="1700" spc="1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final,</a:t>
            </a:r>
            <a:r>
              <a:rPr sz="1700" spc="1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se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puede</a:t>
            </a:r>
            <a:r>
              <a:rPr sz="1700" spc="1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empezar </a:t>
            </a:r>
            <a:r>
              <a:rPr sz="1700" dirty="0">
                <a:latin typeface="Calibri"/>
                <a:cs typeface="Calibri"/>
              </a:rPr>
              <a:t>con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el índice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-</a:t>
            </a:r>
            <a:r>
              <a:rPr sz="1700" dirty="0">
                <a:latin typeface="Calibri"/>
                <a:cs typeface="Calibri"/>
              </a:rPr>
              <a:t>1</a:t>
            </a:r>
            <a:r>
              <a:rPr sz="1700" spc="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para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el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ultimo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elemento,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el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-</a:t>
            </a:r>
            <a:r>
              <a:rPr sz="1700" dirty="0">
                <a:latin typeface="Calibri"/>
                <a:cs typeface="Calibri"/>
              </a:rPr>
              <a:t>2 para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el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penúltimo,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y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así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sucesivamente.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2417" y="4870196"/>
            <a:ext cx="3147060" cy="1473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sz="19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1900" spc="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spc="-2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19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190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</a:pPr>
            <a:r>
              <a:rPr sz="19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9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668C4"/>
                </a:solidFill>
                <a:latin typeface="Calibri"/>
                <a:cs typeface="Calibri"/>
              </a:rPr>
              <a:t>LLEN</a:t>
            </a:r>
            <a:r>
              <a:rPr sz="19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00" spc="-1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9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3668C4"/>
                </a:solidFill>
                <a:latin typeface="Calibri"/>
                <a:cs typeface="Calibri"/>
              </a:rPr>
              <a:t>3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9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9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668C4"/>
                </a:solidFill>
                <a:latin typeface="Calibri"/>
                <a:cs typeface="Calibri"/>
              </a:rPr>
              <a:t>LINDEX</a:t>
            </a:r>
            <a:r>
              <a:rPr sz="1900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19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spc="-5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dirty="0">
                <a:solidFill>
                  <a:srgbClr val="3668C4"/>
                </a:solidFill>
                <a:latin typeface="Calibri"/>
                <a:cs typeface="Calibri"/>
              </a:rPr>
              <a:t>“El</a:t>
            </a:r>
            <a:r>
              <a:rPr sz="19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668C4"/>
                </a:solidFill>
                <a:latin typeface="Calibri"/>
                <a:cs typeface="Calibri"/>
              </a:rPr>
              <a:t>código</a:t>
            </a:r>
            <a:r>
              <a:rPr sz="19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3668C4"/>
                </a:solidFill>
                <a:latin typeface="Calibri"/>
                <a:cs typeface="Calibri"/>
              </a:rPr>
              <a:t>Da</a:t>
            </a:r>
            <a:r>
              <a:rPr sz="19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3668C4"/>
                </a:solidFill>
                <a:latin typeface="Calibri"/>
                <a:cs typeface="Calibri"/>
              </a:rPr>
              <a:t>Vinci“</a:t>
            </a:r>
            <a:endParaRPr sz="19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405405" y="2761881"/>
          <a:ext cx="6096000" cy="334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600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600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600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600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600" spc="-8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3060954" y="3229355"/>
            <a:ext cx="4824730" cy="114300"/>
            <a:chOff x="3060954" y="3229355"/>
            <a:chExt cx="4824730" cy="114300"/>
          </a:xfrm>
        </p:grpSpPr>
        <p:sp>
          <p:nvSpPr>
            <p:cNvPr id="8" name="object 8"/>
            <p:cNvSpPr/>
            <p:nvPr/>
          </p:nvSpPr>
          <p:spPr>
            <a:xfrm>
              <a:off x="3060954" y="3286505"/>
              <a:ext cx="4729480" cy="0"/>
            </a:xfrm>
            <a:custGeom>
              <a:avLst/>
              <a:gdLst/>
              <a:ahLst/>
              <a:cxnLst/>
              <a:rect l="l" t="t" r="r" b="b"/>
              <a:pathLst>
                <a:path w="4729480">
                  <a:moveTo>
                    <a:pt x="0" y="0"/>
                  </a:moveTo>
                  <a:lnTo>
                    <a:pt x="4729289" y="0"/>
                  </a:lnTo>
                </a:path>
              </a:pathLst>
            </a:custGeom>
            <a:ln w="381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771193" y="32293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405405" y="4113263"/>
          <a:ext cx="6096000" cy="30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4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5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4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4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4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Elemento</a:t>
                      </a:r>
                      <a:r>
                        <a:rPr sz="1400" spc="229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4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3060954" y="4524755"/>
            <a:ext cx="4824730" cy="114300"/>
            <a:chOff x="3060954" y="4524755"/>
            <a:chExt cx="4824730" cy="114300"/>
          </a:xfrm>
        </p:grpSpPr>
        <p:sp>
          <p:nvSpPr>
            <p:cNvPr id="12" name="object 12"/>
            <p:cNvSpPr/>
            <p:nvPr/>
          </p:nvSpPr>
          <p:spPr>
            <a:xfrm>
              <a:off x="3156204" y="4581905"/>
              <a:ext cx="4729480" cy="0"/>
            </a:xfrm>
            <a:custGeom>
              <a:avLst/>
              <a:gdLst/>
              <a:ahLst/>
              <a:cxnLst/>
              <a:rect l="l" t="t" r="r" b="b"/>
              <a:pathLst>
                <a:path w="4729480">
                  <a:moveTo>
                    <a:pt x="0" y="0"/>
                  </a:moveTo>
                  <a:lnTo>
                    <a:pt x="4729289" y="0"/>
                  </a:lnTo>
                </a:path>
              </a:pathLst>
            </a:custGeom>
            <a:ln w="381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60954" y="452475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6456"/>
            <a:ext cx="8070215" cy="37077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1790" marR="5080" indent="-339725" algn="just">
              <a:lnSpc>
                <a:spcPct val="100000"/>
              </a:lnSpc>
              <a:spcBef>
                <a:spcPts val="10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Comando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b="1" dirty="0">
                <a:latin typeface="Calibri"/>
                <a:cs typeface="Calibri"/>
              </a:rPr>
              <a:t>LRANGE:</a:t>
            </a:r>
            <a:r>
              <a:rPr sz="2000" b="1" spc="5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devuelve</a:t>
            </a:r>
            <a:r>
              <a:rPr sz="2000" spc="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elementos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6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6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lista</a:t>
            </a:r>
            <a:r>
              <a:rPr sz="2000" spc="70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con</a:t>
            </a:r>
            <a:r>
              <a:rPr sz="2000" spc="55" dirty="0">
                <a:latin typeface="Calibri"/>
                <a:cs typeface="Calibri"/>
              </a:rPr>
              <a:t>  </a:t>
            </a:r>
            <a:r>
              <a:rPr sz="2000" dirty="0">
                <a:latin typeface="Calibri"/>
                <a:cs typeface="Calibri"/>
              </a:rPr>
              <a:t>todos</a:t>
            </a:r>
            <a:r>
              <a:rPr sz="2000" spc="65" dirty="0">
                <a:latin typeface="Calibri"/>
                <a:cs typeface="Calibri"/>
              </a:rPr>
              <a:t>  </a:t>
            </a:r>
            <a:r>
              <a:rPr sz="2000" spc="-25" dirty="0">
                <a:latin typeface="Calibri"/>
                <a:cs typeface="Calibri"/>
              </a:rPr>
              <a:t>los 	</a:t>
            </a:r>
            <a:r>
              <a:rPr sz="2000" dirty="0">
                <a:latin typeface="Calibri"/>
                <a:cs typeface="Calibri"/>
              </a:rPr>
              <a:t>elementos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comprendidos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rango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(0</a:t>
            </a:r>
            <a:r>
              <a:rPr sz="2000" spc="3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primer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elemento</a:t>
            </a:r>
            <a:r>
              <a:rPr sz="2000" spc="3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38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-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3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ultimo 	elemento):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625"/>
              </a:spcBef>
            </a:pP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2100" spc="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21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21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</a:pP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100" spc="-8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LRANGE</a:t>
            </a:r>
            <a:r>
              <a:rPr sz="2100" spc="-6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2100" spc="-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0</a:t>
            </a:r>
            <a:r>
              <a:rPr sz="2100" spc="-50" dirty="0">
                <a:solidFill>
                  <a:srgbClr val="3668C4"/>
                </a:solidFill>
                <a:latin typeface="Calibri"/>
                <a:cs typeface="Calibri"/>
              </a:rPr>
              <a:t> 1</a:t>
            </a:r>
            <a:endParaRPr sz="2100">
              <a:latin typeface="Calibri"/>
              <a:cs typeface="Calibri"/>
            </a:endParaRPr>
          </a:p>
          <a:p>
            <a:pPr marL="744220" indent="-274955">
              <a:lnSpc>
                <a:spcPct val="100000"/>
              </a:lnSpc>
              <a:buAutoNum type="arabicParenR"/>
              <a:tabLst>
                <a:tab pos="744220" algn="l"/>
              </a:tabLst>
            </a:pP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"La</a:t>
            </a:r>
            <a:r>
              <a:rPr sz="21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chica</a:t>
            </a:r>
            <a:r>
              <a:rPr sz="21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del</a:t>
            </a:r>
            <a:r>
              <a:rPr sz="21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3668C4"/>
                </a:solidFill>
                <a:latin typeface="Calibri"/>
                <a:cs typeface="Calibri"/>
              </a:rPr>
              <a:t>tren"</a:t>
            </a:r>
            <a:endParaRPr sz="2100">
              <a:latin typeface="Calibri"/>
              <a:cs typeface="Calibri"/>
            </a:endParaRPr>
          </a:p>
          <a:p>
            <a:pPr marL="744855" indent="-274955">
              <a:lnSpc>
                <a:spcPct val="100000"/>
              </a:lnSpc>
              <a:buAutoNum type="arabicParenR"/>
              <a:tabLst>
                <a:tab pos="744855" algn="l"/>
              </a:tabLst>
            </a:pP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"El</a:t>
            </a:r>
            <a:r>
              <a:rPr sz="21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código</a:t>
            </a:r>
            <a:r>
              <a:rPr sz="21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Da</a:t>
            </a:r>
            <a:r>
              <a:rPr sz="21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3668C4"/>
                </a:solidFill>
                <a:latin typeface="Calibri"/>
                <a:cs typeface="Calibri"/>
              </a:rPr>
              <a:t>Vinci“</a:t>
            </a:r>
            <a:endParaRPr sz="21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100" spc="-8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LRANGE</a:t>
            </a:r>
            <a:r>
              <a:rPr sz="21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2100" spc="-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0</a:t>
            </a:r>
            <a:r>
              <a:rPr sz="21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-</a:t>
            </a:r>
            <a:r>
              <a:rPr sz="2100" dirty="0">
                <a:solidFill>
                  <a:srgbClr val="0070C0"/>
                </a:solidFill>
                <a:latin typeface="Calibri"/>
                <a:cs typeface="Calibri"/>
              </a:rPr>
              <a:t>1</a:t>
            </a:r>
            <a:r>
              <a:rPr sz="2100" spc="38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21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100" spc="-25" dirty="0">
                <a:solidFill>
                  <a:srgbClr val="FF0000"/>
                </a:solidFill>
                <a:latin typeface="Calibri"/>
                <a:cs typeface="Calibri"/>
              </a:rPr>
              <a:t>Todos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los</a:t>
            </a:r>
            <a:r>
              <a:rPr sz="21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elementos</a:t>
            </a:r>
            <a:r>
              <a:rPr sz="21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21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FF0000"/>
                </a:solidFill>
                <a:latin typeface="Calibri"/>
                <a:cs typeface="Calibri"/>
              </a:rPr>
              <a:t>la</a:t>
            </a:r>
            <a:r>
              <a:rPr sz="21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FF0000"/>
                </a:solidFill>
                <a:latin typeface="Calibri"/>
                <a:cs typeface="Calibri"/>
              </a:rPr>
              <a:t>lista</a:t>
            </a:r>
            <a:endParaRPr sz="2100">
              <a:latin typeface="Calibri"/>
              <a:cs typeface="Calibri"/>
            </a:endParaRPr>
          </a:p>
          <a:p>
            <a:pPr marL="745490" indent="-274955">
              <a:lnSpc>
                <a:spcPct val="100000"/>
              </a:lnSpc>
              <a:buAutoNum type="arabicParenR"/>
              <a:tabLst>
                <a:tab pos="745490" algn="l"/>
              </a:tabLst>
            </a:pP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"La</a:t>
            </a:r>
            <a:r>
              <a:rPr sz="21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chica</a:t>
            </a:r>
            <a:r>
              <a:rPr sz="21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del</a:t>
            </a:r>
            <a:r>
              <a:rPr sz="21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spc="-20" dirty="0">
                <a:solidFill>
                  <a:srgbClr val="3668C4"/>
                </a:solidFill>
                <a:latin typeface="Calibri"/>
                <a:cs typeface="Calibri"/>
              </a:rPr>
              <a:t>tren"</a:t>
            </a:r>
            <a:endParaRPr sz="2100">
              <a:latin typeface="Calibri"/>
              <a:cs typeface="Calibri"/>
            </a:endParaRPr>
          </a:p>
          <a:p>
            <a:pPr marL="745490" indent="-274955">
              <a:lnSpc>
                <a:spcPct val="100000"/>
              </a:lnSpc>
              <a:buAutoNum type="arabicParenR"/>
              <a:tabLst>
                <a:tab pos="745490" algn="l"/>
              </a:tabLst>
            </a:pP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"El</a:t>
            </a:r>
            <a:r>
              <a:rPr sz="21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código</a:t>
            </a:r>
            <a:r>
              <a:rPr sz="21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Da</a:t>
            </a:r>
            <a:r>
              <a:rPr sz="21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3668C4"/>
                </a:solidFill>
                <a:latin typeface="Calibri"/>
                <a:cs typeface="Calibri"/>
              </a:rPr>
              <a:t>Vinci"</a:t>
            </a:r>
            <a:endParaRPr sz="2100">
              <a:latin typeface="Calibri"/>
              <a:cs typeface="Calibri"/>
            </a:endParaRPr>
          </a:p>
          <a:p>
            <a:pPr marL="746125" indent="-274955">
              <a:lnSpc>
                <a:spcPct val="100000"/>
              </a:lnSpc>
              <a:buAutoNum type="arabicParenR"/>
              <a:tabLst>
                <a:tab pos="746125" algn="l"/>
              </a:tabLst>
            </a:pP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"El</a:t>
            </a:r>
            <a:r>
              <a:rPr sz="21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nombre</a:t>
            </a:r>
            <a:r>
              <a:rPr sz="21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de</a:t>
            </a:r>
            <a:r>
              <a:rPr sz="21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668C4"/>
                </a:solidFill>
                <a:latin typeface="Calibri"/>
                <a:cs typeface="Calibri"/>
              </a:rPr>
              <a:t>la</a:t>
            </a:r>
            <a:r>
              <a:rPr sz="2100" spc="-20" dirty="0">
                <a:solidFill>
                  <a:srgbClr val="3668C4"/>
                </a:solidFill>
                <a:latin typeface="Calibri"/>
                <a:cs typeface="Calibri"/>
              </a:rPr>
              <a:t> rosa"</a:t>
            </a:r>
            <a:endParaRPr sz="2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57536" y="5354167"/>
          <a:ext cx="5235573" cy="5784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7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8485">
                <a:tc>
                  <a:txBody>
                    <a:bodyPr/>
                    <a:lstStyle/>
                    <a:p>
                      <a:pPr marL="801370" marR="178435" indent="-61722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chica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tren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777240" marR="94615" indent="-6769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Vinci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883285" marR="87630" indent="-79121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rosa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637026" y="6021318"/>
            <a:ext cx="5163820" cy="114300"/>
            <a:chOff x="3637026" y="6021318"/>
            <a:chExt cx="5163820" cy="114300"/>
          </a:xfrm>
        </p:grpSpPr>
        <p:sp>
          <p:nvSpPr>
            <p:cNvPr id="6" name="object 6"/>
            <p:cNvSpPr/>
            <p:nvPr/>
          </p:nvSpPr>
          <p:spPr>
            <a:xfrm>
              <a:off x="3637026" y="6078473"/>
              <a:ext cx="5068570" cy="0"/>
            </a:xfrm>
            <a:custGeom>
              <a:avLst/>
              <a:gdLst/>
              <a:ahLst/>
              <a:cxnLst/>
              <a:rect l="l" t="t" r="r" b="b"/>
              <a:pathLst>
                <a:path w="5068570">
                  <a:moveTo>
                    <a:pt x="0" y="0"/>
                  </a:moveTo>
                  <a:lnTo>
                    <a:pt x="5068443" y="0"/>
                  </a:lnTo>
                </a:path>
              </a:pathLst>
            </a:custGeom>
            <a:ln w="381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86419" y="602131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408"/>
            <a:ext cx="7947025" cy="415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29565" indent="-342900">
              <a:lnSpc>
                <a:spcPct val="100000"/>
              </a:lnSpc>
              <a:spcBef>
                <a:spcPts val="10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Comando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LPOP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borra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devuelve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la </a:t>
            </a:r>
            <a:r>
              <a:rPr sz="2400" spc="-10" dirty="0">
                <a:latin typeface="Calibri"/>
                <a:cs typeface="Calibri"/>
              </a:rPr>
              <a:t>lista</a:t>
            </a:r>
            <a:endParaRPr sz="2400">
              <a:latin typeface="Calibri"/>
              <a:cs typeface="Calibri"/>
            </a:endParaRPr>
          </a:p>
          <a:p>
            <a:pPr marL="354965" marR="316230" indent="-342900">
              <a:lnSpc>
                <a:spcPct val="100000"/>
              </a:lnSpc>
              <a:spcBef>
                <a:spcPts val="57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Comando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RPOP: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borra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devuelve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último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la </a:t>
            </a:r>
            <a:r>
              <a:rPr sz="2400" spc="-10" dirty="0">
                <a:latin typeface="Calibri"/>
                <a:cs typeface="Calibri"/>
              </a:rPr>
              <a:t>lista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24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18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18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1800">
              <a:latin typeface="Calibri"/>
              <a:cs typeface="Calibri"/>
            </a:endParaRPr>
          </a:p>
          <a:p>
            <a:pPr marL="469900" marR="1878964">
              <a:lnSpc>
                <a:spcPct val="100000"/>
              </a:lnSpc>
            </a:pPr>
            <a:r>
              <a:rPr sz="18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LPOP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1800" spc="-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Borra</a:t>
            </a:r>
            <a:r>
              <a:rPr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el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primer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elemento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(0)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"La</a:t>
            </a:r>
            <a:r>
              <a:rPr sz="18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chica</a:t>
            </a:r>
            <a:r>
              <a:rPr sz="18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del</a:t>
            </a:r>
            <a:r>
              <a:rPr sz="18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668C4"/>
                </a:solidFill>
                <a:latin typeface="Calibri"/>
                <a:cs typeface="Calibri"/>
              </a:rPr>
              <a:t>tren“</a:t>
            </a:r>
            <a:endParaRPr sz="1800">
              <a:latin typeface="Calibri"/>
              <a:cs typeface="Calibri"/>
            </a:endParaRPr>
          </a:p>
          <a:p>
            <a:pPr marL="469265" marR="1874520">
              <a:lnSpc>
                <a:spcPct val="100000"/>
              </a:lnSpc>
            </a:pPr>
            <a:r>
              <a:rPr sz="18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RPOP</a:t>
            </a:r>
            <a:r>
              <a:rPr sz="18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18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18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Borra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el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último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elemento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(2)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"El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nombre</a:t>
            </a:r>
            <a:r>
              <a:rPr sz="18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la</a:t>
            </a:r>
            <a:r>
              <a:rPr sz="18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668C4"/>
                </a:solidFill>
                <a:latin typeface="Calibri"/>
                <a:cs typeface="Calibri"/>
              </a:rPr>
              <a:t>rosa“</a:t>
            </a:r>
            <a:endParaRPr sz="1800">
              <a:latin typeface="Calibri"/>
              <a:cs typeface="Calibri"/>
            </a:endParaRPr>
          </a:p>
          <a:p>
            <a:pPr marL="469265" marR="5080">
              <a:lnSpc>
                <a:spcPts val="1730"/>
              </a:lnSpc>
              <a:spcBef>
                <a:spcPts val="415"/>
              </a:spcBef>
            </a:pPr>
            <a:r>
              <a:rPr sz="1800" spc="-1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8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LRANGE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libros</a:t>
            </a:r>
            <a:r>
              <a:rPr sz="18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0</a:t>
            </a:r>
            <a:r>
              <a:rPr sz="18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668C4"/>
                </a:solidFill>
                <a:latin typeface="Calibri"/>
                <a:cs typeface="Calibri"/>
              </a:rPr>
              <a:t>-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Wingdings"/>
                <a:cs typeface="Wingdings"/>
              </a:rPr>
              <a:t></a:t>
            </a:r>
            <a:r>
              <a:rPr sz="1800" spc="-5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Todos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los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elementos</a:t>
            </a:r>
            <a:r>
              <a:rPr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la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lista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(primero</a:t>
            </a:r>
            <a:r>
              <a:rPr sz="18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0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al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ultimo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1800" spc="-25" dirty="0">
                <a:solidFill>
                  <a:srgbClr val="FF0000"/>
                </a:solidFill>
                <a:latin typeface="Calibri"/>
                <a:cs typeface="Calibri"/>
              </a:rPr>
              <a:t>1)</a:t>
            </a:r>
            <a:endParaRPr sz="18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5"/>
              </a:spcBef>
            </a:pP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1)</a:t>
            </a:r>
            <a:r>
              <a:rPr sz="18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"El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código</a:t>
            </a:r>
            <a:r>
              <a:rPr sz="18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668C4"/>
                </a:solidFill>
                <a:latin typeface="Calibri"/>
                <a:cs typeface="Calibri"/>
              </a:rPr>
              <a:t>Da</a:t>
            </a:r>
            <a:r>
              <a:rPr sz="18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668C4"/>
                </a:solidFill>
                <a:latin typeface="Calibri"/>
                <a:cs typeface="Calibri"/>
              </a:rPr>
              <a:t>Vinci"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44747" y="5570189"/>
          <a:ext cx="5235573" cy="579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7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1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801370" marR="178435" indent="-6172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chica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tren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777240" marR="94615" indent="-6769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Vinci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tc>
                  <a:txBody>
                    <a:bodyPr/>
                    <a:lstStyle/>
                    <a:p>
                      <a:pPr marL="883919" marR="87630" indent="-7912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16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6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6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rosa </a:t>
                      </a:r>
                      <a:r>
                        <a:rPr sz="1600" spc="-50" dirty="0"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E86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3524250" y="6237728"/>
            <a:ext cx="5163820" cy="114300"/>
            <a:chOff x="3524250" y="6237728"/>
            <a:chExt cx="5163820" cy="114300"/>
          </a:xfrm>
        </p:grpSpPr>
        <p:sp>
          <p:nvSpPr>
            <p:cNvPr id="6" name="object 6"/>
            <p:cNvSpPr/>
            <p:nvPr/>
          </p:nvSpPr>
          <p:spPr>
            <a:xfrm>
              <a:off x="3524250" y="6294881"/>
              <a:ext cx="5068570" cy="0"/>
            </a:xfrm>
            <a:custGeom>
              <a:avLst/>
              <a:gdLst/>
              <a:ahLst/>
              <a:cxnLst/>
              <a:rect l="l" t="t" r="r" b="b"/>
              <a:pathLst>
                <a:path w="5068570">
                  <a:moveTo>
                    <a:pt x="0" y="0"/>
                  </a:moveTo>
                  <a:lnTo>
                    <a:pt x="5068443" y="0"/>
                  </a:lnTo>
                </a:path>
              </a:pathLst>
            </a:custGeom>
            <a:ln w="38100">
              <a:solidFill>
                <a:srgbClr val="FD82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73642" y="6237728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2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40256"/>
            <a:ext cx="8027034" cy="2248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Tipos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Datos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Básicos</a:t>
            </a:r>
            <a:r>
              <a:rPr sz="2400" b="1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los</a:t>
            </a:r>
            <a:r>
              <a:rPr sz="24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Valores: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Hashes:</a:t>
            </a:r>
            <a:endParaRPr sz="2400">
              <a:latin typeface="Calibri"/>
              <a:cs typeface="Calibri"/>
            </a:endParaRPr>
          </a:p>
          <a:p>
            <a:pPr marL="756285" marR="283845" lvl="1" indent="-287020">
              <a:lnSpc>
                <a:spcPct val="100000"/>
              </a:lnSpc>
              <a:spcBef>
                <a:spcPts val="509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Son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estructuras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almacenar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objetos</a:t>
            </a:r>
            <a:r>
              <a:rPr sz="2000" dirty="0">
                <a:latin typeface="Calibri"/>
                <a:cs typeface="Calibri"/>
              </a:rPr>
              <a:t>.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Permiten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mapear </a:t>
            </a:r>
            <a:r>
              <a:rPr sz="2000" dirty="0">
                <a:latin typeface="Calibri"/>
                <a:cs typeface="Calibri"/>
              </a:rPr>
              <a:t>campos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valores,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ambos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strings.</a:t>
            </a:r>
            <a:endParaRPr sz="200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Están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optimizados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hacer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memoria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eficiente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acceso </a:t>
            </a:r>
            <a:r>
              <a:rPr sz="2000" dirty="0">
                <a:latin typeface="Calibri"/>
                <a:cs typeface="Calibri"/>
              </a:rPr>
              <a:t>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rápido.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90781" y="4012946"/>
            <a:ext cx="2561590" cy="2044064"/>
            <a:chOff x="5090781" y="4012946"/>
            <a:chExt cx="2561590" cy="204406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90781" y="4119599"/>
              <a:ext cx="2561013" cy="19372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208270" y="4025646"/>
              <a:ext cx="1009015" cy="230504"/>
            </a:xfrm>
            <a:custGeom>
              <a:avLst/>
              <a:gdLst/>
              <a:ahLst/>
              <a:cxnLst/>
              <a:rect l="l" t="t" r="r" b="b"/>
              <a:pathLst>
                <a:path w="1009014" h="230504">
                  <a:moveTo>
                    <a:pt x="0" y="0"/>
                  </a:moveTo>
                  <a:lnTo>
                    <a:pt x="1008888" y="0"/>
                  </a:lnTo>
                  <a:lnTo>
                    <a:pt x="1008888" y="230123"/>
                  </a:lnTo>
                  <a:lnTo>
                    <a:pt x="0" y="230123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782908" y="3793325"/>
            <a:ext cx="4216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363" y="64268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28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00894" y="6335428"/>
            <a:ext cx="19424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sz="1200">
                <a:solidFill>
                  <a:srgbClr val="8A8A8A"/>
                </a:solidFill>
                <a:latin typeface="Calibri"/>
                <a:cs typeface="Calibri"/>
              </a:rPr>
              <a:t>BBDD</a:t>
            </a:r>
            <a:r>
              <a:rPr sz="1200" spc="-35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No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SQL.</a:t>
            </a:r>
            <a:r>
              <a:rPr sz="1200" spc="-1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BD</a:t>
            </a: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Clave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Valor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3394" y="4682945"/>
            <a:ext cx="10998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20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394" y="4987845"/>
            <a:ext cx="7127240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000" spc="-9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HMSET</a:t>
            </a:r>
            <a:r>
              <a:rPr sz="2000" spc="-6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pelicula1</a:t>
            </a:r>
            <a:r>
              <a:rPr sz="20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“a_estreno"</a:t>
            </a:r>
            <a:r>
              <a:rPr sz="20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2016</a:t>
            </a:r>
            <a:r>
              <a:rPr sz="2000" spc="-7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“calificacion"</a:t>
            </a:r>
            <a:r>
              <a:rPr sz="2000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668C4"/>
                </a:solidFill>
                <a:latin typeface="Calibri"/>
                <a:cs typeface="Calibri"/>
              </a:rPr>
              <a:t>6.8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160"/>
              </a:lnSpc>
            </a:pPr>
            <a:r>
              <a:rPr sz="2000" spc="-20" dirty="0">
                <a:solidFill>
                  <a:srgbClr val="3668C4"/>
                </a:solidFill>
                <a:latin typeface="Calibri"/>
                <a:cs typeface="Calibri"/>
              </a:rPr>
              <a:t>“espectadores"</a:t>
            </a:r>
            <a:r>
              <a:rPr sz="2000" spc="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4000000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25" dirty="0">
                <a:solidFill>
                  <a:srgbClr val="3668C4"/>
                </a:solidFill>
                <a:latin typeface="Calibri"/>
                <a:cs typeface="Calibri"/>
              </a:rPr>
              <a:t>OK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000" spc="-114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HINCRBY</a:t>
            </a:r>
            <a:r>
              <a:rPr sz="2000" spc="-1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pelicula1</a:t>
            </a:r>
            <a:r>
              <a:rPr sz="2000" spc="-7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“espectadores"</a:t>
            </a:r>
            <a:r>
              <a:rPr sz="2000" spc="-7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100000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649" y="6146366"/>
            <a:ext cx="1877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20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4100000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48228" y="4148328"/>
            <a:ext cx="864235" cy="361315"/>
          </a:xfrm>
          <a:custGeom>
            <a:avLst/>
            <a:gdLst/>
            <a:ahLst/>
            <a:cxnLst/>
            <a:rect l="l" t="t" r="r" b="b"/>
            <a:pathLst>
              <a:path w="864235" h="361314">
                <a:moveTo>
                  <a:pt x="0" y="361188"/>
                </a:moveTo>
                <a:lnTo>
                  <a:pt x="2365" y="290889"/>
                </a:lnTo>
                <a:lnTo>
                  <a:pt x="8815" y="233486"/>
                </a:lnTo>
                <a:lnTo>
                  <a:pt x="18382" y="194785"/>
                </a:lnTo>
                <a:lnTo>
                  <a:pt x="30099" y="180594"/>
                </a:lnTo>
                <a:lnTo>
                  <a:pt x="401955" y="180594"/>
                </a:lnTo>
                <a:lnTo>
                  <a:pt x="413671" y="166401"/>
                </a:lnTo>
                <a:lnTo>
                  <a:pt x="423238" y="127696"/>
                </a:lnTo>
                <a:lnTo>
                  <a:pt x="429688" y="70292"/>
                </a:lnTo>
                <a:lnTo>
                  <a:pt x="432054" y="0"/>
                </a:lnTo>
                <a:lnTo>
                  <a:pt x="434419" y="70292"/>
                </a:lnTo>
                <a:lnTo>
                  <a:pt x="440869" y="127696"/>
                </a:lnTo>
                <a:lnTo>
                  <a:pt x="450436" y="166401"/>
                </a:lnTo>
                <a:lnTo>
                  <a:pt x="462153" y="180594"/>
                </a:lnTo>
                <a:lnTo>
                  <a:pt x="834009" y="180594"/>
                </a:lnTo>
                <a:lnTo>
                  <a:pt x="845725" y="194785"/>
                </a:lnTo>
                <a:lnTo>
                  <a:pt x="855292" y="233486"/>
                </a:lnTo>
                <a:lnTo>
                  <a:pt x="861742" y="290889"/>
                </a:lnTo>
                <a:lnTo>
                  <a:pt x="864108" y="361188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5940" y="1569211"/>
            <a:ext cx="7688580" cy="314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Comando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HSET: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especifica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</a:t>
            </a: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campo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clave</a:t>
            </a:r>
            <a:r>
              <a:rPr sz="1800" b="1" spc="-7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dada</a:t>
            </a:r>
            <a:r>
              <a:rPr sz="1800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  <a:tabLst>
                <a:tab pos="756285" algn="l"/>
              </a:tabLst>
            </a:pPr>
            <a:r>
              <a:rPr sz="1700" spc="-50" dirty="0">
                <a:solidFill>
                  <a:srgbClr val="E75C01"/>
                </a:solidFill>
                <a:latin typeface="Arial"/>
                <a:cs typeface="Arial"/>
              </a:rPr>
              <a:t>–</a:t>
            </a:r>
            <a:r>
              <a:rPr sz="1700" dirty="0">
                <a:solidFill>
                  <a:srgbClr val="E75C01"/>
                </a:solidFill>
                <a:latin typeface="Arial"/>
                <a:cs typeface="Arial"/>
              </a:rPr>
              <a:t>	</a:t>
            </a:r>
            <a:r>
              <a:rPr sz="1700" dirty="0">
                <a:latin typeface="Calibri"/>
                <a:cs typeface="Calibri"/>
              </a:rPr>
              <a:t>Sintaxis: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HSET</a:t>
            </a:r>
            <a:r>
              <a:rPr sz="1700" spc="-7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clave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campo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valor.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700">
              <a:latin typeface="Calibri"/>
              <a:cs typeface="Calibri"/>
            </a:endParaRPr>
          </a:p>
          <a:p>
            <a:pPr marL="354965" marR="156845" indent="-342900">
              <a:lnSpc>
                <a:spcPct val="80000"/>
              </a:lnSpc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Comando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HMSET: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especifica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múltiples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campos</a:t>
            </a:r>
            <a:r>
              <a:rPr sz="1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una</a:t>
            </a:r>
            <a:r>
              <a:rPr sz="1800" b="1" spc="-7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clave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separados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por </a:t>
            </a:r>
            <a:r>
              <a:rPr sz="1800" spc="-10" dirty="0">
                <a:latin typeface="Calibri"/>
                <a:cs typeface="Calibri"/>
              </a:rPr>
              <a:t>espacios.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6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En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ambos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casos,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campo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existe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sobreescribe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valor, </a:t>
            </a:r>
            <a:r>
              <a:rPr sz="1800" dirty="0">
                <a:latin typeface="Calibri"/>
                <a:cs typeface="Calibri"/>
              </a:rPr>
              <a:t>si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crea.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ts val="1870"/>
              </a:lnSpc>
              <a:spcBef>
                <a:spcPts val="216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800" dirty="0">
                <a:latin typeface="Calibri"/>
                <a:cs typeface="Calibri"/>
              </a:rPr>
              <a:t>Comando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b="1" spc="-25" dirty="0">
                <a:latin typeface="Calibri"/>
                <a:cs typeface="Calibri"/>
              </a:rPr>
              <a:t>HINCRBY: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incrementa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campo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clave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valor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indicado.</a:t>
            </a:r>
            <a:endParaRPr sz="1800">
              <a:latin typeface="Calibri"/>
              <a:cs typeface="Calibri"/>
            </a:endParaRPr>
          </a:p>
          <a:p>
            <a:pPr marL="3005455">
              <a:lnSpc>
                <a:spcPts val="1555"/>
              </a:lnSpc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ts val="2085"/>
              </a:lnSpc>
            </a:pP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$</a:t>
            </a:r>
            <a:r>
              <a:rPr sz="2000" spc="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668C4"/>
                </a:solidFill>
                <a:latin typeface="Calibri"/>
                <a:cs typeface="Calibri"/>
              </a:rPr>
              <a:t>redis-</a:t>
            </a:r>
            <a:r>
              <a:rPr sz="2000" spc="-25" dirty="0">
                <a:solidFill>
                  <a:srgbClr val="3668C4"/>
                </a:solidFill>
                <a:latin typeface="Calibri"/>
                <a:cs typeface="Calibri"/>
              </a:rPr>
              <a:t>cli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2000" spc="-8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HSET</a:t>
            </a:r>
            <a:r>
              <a:rPr sz="20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pelicula1</a:t>
            </a:r>
            <a:r>
              <a:rPr sz="20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"titulo"</a:t>
            </a:r>
            <a:r>
              <a:rPr sz="2000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“Un</a:t>
            </a:r>
            <a:r>
              <a:rPr sz="20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Monstruo</a:t>
            </a:r>
            <a:r>
              <a:rPr sz="2000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viene</a:t>
            </a:r>
            <a:r>
              <a:rPr sz="20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668C4"/>
                </a:solidFill>
                <a:latin typeface="Calibri"/>
                <a:cs typeface="Calibri"/>
              </a:rPr>
              <a:t>a</a:t>
            </a:r>
            <a:r>
              <a:rPr sz="20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668C4"/>
                </a:solidFill>
                <a:latin typeface="Calibri"/>
                <a:cs typeface="Calibri"/>
              </a:rPr>
              <a:t>verme"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64635" y="4869179"/>
            <a:ext cx="864235" cy="360045"/>
          </a:xfrm>
          <a:custGeom>
            <a:avLst/>
            <a:gdLst/>
            <a:ahLst/>
            <a:cxnLst/>
            <a:rect l="l" t="t" r="r" b="b"/>
            <a:pathLst>
              <a:path w="864235" h="360045">
                <a:moveTo>
                  <a:pt x="0" y="359664"/>
                </a:moveTo>
                <a:lnTo>
                  <a:pt x="2356" y="289667"/>
                </a:lnTo>
                <a:lnTo>
                  <a:pt x="8780" y="232505"/>
                </a:lnTo>
                <a:lnTo>
                  <a:pt x="18307" y="193964"/>
                </a:lnTo>
                <a:lnTo>
                  <a:pt x="29972" y="179832"/>
                </a:lnTo>
                <a:lnTo>
                  <a:pt x="402082" y="179832"/>
                </a:lnTo>
                <a:lnTo>
                  <a:pt x="413746" y="165699"/>
                </a:lnTo>
                <a:lnTo>
                  <a:pt x="423273" y="127158"/>
                </a:lnTo>
                <a:lnTo>
                  <a:pt x="429697" y="69996"/>
                </a:lnTo>
                <a:lnTo>
                  <a:pt x="432054" y="0"/>
                </a:lnTo>
                <a:lnTo>
                  <a:pt x="434410" y="69996"/>
                </a:lnTo>
                <a:lnTo>
                  <a:pt x="440834" y="127158"/>
                </a:lnTo>
                <a:lnTo>
                  <a:pt x="450361" y="165699"/>
                </a:lnTo>
                <a:lnTo>
                  <a:pt x="462026" y="179832"/>
                </a:lnTo>
                <a:lnTo>
                  <a:pt x="834136" y="179832"/>
                </a:lnTo>
                <a:lnTo>
                  <a:pt x="845800" y="193964"/>
                </a:lnTo>
                <a:lnTo>
                  <a:pt x="855327" y="232505"/>
                </a:lnTo>
                <a:lnTo>
                  <a:pt x="861751" y="289667"/>
                </a:lnTo>
                <a:lnTo>
                  <a:pt x="864108" y="359664"/>
                </a:lnTo>
              </a:path>
            </a:pathLst>
          </a:custGeom>
          <a:ln w="9525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744938" y="4598911"/>
            <a:ext cx="5092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clave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BBDD</a:t>
            </a:r>
            <a:r>
              <a:rPr spc="-35" dirty="0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72259"/>
            <a:ext cx="7753350" cy="40519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Comando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HGET: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recupera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un</a:t>
            </a:r>
            <a:r>
              <a:rPr sz="1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campo</a:t>
            </a:r>
            <a:r>
              <a:rPr sz="1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Hash</a:t>
            </a: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Comando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HMGET: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recupera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varios</a:t>
            </a:r>
            <a:r>
              <a:rPr sz="1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campos</a:t>
            </a:r>
            <a:r>
              <a:rPr sz="1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vez</a:t>
            </a:r>
            <a:endParaRPr sz="1600">
              <a:latin typeface="Calibri"/>
              <a:cs typeface="Calibri"/>
            </a:endParaRPr>
          </a:p>
          <a:p>
            <a:pPr marL="469265" marR="4600575">
              <a:lnSpc>
                <a:spcPct val="100000"/>
              </a:lnSpc>
              <a:spcBef>
                <a:spcPts val="975"/>
              </a:spcBef>
            </a:pP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3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HGET</a:t>
            </a:r>
            <a:r>
              <a:rPr sz="13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pelicula1</a:t>
            </a:r>
            <a:r>
              <a:rPr sz="13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"titulo“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"Un</a:t>
            </a:r>
            <a:r>
              <a:rPr sz="13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Monstruo</a:t>
            </a:r>
            <a:r>
              <a:rPr sz="1300" spc="-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viene</a:t>
            </a:r>
            <a:r>
              <a:rPr sz="13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verme«</a:t>
            </a:r>
            <a:endParaRPr sz="13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</a:pP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3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HMGET</a:t>
            </a:r>
            <a:r>
              <a:rPr sz="13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pelicula1</a:t>
            </a:r>
            <a:r>
              <a:rPr sz="13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"titulo“</a:t>
            </a:r>
            <a:r>
              <a:rPr sz="13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“espectadores”</a:t>
            </a:r>
            <a:endParaRPr sz="1300">
              <a:latin typeface="Calibri"/>
              <a:cs typeface="Calibri"/>
            </a:endParaRPr>
          </a:p>
          <a:p>
            <a:pPr marL="642620" indent="-173355">
              <a:lnSpc>
                <a:spcPct val="100000"/>
              </a:lnSpc>
              <a:buAutoNum type="arabicParenR"/>
              <a:tabLst>
                <a:tab pos="642620" algn="l"/>
              </a:tabLst>
            </a:pP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"Un</a:t>
            </a:r>
            <a:r>
              <a:rPr sz="13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Monstruo</a:t>
            </a:r>
            <a:r>
              <a:rPr sz="13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viene</a:t>
            </a:r>
            <a:r>
              <a:rPr sz="13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verme"</a:t>
            </a:r>
            <a:endParaRPr sz="1300">
              <a:latin typeface="Calibri"/>
              <a:cs typeface="Calibri"/>
            </a:endParaRPr>
          </a:p>
          <a:p>
            <a:pPr marL="642620" indent="-173355">
              <a:lnSpc>
                <a:spcPct val="100000"/>
              </a:lnSpc>
              <a:buAutoNum type="arabicParenR"/>
              <a:tabLst>
                <a:tab pos="642620" algn="l"/>
              </a:tabLst>
            </a:pP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"4100000"</a:t>
            </a:r>
            <a:endParaRPr sz="13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54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Comando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HGETALL: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devuelve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array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todos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clave-</a:t>
            </a:r>
            <a:r>
              <a:rPr sz="1600" dirty="0">
                <a:latin typeface="Calibri"/>
                <a:cs typeface="Calibri"/>
              </a:rPr>
              <a:t>valor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objeto</a:t>
            </a:r>
            <a:r>
              <a:rPr sz="1600" spc="-10" dirty="0">
                <a:latin typeface="Calibri"/>
                <a:cs typeface="Calibri"/>
              </a:rPr>
              <a:t> Hash: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60"/>
              </a:spcBef>
            </a:pPr>
            <a:r>
              <a:rPr sz="200" dirty="0">
                <a:latin typeface="Calibri"/>
                <a:cs typeface="Calibri"/>
              </a:rPr>
              <a:t>&gt;</a:t>
            </a:r>
            <a:r>
              <a:rPr sz="200" spc="-15" dirty="0">
                <a:latin typeface="Calibri"/>
                <a:cs typeface="Calibri"/>
              </a:rPr>
              <a:t> </a:t>
            </a:r>
            <a:r>
              <a:rPr sz="200" u="sng" dirty="0">
                <a:solidFill>
                  <a:srgbClr val="D2611C"/>
                </a:solidFill>
                <a:uFill>
                  <a:solidFill>
                    <a:srgbClr val="D2611C"/>
                  </a:solidFill>
                </a:uFill>
                <a:latin typeface="Calibri"/>
                <a:cs typeface="Calibri"/>
                <a:hlinkClick r:id="rId2"/>
              </a:rPr>
              <a:t>HGETALL</a:t>
            </a:r>
            <a:r>
              <a:rPr sz="200" u="sng" spc="-5" dirty="0">
                <a:solidFill>
                  <a:srgbClr val="D2611C"/>
                </a:solidFill>
                <a:uFill>
                  <a:solidFill>
                    <a:srgbClr val="D2611C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sz="200" u="sng" spc="-10" dirty="0">
                <a:solidFill>
                  <a:srgbClr val="D2611C"/>
                </a:solidFill>
                <a:uFill>
                  <a:solidFill>
                    <a:srgbClr val="D2611C"/>
                  </a:solidFill>
                </a:uFill>
                <a:latin typeface="Calibri"/>
                <a:cs typeface="Calibri"/>
                <a:hlinkClick r:id="rId2"/>
              </a:rPr>
              <a:t>pelicula</a:t>
            </a:r>
            <a:r>
              <a:rPr sz="200" spc="-10" dirty="0">
                <a:solidFill>
                  <a:srgbClr val="D2611C"/>
                </a:solidFill>
                <a:latin typeface="Calibri"/>
                <a:cs typeface="Calibri"/>
                <a:hlinkClick r:id="rId2"/>
              </a:rPr>
              <a:t>1</a:t>
            </a: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3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HGETALL</a:t>
            </a:r>
            <a:r>
              <a:rPr sz="13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pelicula1</a:t>
            </a:r>
            <a:endParaRPr sz="1300">
              <a:latin typeface="Calibri"/>
              <a:cs typeface="Calibri"/>
            </a:endParaRPr>
          </a:p>
          <a:p>
            <a:pPr marL="642620" indent="-173355">
              <a:lnSpc>
                <a:spcPct val="100000"/>
              </a:lnSpc>
              <a:buAutoNum type="arabicParenR"/>
              <a:tabLst>
                <a:tab pos="642620" algn="l"/>
              </a:tabLst>
            </a:pP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"titulo"</a:t>
            </a:r>
            <a:endParaRPr sz="1300">
              <a:latin typeface="Calibri"/>
              <a:cs typeface="Calibri"/>
            </a:endParaRPr>
          </a:p>
          <a:p>
            <a:pPr marL="642620" indent="-173355">
              <a:lnSpc>
                <a:spcPct val="100000"/>
              </a:lnSpc>
              <a:buAutoNum type="arabicParenR"/>
              <a:tabLst>
                <a:tab pos="642620" algn="l"/>
              </a:tabLst>
            </a:pP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"Un</a:t>
            </a:r>
            <a:r>
              <a:rPr sz="13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Monstruo</a:t>
            </a:r>
            <a:r>
              <a:rPr sz="13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viene</a:t>
            </a:r>
            <a:r>
              <a:rPr sz="13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68C4"/>
                </a:solidFill>
                <a:latin typeface="Calibri"/>
                <a:cs typeface="Calibri"/>
              </a:rPr>
              <a:t>a</a:t>
            </a:r>
            <a:r>
              <a:rPr sz="1300" spc="-3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verme"</a:t>
            </a:r>
            <a:endParaRPr sz="1300">
              <a:latin typeface="Calibri"/>
              <a:cs typeface="Calibri"/>
            </a:endParaRPr>
          </a:p>
          <a:p>
            <a:pPr marL="642620" indent="-173355">
              <a:lnSpc>
                <a:spcPct val="100000"/>
              </a:lnSpc>
              <a:buAutoNum type="arabicParenR"/>
              <a:tabLst>
                <a:tab pos="642620" algn="l"/>
              </a:tabLst>
            </a:pP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"fecha_estreno"</a:t>
            </a:r>
            <a:endParaRPr sz="1300">
              <a:latin typeface="Calibri"/>
              <a:cs typeface="Calibri"/>
            </a:endParaRPr>
          </a:p>
          <a:p>
            <a:pPr marL="642620" indent="-173355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642620" algn="l"/>
              </a:tabLst>
            </a:pP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"2016"</a:t>
            </a:r>
            <a:endParaRPr sz="1300">
              <a:latin typeface="Calibri"/>
              <a:cs typeface="Calibri"/>
            </a:endParaRPr>
          </a:p>
          <a:p>
            <a:pPr marL="641985" indent="-173355">
              <a:lnSpc>
                <a:spcPct val="100000"/>
              </a:lnSpc>
              <a:buAutoNum type="arabicParenR"/>
              <a:tabLst>
                <a:tab pos="641985" algn="l"/>
              </a:tabLst>
            </a:pP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"calificacion"</a:t>
            </a:r>
            <a:endParaRPr sz="1300">
              <a:latin typeface="Calibri"/>
              <a:cs typeface="Calibri"/>
            </a:endParaRPr>
          </a:p>
          <a:p>
            <a:pPr marL="641985" indent="-173355">
              <a:lnSpc>
                <a:spcPct val="100000"/>
              </a:lnSpc>
              <a:buAutoNum type="arabicParenR"/>
              <a:tabLst>
                <a:tab pos="641985" algn="l"/>
              </a:tabLst>
            </a:pP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"6.8"</a:t>
            </a:r>
            <a:endParaRPr sz="1300">
              <a:latin typeface="Calibri"/>
              <a:cs typeface="Calibri"/>
            </a:endParaRPr>
          </a:p>
          <a:p>
            <a:pPr marL="641985" indent="-173355">
              <a:lnSpc>
                <a:spcPct val="100000"/>
              </a:lnSpc>
              <a:buAutoNum type="arabicParenR"/>
              <a:tabLst>
                <a:tab pos="641985" algn="l"/>
              </a:tabLst>
            </a:pP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"espectadores"</a:t>
            </a:r>
            <a:endParaRPr sz="1300">
              <a:latin typeface="Calibri"/>
              <a:cs typeface="Calibri"/>
            </a:endParaRPr>
          </a:p>
          <a:p>
            <a:pPr marL="641985" indent="-173355">
              <a:lnSpc>
                <a:spcPct val="100000"/>
              </a:lnSpc>
              <a:buAutoNum type="arabicParenR"/>
              <a:tabLst>
                <a:tab pos="641985" algn="l"/>
              </a:tabLst>
            </a:pPr>
            <a:r>
              <a:rPr sz="1300" spc="-10" dirty="0">
                <a:solidFill>
                  <a:srgbClr val="3668C4"/>
                </a:solidFill>
                <a:latin typeface="Calibri"/>
                <a:cs typeface="Calibri"/>
              </a:rPr>
              <a:t>"4100000"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616456"/>
            <a:ext cx="6268720" cy="4193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Comando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HKEYS: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devuelve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campos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Hash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199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HKEYS</a:t>
            </a:r>
            <a:r>
              <a:rPr sz="1600" spc="-7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pelicula1</a:t>
            </a:r>
            <a:endParaRPr sz="1600">
              <a:latin typeface="Calibri"/>
              <a:cs typeface="Calibri"/>
            </a:endParaRPr>
          </a:p>
          <a:p>
            <a:pPr marL="681355" indent="-211454">
              <a:lnSpc>
                <a:spcPct val="100000"/>
              </a:lnSpc>
              <a:spcBef>
                <a:spcPts val="384"/>
              </a:spcBef>
              <a:buAutoNum type="arabicParenR"/>
              <a:tabLst>
                <a:tab pos="68135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"titulo"</a:t>
            </a:r>
            <a:endParaRPr sz="1600">
              <a:latin typeface="Calibri"/>
              <a:cs typeface="Calibri"/>
            </a:endParaRPr>
          </a:p>
          <a:p>
            <a:pPr marL="681355" indent="-211454">
              <a:lnSpc>
                <a:spcPct val="100000"/>
              </a:lnSpc>
              <a:spcBef>
                <a:spcPts val="384"/>
              </a:spcBef>
              <a:buAutoNum type="arabicParenR"/>
              <a:tabLst>
                <a:tab pos="68135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"fecha_estreno"</a:t>
            </a:r>
            <a:endParaRPr sz="1600">
              <a:latin typeface="Calibri"/>
              <a:cs typeface="Calibri"/>
            </a:endParaRPr>
          </a:p>
          <a:p>
            <a:pPr marL="681355" indent="-211454">
              <a:lnSpc>
                <a:spcPct val="100000"/>
              </a:lnSpc>
              <a:spcBef>
                <a:spcPts val="380"/>
              </a:spcBef>
              <a:buAutoNum type="arabicParenR"/>
              <a:tabLst>
                <a:tab pos="68135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"calificacion"</a:t>
            </a:r>
            <a:endParaRPr sz="1600">
              <a:latin typeface="Calibri"/>
              <a:cs typeface="Calibri"/>
            </a:endParaRPr>
          </a:p>
          <a:p>
            <a:pPr marL="681355" indent="-211454">
              <a:lnSpc>
                <a:spcPct val="100000"/>
              </a:lnSpc>
              <a:spcBef>
                <a:spcPts val="385"/>
              </a:spcBef>
              <a:buAutoNum type="arabicParenR"/>
              <a:tabLst>
                <a:tab pos="68135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"espectadores“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Calibri"/>
                <a:cs typeface="Calibri"/>
              </a:rPr>
              <a:t>Comando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b="1" spc="-20" dirty="0">
                <a:latin typeface="Calibri"/>
                <a:cs typeface="Calibri"/>
              </a:rPr>
              <a:t>HVALS: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devuelve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valores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Hash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127.0.0.1:6379&gt;</a:t>
            </a:r>
            <a:r>
              <a:rPr sz="16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HVALS</a:t>
            </a:r>
            <a:r>
              <a:rPr sz="1600" spc="-6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pelicula1</a:t>
            </a:r>
            <a:endParaRPr sz="1600">
              <a:latin typeface="Calibri"/>
              <a:cs typeface="Calibri"/>
            </a:endParaRPr>
          </a:p>
          <a:p>
            <a:pPr marL="681355" indent="-211454">
              <a:lnSpc>
                <a:spcPct val="100000"/>
              </a:lnSpc>
              <a:spcBef>
                <a:spcPts val="385"/>
              </a:spcBef>
              <a:buAutoNum type="arabicParenR"/>
              <a:tabLst>
                <a:tab pos="681355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"Un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Monstruo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viene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a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verme"</a:t>
            </a:r>
            <a:endParaRPr sz="1600">
              <a:latin typeface="Calibri"/>
              <a:cs typeface="Calibri"/>
            </a:endParaRPr>
          </a:p>
          <a:p>
            <a:pPr marL="680720" indent="-211454">
              <a:lnSpc>
                <a:spcPct val="100000"/>
              </a:lnSpc>
              <a:spcBef>
                <a:spcPts val="385"/>
              </a:spcBef>
              <a:buAutoNum type="arabicParenR"/>
              <a:tabLst>
                <a:tab pos="680720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"2016"</a:t>
            </a:r>
            <a:endParaRPr sz="1600">
              <a:latin typeface="Calibri"/>
              <a:cs typeface="Calibri"/>
            </a:endParaRPr>
          </a:p>
          <a:p>
            <a:pPr marL="681355" indent="-211454">
              <a:lnSpc>
                <a:spcPct val="100000"/>
              </a:lnSpc>
              <a:spcBef>
                <a:spcPts val="385"/>
              </a:spcBef>
              <a:buAutoNum type="arabicParenR"/>
              <a:tabLst>
                <a:tab pos="68135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"6.8"</a:t>
            </a:r>
            <a:endParaRPr sz="1600">
              <a:latin typeface="Calibri"/>
              <a:cs typeface="Calibri"/>
            </a:endParaRPr>
          </a:p>
          <a:p>
            <a:pPr marL="681355" indent="-211454">
              <a:lnSpc>
                <a:spcPct val="100000"/>
              </a:lnSpc>
              <a:spcBef>
                <a:spcPts val="385"/>
              </a:spcBef>
              <a:buAutoNum type="arabicParenR"/>
              <a:tabLst>
                <a:tab pos="68135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"4100000"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91833"/>
            <a:ext cx="5632450" cy="1243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t>BBDD</a:t>
            </a:r>
            <a:r>
              <a:rPr spc="-35"/>
              <a:t> </a:t>
            </a:r>
            <a:r>
              <a:rPr dirty="0"/>
              <a:t>No</a:t>
            </a:r>
            <a:r>
              <a:rPr spc="-10" dirty="0"/>
              <a:t> </a:t>
            </a:r>
            <a:r>
              <a:rPr dirty="0"/>
              <a:t>SQL.</a:t>
            </a:r>
            <a:r>
              <a:rPr spc="-15" dirty="0"/>
              <a:t> </a:t>
            </a:r>
            <a:r>
              <a:rPr dirty="0"/>
              <a:t>BD</a:t>
            </a:r>
            <a:r>
              <a:rPr spc="-25" dirty="0"/>
              <a:t> </a:t>
            </a:r>
            <a:r>
              <a:rPr dirty="0"/>
              <a:t>Clave</a:t>
            </a:r>
            <a:r>
              <a:rPr spc="-10" dirty="0"/>
              <a:t> </a:t>
            </a:r>
            <a:r>
              <a:rPr dirty="0"/>
              <a:t>–</a:t>
            </a:r>
            <a:r>
              <a:rPr spc="-10" dirty="0"/>
              <a:t> Valor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35938" y="1327188"/>
            <a:ext cx="8637905" cy="495998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Otros</a:t>
            </a:r>
            <a:r>
              <a:rPr sz="24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Tipos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</a:t>
            </a:r>
            <a:r>
              <a:rPr sz="24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Datos:</a:t>
            </a:r>
            <a:endParaRPr sz="2400">
              <a:latin typeface="Calibri"/>
              <a:cs typeface="Calibri"/>
            </a:endParaRPr>
          </a:p>
          <a:p>
            <a:pPr marL="355600" marR="253365" indent="-342900">
              <a:lnSpc>
                <a:spcPct val="100000"/>
              </a:lnSpc>
              <a:spcBef>
                <a:spcPts val="575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Sets: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ordenado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cadenas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diferentes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posible </a:t>
            </a:r>
            <a:r>
              <a:rPr sz="2400" dirty="0">
                <a:latin typeface="Calibri"/>
                <a:cs typeface="Calibri"/>
              </a:rPr>
              <a:t>añadir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elementos</a:t>
            </a:r>
            <a:r>
              <a:rPr sz="2400" spc="-1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repetidos)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  <a:tabLst>
                <a:tab pos="364490" algn="l"/>
              </a:tabLst>
            </a:pPr>
            <a:r>
              <a:rPr sz="2000" spc="-50" dirty="0">
                <a:solidFill>
                  <a:srgbClr val="E75C01"/>
                </a:solidFill>
                <a:latin typeface="Arial"/>
                <a:cs typeface="Arial"/>
              </a:rPr>
              <a:t>–</a:t>
            </a:r>
            <a:r>
              <a:rPr sz="2000" dirty="0">
                <a:solidFill>
                  <a:srgbClr val="E75C01"/>
                </a:solidFill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SADD,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SINTER,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SDIFF,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SUNION,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SRANDMEMBER,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SISMEMBER,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SREM,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SMEMBERS</a:t>
            </a:r>
            <a:endParaRPr sz="2000">
              <a:latin typeface="Calibri"/>
              <a:cs typeface="Calibri"/>
            </a:endParaRPr>
          </a:p>
          <a:p>
            <a:pPr marL="926465" marR="2634615">
              <a:lnSpc>
                <a:spcPct val="120000"/>
              </a:lnSpc>
              <a:spcBef>
                <a:spcPts val="2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spc="-7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668C4"/>
                </a:solidFill>
                <a:latin typeface="Calibri"/>
                <a:cs typeface="Calibri"/>
              </a:rPr>
              <a:t>SADD</a:t>
            </a:r>
            <a:r>
              <a:rPr sz="1600" b="1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BD_NoSQL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“REDIS"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“MongoDB"</a:t>
            </a:r>
            <a:r>
              <a:rPr sz="1600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“Neo4J"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“Cassandra“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9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60" dirty="0">
                <a:solidFill>
                  <a:srgbClr val="3668C4"/>
                </a:solidFill>
                <a:latin typeface="Calibri"/>
                <a:cs typeface="Calibri"/>
              </a:rPr>
              <a:t>4</a:t>
            </a:r>
            <a:endParaRPr sz="1600">
              <a:latin typeface="Calibri"/>
              <a:cs typeface="Calibri"/>
            </a:endParaRPr>
          </a:p>
          <a:p>
            <a:pPr marL="812165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668C4"/>
                </a:solidFill>
                <a:latin typeface="Calibri"/>
                <a:cs typeface="Calibri"/>
              </a:rPr>
              <a:t>SMEMBERS</a:t>
            </a:r>
            <a:r>
              <a:rPr sz="1600" b="1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BD_NoSQL</a:t>
            </a:r>
            <a:endParaRPr sz="1600">
              <a:latin typeface="Calibri"/>
              <a:cs typeface="Calibri"/>
            </a:endParaRPr>
          </a:p>
          <a:p>
            <a:pPr marL="1022985" indent="-210820">
              <a:lnSpc>
                <a:spcPct val="100000"/>
              </a:lnSpc>
              <a:spcBef>
                <a:spcPts val="385"/>
              </a:spcBef>
              <a:buAutoNum type="arabicParenR"/>
              <a:tabLst>
                <a:tab pos="102298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"Neo4J"</a:t>
            </a:r>
            <a:endParaRPr sz="1600">
              <a:latin typeface="Calibri"/>
              <a:cs typeface="Calibri"/>
            </a:endParaRPr>
          </a:p>
          <a:p>
            <a:pPr marL="1023619" indent="-211454">
              <a:lnSpc>
                <a:spcPct val="100000"/>
              </a:lnSpc>
              <a:buAutoNum type="arabicParenR"/>
              <a:tabLst>
                <a:tab pos="1023619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"REDIS"</a:t>
            </a:r>
            <a:endParaRPr sz="1600">
              <a:latin typeface="Calibri"/>
              <a:cs typeface="Calibri"/>
            </a:endParaRPr>
          </a:p>
          <a:p>
            <a:pPr marL="1022985" indent="-210820">
              <a:lnSpc>
                <a:spcPct val="100000"/>
              </a:lnSpc>
              <a:buAutoNum type="arabicParenR"/>
              <a:tabLst>
                <a:tab pos="102298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"Cassandra"</a:t>
            </a:r>
            <a:endParaRPr sz="1600">
              <a:latin typeface="Calibri"/>
              <a:cs typeface="Calibri"/>
            </a:endParaRPr>
          </a:p>
          <a:p>
            <a:pPr marL="1022985" indent="-210820">
              <a:lnSpc>
                <a:spcPct val="100000"/>
              </a:lnSpc>
              <a:buAutoNum type="arabicParenR"/>
              <a:tabLst>
                <a:tab pos="102298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"MongoDB"</a:t>
            </a:r>
            <a:endParaRPr sz="16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9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b="1" dirty="0">
                <a:solidFill>
                  <a:srgbClr val="3668C4"/>
                </a:solidFill>
                <a:latin typeface="Calibri"/>
                <a:cs typeface="Calibri"/>
              </a:rPr>
              <a:t>SRANDMEMBER</a:t>
            </a:r>
            <a:r>
              <a:rPr sz="1600" b="1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BD_NoSQL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-2</a:t>
            </a:r>
            <a:r>
              <a:rPr sz="1600" spc="-6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Wingdings"/>
                <a:cs typeface="Wingdings"/>
              </a:rPr>
              <a:t></a:t>
            </a:r>
            <a:r>
              <a:rPr sz="1600" spc="-9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Dos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elementos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con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repetidos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(-</a:t>
            </a:r>
            <a:r>
              <a:rPr sz="1600" spc="-50" dirty="0">
                <a:solidFill>
                  <a:srgbClr val="FF0000"/>
                </a:solidFill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  <a:p>
            <a:pPr marL="1022985" indent="-210820">
              <a:lnSpc>
                <a:spcPct val="100000"/>
              </a:lnSpc>
              <a:spcBef>
                <a:spcPts val="375"/>
              </a:spcBef>
              <a:buAutoNum type="arabicParenR"/>
              <a:tabLst>
                <a:tab pos="102298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"Neo4J"</a:t>
            </a:r>
            <a:endParaRPr sz="1600">
              <a:latin typeface="Calibri"/>
              <a:cs typeface="Calibri"/>
            </a:endParaRPr>
          </a:p>
          <a:p>
            <a:pPr marL="1022985" indent="-210820">
              <a:lnSpc>
                <a:spcPct val="100000"/>
              </a:lnSpc>
              <a:buAutoNum type="arabicParenR"/>
              <a:tabLst>
                <a:tab pos="102298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"Cassandra"</a:t>
            </a:r>
            <a:endParaRPr sz="16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84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&gt;</a:t>
            </a:r>
            <a:r>
              <a:rPr sz="16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668C4"/>
                </a:solidFill>
                <a:latin typeface="Calibri"/>
                <a:cs typeface="Calibri"/>
              </a:rPr>
              <a:t>SISMEMBER</a:t>
            </a:r>
            <a:r>
              <a:rPr sz="1600" b="1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BD_NoSQL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 "Oracle"</a:t>
            </a:r>
            <a:endParaRPr sz="16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395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(integer)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0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Wingdings"/>
                <a:cs typeface="Wingdings"/>
              </a:rPr>
              <a:t></a:t>
            </a:r>
            <a:r>
              <a:rPr sz="1600" spc="-7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“Oracle”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forma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parte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del</a:t>
            </a:r>
            <a:r>
              <a:rPr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conjunto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363" y="64268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32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00894" y="6335428"/>
            <a:ext cx="1942464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4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BBDD</a:t>
            </a:r>
            <a:r>
              <a:rPr sz="1200" spc="-3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No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SQL.</a:t>
            </a:r>
            <a:r>
              <a:rPr sz="1200" spc="-1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BD</a:t>
            </a: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Clave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Valor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0133" y="1509712"/>
            <a:ext cx="75241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Sorted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Sets: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ordenado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cadenas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caracteres ponderadas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7333" y="2305240"/>
            <a:ext cx="681291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tabLst>
                <a:tab pos="299085" algn="l"/>
              </a:tabLst>
            </a:pPr>
            <a:r>
              <a:rPr sz="2000" spc="-50" dirty="0">
                <a:solidFill>
                  <a:srgbClr val="E75C01"/>
                </a:solidFill>
                <a:latin typeface="Arial"/>
                <a:cs typeface="Arial"/>
              </a:rPr>
              <a:t>–</a:t>
            </a:r>
            <a:r>
              <a:rPr sz="2000" dirty="0">
                <a:solidFill>
                  <a:srgbClr val="E75C01"/>
                </a:solidFill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ZADD,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ZCOUNT, </a:t>
            </a:r>
            <a:r>
              <a:rPr sz="2000" dirty="0">
                <a:latin typeface="Calibri"/>
                <a:cs typeface="Calibri"/>
              </a:rPr>
              <a:t>ZRANGE,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ZREVRANGE,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ZRANGEBYSCORE, ZREVRANGEBYSCORE,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ZRANGEBYLEX,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ZREVRANGEBYLEX,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ZREM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4528" y="3284562"/>
            <a:ext cx="5532755" cy="61087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4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ZADD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3668C4"/>
                </a:solidFill>
                <a:latin typeface="Calibri"/>
                <a:cs typeface="Calibri"/>
              </a:rPr>
              <a:t>amigos_juan</a:t>
            </a:r>
            <a:r>
              <a:rPr sz="1600" b="1" spc="-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70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maria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95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pablo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95</a:t>
            </a:r>
            <a:r>
              <a:rPr sz="1600" spc="-1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carla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75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alicia</a:t>
            </a:r>
            <a:r>
              <a:rPr sz="1600" spc="-6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r>
              <a:rPr sz="16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natalia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0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ZCOUNT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amigos_juan</a:t>
            </a:r>
            <a:r>
              <a:rPr sz="16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90</a:t>
            </a:r>
            <a:r>
              <a:rPr sz="1600" spc="-5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5" dirty="0">
                <a:solidFill>
                  <a:srgbClr val="3668C4"/>
                </a:solidFill>
                <a:latin typeface="Calibri"/>
                <a:cs typeface="Calibri"/>
              </a:rPr>
              <a:t>100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34536" y="3869937"/>
            <a:ext cx="7010400" cy="24638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926465">
              <a:lnSpc>
                <a:spcPct val="100000"/>
              </a:lnSpc>
              <a:spcBef>
                <a:spcPts val="484"/>
              </a:spcBef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2</a:t>
            </a:r>
            <a:r>
              <a:rPr sz="1600" spc="31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-&gt;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miembros de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amigos_juan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de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90</a:t>
            </a:r>
            <a:r>
              <a:rPr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100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puntos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(incluidos</a:t>
            </a:r>
            <a:r>
              <a:rPr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extremos)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0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ZRANGE</a:t>
            </a:r>
            <a:r>
              <a:rPr sz="16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amigos_juan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0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50" dirty="0">
                <a:solidFill>
                  <a:srgbClr val="3668C4"/>
                </a:solidFill>
                <a:latin typeface="Calibri"/>
                <a:cs typeface="Calibri"/>
              </a:rPr>
              <a:t>2</a:t>
            </a:r>
            <a:endParaRPr sz="1600">
              <a:latin typeface="Calibri"/>
              <a:cs typeface="Calibri"/>
            </a:endParaRPr>
          </a:p>
          <a:p>
            <a:pPr marL="680720" lvl="1" indent="-210820">
              <a:lnSpc>
                <a:spcPct val="100000"/>
              </a:lnSpc>
              <a:spcBef>
                <a:spcPts val="385"/>
              </a:spcBef>
              <a:buAutoNum type="arabicParenR"/>
              <a:tabLst>
                <a:tab pos="680720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"natalia"</a:t>
            </a:r>
            <a:endParaRPr sz="1600">
              <a:latin typeface="Calibri"/>
              <a:cs typeface="Calibri"/>
            </a:endParaRPr>
          </a:p>
          <a:p>
            <a:pPr marL="681355" lvl="1" indent="-211454">
              <a:lnSpc>
                <a:spcPct val="100000"/>
              </a:lnSpc>
              <a:buAutoNum type="arabicParenR"/>
              <a:tabLst>
                <a:tab pos="68135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"maria"</a:t>
            </a:r>
            <a:endParaRPr sz="1600">
              <a:latin typeface="Calibri"/>
              <a:cs typeface="Calibri"/>
            </a:endParaRPr>
          </a:p>
          <a:p>
            <a:pPr marL="681355" lvl="1" indent="-211454">
              <a:lnSpc>
                <a:spcPct val="100000"/>
              </a:lnSpc>
              <a:buAutoNum type="arabicParenR"/>
              <a:tabLst>
                <a:tab pos="68135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"alicia"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ZREVRANGE</a:t>
            </a:r>
            <a:r>
              <a:rPr sz="1600" spc="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amigos_juan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0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-1</a:t>
            </a:r>
            <a:r>
              <a:rPr sz="1600" spc="30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-&gt;</a:t>
            </a:r>
            <a:r>
              <a:rPr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TODOS</a:t>
            </a:r>
            <a:r>
              <a:rPr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(más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menos)</a:t>
            </a:r>
            <a:endParaRPr sz="1600">
              <a:latin typeface="Calibri"/>
              <a:cs typeface="Calibri"/>
            </a:endParaRPr>
          </a:p>
          <a:p>
            <a:pPr marL="649605" lvl="1" indent="-210820">
              <a:lnSpc>
                <a:spcPct val="100000"/>
              </a:lnSpc>
              <a:spcBef>
                <a:spcPts val="385"/>
              </a:spcBef>
              <a:buAutoNum type="arabicParenR"/>
              <a:tabLst>
                <a:tab pos="64960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"pablo"</a:t>
            </a:r>
            <a:endParaRPr sz="1600">
              <a:latin typeface="Calibri"/>
              <a:cs typeface="Calibri"/>
            </a:endParaRPr>
          </a:p>
          <a:p>
            <a:pPr marL="649605" lvl="1" indent="-210820">
              <a:lnSpc>
                <a:spcPct val="100000"/>
              </a:lnSpc>
              <a:buAutoNum type="arabicParenR"/>
              <a:tabLst>
                <a:tab pos="64960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"carla"</a:t>
            </a:r>
            <a:endParaRPr sz="1600">
              <a:latin typeface="Calibri"/>
              <a:cs typeface="Calibri"/>
            </a:endParaRPr>
          </a:p>
          <a:p>
            <a:pPr marL="650240" lvl="1" indent="-211454">
              <a:lnSpc>
                <a:spcPct val="100000"/>
              </a:lnSpc>
              <a:buAutoNum type="arabicParenR"/>
              <a:tabLst>
                <a:tab pos="650240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"alicia"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61166" y="6308862"/>
            <a:ext cx="9556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24154" indent="-211454">
              <a:lnSpc>
                <a:spcPct val="100000"/>
              </a:lnSpc>
              <a:spcBef>
                <a:spcPts val="95"/>
              </a:spcBef>
              <a:buAutoNum type="arabicParenR" startAt="4"/>
              <a:tabLst>
                <a:tab pos="224154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"maria"</a:t>
            </a:r>
            <a:endParaRPr sz="1600">
              <a:latin typeface="Calibri"/>
              <a:cs typeface="Calibri"/>
            </a:endParaRPr>
          </a:p>
          <a:p>
            <a:pPr marL="223520" indent="-210820">
              <a:lnSpc>
                <a:spcPct val="100000"/>
              </a:lnSpc>
              <a:buAutoNum type="arabicParenR" startAt="4"/>
              <a:tabLst>
                <a:tab pos="223520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"natalia"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48990" y="3168916"/>
            <a:ext cx="517525" cy="195580"/>
            <a:chOff x="3348990" y="3168916"/>
            <a:chExt cx="517525" cy="195580"/>
          </a:xfrm>
        </p:grpSpPr>
        <p:sp>
          <p:nvSpPr>
            <p:cNvPr id="11" name="object 11"/>
            <p:cNvSpPr/>
            <p:nvPr/>
          </p:nvSpPr>
          <p:spPr>
            <a:xfrm>
              <a:off x="3392551" y="3181616"/>
              <a:ext cx="461009" cy="170180"/>
            </a:xfrm>
            <a:custGeom>
              <a:avLst/>
              <a:gdLst/>
              <a:ahLst/>
              <a:cxnLst/>
              <a:rect l="l" t="t" r="r" b="b"/>
              <a:pathLst>
                <a:path w="461010" h="170179">
                  <a:moveTo>
                    <a:pt x="0" y="130314"/>
                  </a:moveTo>
                  <a:lnTo>
                    <a:pt x="38085" y="91392"/>
                  </a:lnTo>
                  <a:lnTo>
                    <a:pt x="75624" y="57366"/>
                  </a:lnTo>
                  <a:lnTo>
                    <a:pt x="113828" y="29770"/>
                  </a:lnTo>
                  <a:lnTo>
                    <a:pt x="153908" y="10136"/>
                  </a:lnTo>
                  <a:lnTo>
                    <a:pt x="197078" y="0"/>
                  </a:lnTo>
                  <a:lnTo>
                    <a:pt x="241407" y="6645"/>
                  </a:lnTo>
                  <a:lnTo>
                    <a:pt x="287338" y="28023"/>
                  </a:lnTo>
                  <a:lnTo>
                    <a:pt x="332405" y="57956"/>
                  </a:lnTo>
                  <a:lnTo>
                    <a:pt x="374136" y="90264"/>
                  </a:lnTo>
                  <a:lnTo>
                    <a:pt x="410063" y="118767"/>
                  </a:lnTo>
                  <a:lnTo>
                    <a:pt x="437718" y="137287"/>
                  </a:lnTo>
                  <a:lnTo>
                    <a:pt x="458249" y="152687"/>
                  </a:lnTo>
                  <a:lnTo>
                    <a:pt x="461016" y="162332"/>
                  </a:lnTo>
                  <a:lnTo>
                    <a:pt x="452134" y="167628"/>
                  </a:lnTo>
                  <a:lnTo>
                    <a:pt x="437718" y="169976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48990" y="3276549"/>
              <a:ext cx="80010" cy="81915"/>
            </a:xfrm>
            <a:custGeom>
              <a:avLst/>
              <a:gdLst/>
              <a:ahLst/>
              <a:cxnLst/>
              <a:rect l="l" t="t" r="r" b="b"/>
              <a:pathLst>
                <a:path w="80010" h="81914">
                  <a:moveTo>
                    <a:pt x="24549" y="0"/>
                  </a:moveTo>
                  <a:lnTo>
                    <a:pt x="0" y="81584"/>
                  </a:lnTo>
                  <a:lnTo>
                    <a:pt x="79997" y="52273"/>
                  </a:lnTo>
                  <a:lnTo>
                    <a:pt x="2454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213097" y="3168916"/>
            <a:ext cx="516255" cy="195580"/>
            <a:chOff x="4213097" y="3168916"/>
            <a:chExt cx="516255" cy="195580"/>
          </a:xfrm>
        </p:grpSpPr>
        <p:sp>
          <p:nvSpPr>
            <p:cNvPr id="14" name="object 14"/>
            <p:cNvSpPr/>
            <p:nvPr/>
          </p:nvSpPr>
          <p:spPr>
            <a:xfrm>
              <a:off x="4256760" y="3181616"/>
              <a:ext cx="459740" cy="170180"/>
            </a:xfrm>
            <a:custGeom>
              <a:avLst/>
              <a:gdLst/>
              <a:ahLst/>
              <a:cxnLst/>
              <a:rect l="l" t="t" r="r" b="b"/>
              <a:pathLst>
                <a:path w="459739" h="170179">
                  <a:moveTo>
                    <a:pt x="0" y="130060"/>
                  </a:moveTo>
                  <a:lnTo>
                    <a:pt x="37918" y="91212"/>
                  </a:lnTo>
                  <a:lnTo>
                    <a:pt x="75299" y="57253"/>
                  </a:lnTo>
                  <a:lnTo>
                    <a:pt x="113346" y="29711"/>
                  </a:lnTo>
                  <a:lnTo>
                    <a:pt x="153263" y="10117"/>
                  </a:lnTo>
                  <a:lnTo>
                    <a:pt x="196253" y="0"/>
                  </a:lnTo>
                  <a:lnTo>
                    <a:pt x="240444" y="6644"/>
                  </a:lnTo>
                  <a:lnTo>
                    <a:pt x="286235" y="28020"/>
                  </a:lnTo>
                  <a:lnTo>
                    <a:pt x="331165" y="57951"/>
                  </a:lnTo>
                  <a:lnTo>
                    <a:pt x="372771" y="90258"/>
                  </a:lnTo>
                  <a:lnTo>
                    <a:pt x="408593" y="118762"/>
                  </a:lnTo>
                  <a:lnTo>
                    <a:pt x="436168" y="137286"/>
                  </a:lnTo>
                  <a:lnTo>
                    <a:pt x="456630" y="152685"/>
                  </a:lnTo>
                  <a:lnTo>
                    <a:pt x="459385" y="162328"/>
                  </a:lnTo>
                  <a:lnTo>
                    <a:pt x="450533" y="167622"/>
                  </a:lnTo>
                  <a:lnTo>
                    <a:pt x="436168" y="169976"/>
                  </a:lnTo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13097" y="3276523"/>
              <a:ext cx="80010" cy="81915"/>
            </a:xfrm>
            <a:custGeom>
              <a:avLst/>
              <a:gdLst/>
              <a:ahLst/>
              <a:cxnLst/>
              <a:rect l="l" t="t" r="r" b="b"/>
              <a:pathLst>
                <a:path w="80010" h="81914">
                  <a:moveTo>
                    <a:pt x="24422" y="0"/>
                  </a:moveTo>
                  <a:lnTo>
                    <a:pt x="0" y="81610"/>
                  </a:lnTo>
                  <a:lnTo>
                    <a:pt x="79946" y="52184"/>
                  </a:lnTo>
                  <a:lnTo>
                    <a:pt x="244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4860797" y="3168916"/>
            <a:ext cx="517525" cy="195580"/>
            <a:chOff x="4860797" y="3168916"/>
            <a:chExt cx="517525" cy="195580"/>
          </a:xfrm>
        </p:grpSpPr>
        <p:sp>
          <p:nvSpPr>
            <p:cNvPr id="17" name="object 17"/>
            <p:cNvSpPr/>
            <p:nvPr/>
          </p:nvSpPr>
          <p:spPr>
            <a:xfrm>
              <a:off x="4904358" y="3181616"/>
              <a:ext cx="461009" cy="170180"/>
            </a:xfrm>
            <a:custGeom>
              <a:avLst/>
              <a:gdLst/>
              <a:ahLst/>
              <a:cxnLst/>
              <a:rect l="l" t="t" r="r" b="b"/>
              <a:pathLst>
                <a:path w="461010" h="170179">
                  <a:moveTo>
                    <a:pt x="0" y="130314"/>
                  </a:moveTo>
                  <a:lnTo>
                    <a:pt x="38085" y="91392"/>
                  </a:lnTo>
                  <a:lnTo>
                    <a:pt x="75624" y="57366"/>
                  </a:lnTo>
                  <a:lnTo>
                    <a:pt x="113828" y="29770"/>
                  </a:lnTo>
                  <a:lnTo>
                    <a:pt x="153908" y="10136"/>
                  </a:lnTo>
                  <a:lnTo>
                    <a:pt x="197078" y="0"/>
                  </a:lnTo>
                  <a:lnTo>
                    <a:pt x="241407" y="6645"/>
                  </a:lnTo>
                  <a:lnTo>
                    <a:pt x="287338" y="28023"/>
                  </a:lnTo>
                  <a:lnTo>
                    <a:pt x="332405" y="57956"/>
                  </a:lnTo>
                  <a:lnTo>
                    <a:pt x="374136" y="90264"/>
                  </a:lnTo>
                  <a:lnTo>
                    <a:pt x="410063" y="118767"/>
                  </a:lnTo>
                  <a:lnTo>
                    <a:pt x="437718" y="137287"/>
                  </a:lnTo>
                  <a:lnTo>
                    <a:pt x="458249" y="152687"/>
                  </a:lnTo>
                  <a:lnTo>
                    <a:pt x="461016" y="162332"/>
                  </a:lnTo>
                  <a:lnTo>
                    <a:pt x="452134" y="167628"/>
                  </a:lnTo>
                  <a:lnTo>
                    <a:pt x="437718" y="169976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860797" y="3276549"/>
              <a:ext cx="80010" cy="81915"/>
            </a:xfrm>
            <a:custGeom>
              <a:avLst/>
              <a:gdLst/>
              <a:ahLst/>
              <a:cxnLst/>
              <a:rect l="l" t="t" r="r" b="b"/>
              <a:pathLst>
                <a:path w="80010" h="81914">
                  <a:moveTo>
                    <a:pt x="24549" y="0"/>
                  </a:moveTo>
                  <a:lnTo>
                    <a:pt x="0" y="81584"/>
                  </a:lnTo>
                  <a:lnTo>
                    <a:pt x="79997" y="52273"/>
                  </a:lnTo>
                  <a:lnTo>
                    <a:pt x="2454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5653278" y="3168916"/>
            <a:ext cx="516255" cy="195580"/>
            <a:chOff x="5653278" y="3168916"/>
            <a:chExt cx="516255" cy="195580"/>
          </a:xfrm>
        </p:grpSpPr>
        <p:sp>
          <p:nvSpPr>
            <p:cNvPr id="20" name="object 20"/>
            <p:cNvSpPr/>
            <p:nvPr/>
          </p:nvSpPr>
          <p:spPr>
            <a:xfrm>
              <a:off x="5696940" y="3181616"/>
              <a:ext cx="459740" cy="170180"/>
            </a:xfrm>
            <a:custGeom>
              <a:avLst/>
              <a:gdLst/>
              <a:ahLst/>
              <a:cxnLst/>
              <a:rect l="l" t="t" r="r" b="b"/>
              <a:pathLst>
                <a:path w="459739" h="170179">
                  <a:moveTo>
                    <a:pt x="0" y="130060"/>
                  </a:moveTo>
                  <a:lnTo>
                    <a:pt x="37918" y="91212"/>
                  </a:lnTo>
                  <a:lnTo>
                    <a:pt x="75299" y="57253"/>
                  </a:lnTo>
                  <a:lnTo>
                    <a:pt x="113346" y="29711"/>
                  </a:lnTo>
                  <a:lnTo>
                    <a:pt x="153263" y="10117"/>
                  </a:lnTo>
                  <a:lnTo>
                    <a:pt x="196253" y="0"/>
                  </a:lnTo>
                  <a:lnTo>
                    <a:pt x="240444" y="6644"/>
                  </a:lnTo>
                  <a:lnTo>
                    <a:pt x="286235" y="28020"/>
                  </a:lnTo>
                  <a:lnTo>
                    <a:pt x="331165" y="57951"/>
                  </a:lnTo>
                  <a:lnTo>
                    <a:pt x="372771" y="90258"/>
                  </a:lnTo>
                  <a:lnTo>
                    <a:pt x="408593" y="118762"/>
                  </a:lnTo>
                  <a:lnTo>
                    <a:pt x="436168" y="137286"/>
                  </a:lnTo>
                  <a:lnTo>
                    <a:pt x="456630" y="152685"/>
                  </a:lnTo>
                  <a:lnTo>
                    <a:pt x="459385" y="162328"/>
                  </a:lnTo>
                  <a:lnTo>
                    <a:pt x="450533" y="167622"/>
                  </a:lnTo>
                  <a:lnTo>
                    <a:pt x="436168" y="169976"/>
                  </a:lnTo>
                </a:path>
              </a:pathLst>
            </a:custGeom>
            <a:ln w="2539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653278" y="3276523"/>
              <a:ext cx="80010" cy="81915"/>
            </a:xfrm>
            <a:custGeom>
              <a:avLst/>
              <a:gdLst/>
              <a:ahLst/>
              <a:cxnLst/>
              <a:rect l="l" t="t" r="r" b="b"/>
              <a:pathLst>
                <a:path w="80010" h="81914">
                  <a:moveTo>
                    <a:pt x="24422" y="0"/>
                  </a:moveTo>
                  <a:lnTo>
                    <a:pt x="0" y="81610"/>
                  </a:lnTo>
                  <a:lnTo>
                    <a:pt x="79946" y="52184"/>
                  </a:lnTo>
                  <a:lnTo>
                    <a:pt x="244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6372605" y="3135388"/>
            <a:ext cx="517525" cy="195580"/>
            <a:chOff x="6372605" y="3135388"/>
            <a:chExt cx="517525" cy="195580"/>
          </a:xfrm>
        </p:grpSpPr>
        <p:sp>
          <p:nvSpPr>
            <p:cNvPr id="23" name="object 23"/>
            <p:cNvSpPr/>
            <p:nvPr/>
          </p:nvSpPr>
          <p:spPr>
            <a:xfrm>
              <a:off x="6416166" y="3148088"/>
              <a:ext cx="461009" cy="170180"/>
            </a:xfrm>
            <a:custGeom>
              <a:avLst/>
              <a:gdLst/>
              <a:ahLst/>
              <a:cxnLst/>
              <a:rect l="l" t="t" r="r" b="b"/>
              <a:pathLst>
                <a:path w="461009" h="170179">
                  <a:moveTo>
                    <a:pt x="0" y="130314"/>
                  </a:moveTo>
                  <a:lnTo>
                    <a:pt x="38085" y="91392"/>
                  </a:lnTo>
                  <a:lnTo>
                    <a:pt x="75624" y="57366"/>
                  </a:lnTo>
                  <a:lnTo>
                    <a:pt x="113828" y="29770"/>
                  </a:lnTo>
                  <a:lnTo>
                    <a:pt x="153908" y="10136"/>
                  </a:lnTo>
                  <a:lnTo>
                    <a:pt x="197078" y="0"/>
                  </a:lnTo>
                  <a:lnTo>
                    <a:pt x="241407" y="6645"/>
                  </a:lnTo>
                  <a:lnTo>
                    <a:pt x="287338" y="28023"/>
                  </a:lnTo>
                  <a:lnTo>
                    <a:pt x="332405" y="57956"/>
                  </a:lnTo>
                  <a:lnTo>
                    <a:pt x="374136" y="90264"/>
                  </a:lnTo>
                  <a:lnTo>
                    <a:pt x="410063" y="118767"/>
                  </a:lnTo>
                  <a:lnTo>
                    <a:pt x="437718" y="137287"/>
                  </a:lnTo>
                  <a:lnTo>
                    <a:pt x="458249" y="152687"/>
                  </a:lnTo>
                  <a:lnTo>
                    <a:pt x="461016" y="162332"/>
                  </a:lnTo>
                  <a:lnTo>
                    <a:pt x="452134" y="167628"/>
                  </a:lnTo>
                  <a:lnTo>
                    <a:pt x="437718" y="169976"/>
                  </a:lnTo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372605" y="3243021"/>
              <a:ext cx="80010" cy="81915"/>
            </a:xfrm>
            <a:custGeom>
              <a:avLst/>
              <a:gdLst/>
              <a:ahLst/>
              <a:cxnLst/>
              <a:rect l="l" t="t" r="r" b="b"/>
              <a:pathLst>
                <a:path w="80010" h="81914">
                  <a:moveTo>
                    <a:pt x="24549" y="0"/>
                  </a:moveTo>
                  <a:lnTo>
                    <a:pt x="0" y="81584"/>
                  </a:lnTo>
                  <a:lnTo>
                    <a:pt x="79997" y="52273"/>
                  </a:lnTo>
                  <a:lnTo>
                    <a:pt x="2454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863840" y="2575560"/>
            <a:ext cx="1160145" cy="1385570"/>
          </a:xfrm>
          <a:prstGeom prst="rect">
            <a:avLst/>
          </a:prstGeom>
          <a:solidFill>
            <a:srgbClr val="DADADA"/>
          </a:solidFill>
        </p:spPr>
        <p:txBody>
          <a:bodyPr vert="horz" wrap="square" lIns="0" tIns="36830" rIns="0" bIns="0" rtlCol="0">
            <a:spAutoFit/>
          </a:bodyPr>
          <a:lstStyle/>
          <a:p>
            <a:pPr marL="95250" marR="90170" indent="20955">
              <a:lnSpc>
                <a:spcPct val="100000"/>
              </a:lnSpc>
              <a:spcBef>
                <a:spcPts val="290"/>
              </a:spcBef>
            </a:pP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Ordenados</a:t>
            </a:r>
            <a:r>
              <a:rPr sz="1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de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menor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mayor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"natalia"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"maria"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"alicia"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"carla"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"pablo"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15363" y="64268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77333" y="5997153"/>
            <a:ext cx="7287259" cy="53925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  <a:tabLst>
                <a:tab pos="299085" algn="l"/>
              </a:tabLst>
            </a:pPr>
            <a:r>
              <a:rPr sz="2000" spc="-50" dirty="0">
                <a:solidFill>
                  <a:srgbClr val="E75C01"/>
                </a:solidFill>
                <a:latin typeface="Arial"/>
                <a:cs typeface="Arial"/>
              </a:rPr>
              <a:t>–</a:t>
            </a:r>
            <a:r>
              <a:rPr sz="2000" dirty="0">
                <a:solidFill>
                  <a:srgbClr val="E75C01"/>
                </a:solidFill>
                <a:latin typeface="Arial"/>
                <a:cs typeface="Arial"/>
              </a:rPr>
              <a:t>	</a:t>
            </a:r>
            <a:r>
              <a:rPr sz="2000" b="1" dirty="0">
                <a:latin typeface="Calibri"/>
                <a:cs typeface="Calibri"/>
              </a:rPr>
              <a:t>Bitmaps,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HyperLogLogs: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realmente</a:t>
            </a:r>
            <a:r>
              <a:rPr sz="2000" dirty="0">
                <a:latin typeface="Calibri"/>
                <a:cs typeface="Calibri"/>
              </a:rPr>
              <a:t> tipos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REDIS.</a:t>
            </a:r>
            <a:endParaRPr sz="2000" dirty="0">
              <a:latin typeface="Calibri"/>
              <a:cs typeface="Calibri"/>
            </a:endParaRPr>
          </a:p>
          <a:p>
            <a:pPr marL="2635885" marR="2725420" indent="-1905" algn="ctr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BBDD</a:t>
            </a:r>
            <a:r>
              <a:rPr sz="1200" spc="-3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No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SQL.</a:t>
            </a:r>
            <a:r>
              <a:rPr sz="1200" spc="-1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BD</a:t>
            </a:r>
            <a:r>
              <a:rPr sz="1200" spc="-25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Clave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8A8A8A"/>
                </a:solidFill>
                <a:latin typeface="Calibri"/>
                <a:cs typeface="Calibri"/>
              </a:rPr>
              <a:t>–</a:t>
            </a:r>
            <a:r>
              <a:rPr sz="1200" spc="-10" dirty="0">
                <a:solidFill>
                  <a:srgbClr val="8A8A8A"/>
                </a:solidFill>
                <a:latin typeface="Calibri"/>
                <a:cs typeface="Calibri"/>
              </a:rPr>
              <a:t> Valor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0133" y="1509712"/>
            <a:ext cx="75241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lr>
                <a:srgbClr val="E75C01"/>
              </a:buClr>
              <a:buFont typeface="Arial"/>
              <a:buChar char="•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Sorted</a:t>
            </a:r>
            <a:r>
              <a:rPr sz="2400" b="1" spc="-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Sets: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conjunto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ordenado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cadenas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caracteres ponderadas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7333" y="2305240"/>
            <a:ext cx="681037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tabLst>
                <a:tab pos="299085" algn="l"/>
              </a:tabLst>
            </a:pPr>
            <a:r>
              <a:rPr sz="2000" spc="-50" dirty="0">
                <a:solidFill>
                  <a:srgbClr val="E75C01"/>
                </a:solidFill>
                <a:latin typeface="Arial"/>
                <a:cs typeface="Arial"/>
              </a:rPr>
              <a:t>–</a:t>
            </a:r>
            <a:r>
              <a:rPr sz="2000" dirty="0">
                <a:solidFill>
                  <a:srgbClr val="E75C01"/>
                </a:solidFill>
                <a:latin typeface="Arial"/>
                <a:cs typeface="Arial"/>
              </a:rPr>
              <a:t>	</a:t>
            </a:r>
            <a:r>
              <a:rPr sz="2000" dirty="0">
                <a:latin typeface="Calibri"/>
                <a:cs typeface="Calibri"/>
              </a:rPr>
              <a:t>ZADD,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ZCOUNT, </a:t>
            </a:r>
            <a:r>
              <a:rPr sz="2000" dirty="0">
                <a:latin typeface="Calibri"/>
                <a:cs typeface="Calibri"/>
              </a:rPr>
              <a:t>ZRANGE,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ZREVRANGE,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ZRANGEBYSCORE, ZREVRANGEBYSCORE</a:t>
            </a:r>
            <a:r>
              <a:rPr sz="2000" i="1" spc="-10" dirty="0">
                <a:latin typeface="Calibri"/>
                <a:cs typeface="Calibri"/>
              </a:rPr>
              <a:t>,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ZRANGEBYLEX,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spc="-10" dirty="0">
                <a:latin typeface="Calibri"/>
                <a:cs typeface="Calibri"/>
              </a:rPr>
              <a:t>ZREVRANGEBYLEX</a:t>
            </a:r>
            <a:r>
              <a:rPr sz="2000" spc="-10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ZREM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4528" y="2918979"/>
            <a:ext cx="5572760" cy="26282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80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ZRANGEBYSCORE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 amigos_juan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-inf</a:t>
            </a:r>
            <a:r>
              <a:rPr sz="16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20" dirty="0">
                <a:solidFill>
                  <a:srgbClr val="3668C4"/>
                </a:solidFill>
                <a:latin typeface="Calibri"/>
                <a:cs typeface="Calibri"/>
              </a:rPr>
              <a:t>+inf</a:t>
            </a:r>
            <a:endParaRPr sz="1600">
              <a:latin typeface="Calibri"/>
              <a:cs typeface="Calibri"/>
            </a:endParaRPr>
          </a:p>
          <a:p>
            <a:pPr marL="652780" lvl="1" indent="-182880">
              <a:lnSpc>
                <a:spcPct val="100000"/>
              </a:lnSpc>
              <a:spcBef>
                <a:spcPts val="345"/>
              </a:spcBef>
              <a:buAutoNum type="arabicParenR"/>
              <a:tabLst>
                <a:tab pos="652780" algn="l"/>
              </a:tabLst>
            </a:pP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"natalia"</a:t>
            </a:r>
            <a:endParaRPr sz="1400">
              <a:latin typeface="Calibri"/>
              <a:cs typeface="Calibri"/>
            </a:endParaRPr>
          </a:p>
          <a:p>
            <a:pPr marL="652145" lvl="1" indent="-182880">
              <a:lnSpc>
                <a:spcPct val="100000"/>
              </a:lnSpc>
              <a:buAutoNum type="arabicParenR"/>
              <a:tabLst>
                <a:tab pos="652145" algn="l"/>
              </a:tabLst>
            </a:pP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"maria"</a:t>
            </a:r>
            <a:endParaRPr sz="1400">
              <a:latin typeface="Calibri"/>
              <a:cs typeface="Calibri"/>
            </a:endParaRPr>
          </a:p>
          <a:p>
            <a:pPr marL="652145" lvl="1" indent="-182880">
              <a:lnSpc>
                <a:spcPct val="100000"/>
              </a:lnSpc>
              <a:buAutoNum type="arabicParenR"/>
              <a:tabLst>
                <a:tab pos="652145" algn="l"/>
              </a:tabLst>
            </a:pP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"alicia"</a:t>
            </a:r>
            <a:endParaRPr sz="1400">
              <a:latin typeface="Calibri"/>
              <a:cs typeface="Calibri"/>
            </a:endParaRPr>
          </a:p>
          <a:p>
            <a:pPr marL="652145" lvl="1" indent="-182880">
              <a:lnSpc>
                <a:spcPct val="100000"/>
              </a:lnSpc>
              <a:spcBef>
                <a:spcPts val="5"/>
              </a:spcBef>
              <a:buAutoNum type="arabicParenR"/>
              <a:tabLst>
                <a:tab pos="652145" algn="l"/>
              </a:tabLst>
            </a:pP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"carla"</a:t>
            </a:r>
            <a:endParaRPr sz="1400">
              <a:latin typeface="Calibri"/>
              <a:cs typeface="Calibri"/>
            </a:endParaRPr>
          </a:p>
          <a:p>
            <a:pPr marL="652145" lvl="1" indent="-182880">
              <a:lnSpc>
                <a:spcPct val="100000"/>
              </a:lnSpc>
              <a:spcBef>
                <a:spcPts val="190"/>
              </a:spcBef>
              <a:buAutoNum type="arabicParenR"/>
              <a:tabLst>
                <a:tab pos="652145" algn="l"/>
              </a:tabLst>
            </a:pPr>
            <a:r>
              <a:rPr sz="1400" spc="-10" dirty="0">
                <a:solidFill>
                  <a:srgbClr val="3668C4"/>
                </a:solidFill>
                <a:latin typeface="Calibri"/>
                <a:cs typeface="Calibri"/>
              </a:rPr>
              <a:t>"pablo"</a:t>
            </a:r>
            <a:endParaRPr sz="14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20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ZRANGEBYSCORE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 amigos_juan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75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(inclyendo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extremos)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ZRANGEBYSCORE</a:t>
            </a:r>
            <a:r>
              <a:rPr sz="1600" spc="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amigos_juan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1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FF0000"/>
                </a:solidFill>
                <a:latin typeface="Calibri"/>
                <a:cs typeface="Calibri"/>
              </a:rPr>
              <a:t>(95</a:t>
            </a:r>
            <a:r>
              <a:rPr sz="1600" spc="2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(excluyendo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extremo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95)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ZREVRANGEBYSCORE</a:t>
            </a:r>
            <a:r>
              <a:rPr sz="1600" spc="2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amigos_juan</a:t>
            </a:r>
            <a:r>
              <a:rPr sz="1600" spc="-5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+inf</a:t>
            </a:r>
            <a:r>
              <a:rPr sz="1600" spc="-3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–inf</a:t>
            </a:r>
            <a:r>
              <a:rPr sz="1600" spc="-4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FF0000"/>
                </a:solidFill>
                <a:latin typeface="Calibri"/>
                <a:cs typeface="Calibri"/>
              </a:rPr>
              <a:t>WITHSCORES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85"/>
              </a:spcBef>
              <a:buClr>
                <a:srgbClr val="E75C01"/>
              </a:buClr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ZREM</a:t>
            </a:r>
            <a:r>
              <a:rPr sz="1600" spc="-20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3668C4"/>
                </a:solidFill>
                <a:latin typeface="Calibri"/>
                <a:cs typeface="Calibri"/>
              </a:rPr>
              <a:t>amigos_juan</a:t>
            </a:r>
            <a:r>
              <a:rPr sz="1600" spc="-45" dirty="0">
                <a:solidFill>
                  <a:srgbClr val="3668C4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3668C4"/>
                </a:solidFill>
                <a:latin typeface="Calibri"/>
                <a:cs typeface="Calibri"/>
              </a:rPr>
              <a:t>“carla”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0133" y="5587941"/>
            <a:ext cx="1143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2400" b="1" spc="-20" dirty="0">
                <a:latin typeface="Calibri"/>
                <a:cs typeface="Calibri"/>
              </a:rPr>
              <a:t>Otros: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63840" y="2575560"/>
            <a:ext cx="1160145" cy="1385570"/>
          </a:xfrm>
          <a:prstGeom prst="rect">
            <a:avLst/>
          </a:prstGeom>
          <a:solidFill>
            <a:srgbClr val="DADADA"/>
          </a:solidFill>
        </p:spPr>
        <p:txBody>
          <a:bodyPr vert="horz" wrap="square" lIns="0" tIns="36830" rIns="0" bIns="0" rtlCol="0">
            <a:spAutoFit/>
          </a:bodyPr>
          <a:lstStyle/>
          <a:p>
            <a:pPr marL="95250" marR="90170" indent="20955">
              <a:lnSpc>
                <a:spcPct val="100000"/>
              </a:lnSpc>
              <a:spcBef>
                <a:spcPts val="290"/>
              </a:spcBef>
            </a:pP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Ordenados</a:t>
            </a:r>
            <a:r>
              <a:rPr sz="1200" b="1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spc="-35" dirty="0">
                <a:solidFill>
                  <a:srgbClr val="FF0000"/>
                </a:solidFill>
                <a:latin typeface="Calibri"/>
                <a:cs typeface="Calibri"/>
              </a:rPr>
              <a:t>de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menor</a:t>
            </a:r>
            <a:r>
              <a:rPr sz="12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b="1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1200" b="1" spc="-20" dirty="0">
                <a:solidFill>
                  <a:srgbClr val="FF0000"/>
                </a:solidFill>
                <a:latin typeface="Calibri"/>
                <a:cs typeface="Calibri"/>
              </a:rPr>
              <a:t> mayor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"natalia"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"maria"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"alicia"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"carla"</a:t>
            </a:r>
            <a:endParaRPr sz="1200">
              <a:latin typeface="Calibri"/>
              <a:cs typeface="Calibri"/>
            </a:endParaRPr>
          </a:p>
          <a:p>
            <a:pPr marL="248920" indent="-158115">
              <a:lnSpc>
                <a:spcPct val="100000"/>
              </a:lnSpc>
              <a:buAutoNum type="arabicParenR"/>
              <a:tabLst>
                <a:tab pos="248920" algn="l"/>
              </a:tabLst>
            </a:pPr>
            <a:r>
              <a:rPr sz="1200" spc="-10" dirty="0">
                <a:latin typeface="Calibri"/>
                <a:cs typeface="Calibri"/>
              </a:rPr>
              <a:t>"pablo"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/>
              <a:t>Bases</a:t>
            </a:r>
            <a:r>
              <a:rPr spc="-50" dirty="0"/>
              <a:t> </a:t>
            </a:r>
            <a:r>
              <a:rPr dirty="0"/>
              <a:t>de</a:t>
            </a:r>
            <a:r>
              <a:rPr spc="-55" dirty="0"/>
              <a:t> </a:t>
            </a:r>
            <a:r>
              <a:rPr dirty="0"/>
              <a:t>Datos</a:t>
            </a:r>
            <a:r>
              <a:rPr spc="-65" dirty="0"/>
              <a:t> </a:t>
            </a:r>
            <a:r>
              <a:rPr spc="-35" dirty="0"/>
              <a:t>Clave-</a:t>
            </a:r>
            <a:r>
              <a:rPr spc="-90" dirty="0"/>
              <a:t>Valor. </a:t>
            </a:r>
            <a:r>
              <a:rPr spc="-10" dirty="0"/>
              <a:t>Redis</a:t>
            </a:r>
          </a:p>
        </p:txBody>
      </p:sp>
      <p:sp>
        <p:nvSpPr>
          <p:cNvPr id="4" name="object 4"/>
          <p:cNvSpPr/>
          <p:nvPr/>
        </p:nvSpPr>
        <p:spPr>
          <a:xfrm>
            <a:off x="480059" y="1516380"/>
            <a:ext cx="8663940" cy="5341620"/>
          </a:xfrm>
          <a:custGeom>
            <a:avLst/>
            <a:gdLst/>
            <a:ahLst/>
            <a:cxnLst/>
            <a:rect l="l" t="t" r="r" b="b"/>
            <a:pathLst>
              <a:path w="8663940" h="5341620">
                <a:moveTo>
                  <a:pt x="8663940" y="0"/>
                </a:moveTo>
                <a:lnTo>
                  <a:pt x="0" y="0"/>
                </a:lnTo>
                <a:lnTo>
                  <a:pt x="0" y="5341620"/>
                </a:lnTo>
                <a:lnTo>
                  <a:pt x="8663940" y="5341620"/>
                </a:lnTo>
                <a:lnTo>
                  <a:pt x="86639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8868" y="1504327"/>
            <a:ext cx="7103109" cy="538929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200" b="1" dirty="0">
                <a:latin typeface="Calibri"/>
                <a:cs typeface="Calibri"/>
              </a:rPr>
              <a:t>Ejercicio</a:t>
            </a:r>
            <a:r>
              <a:rPr sz="1200" b="1" spc="-5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Repaso:</a:t>
            </a:r>
            <a:r>
              <a:rPr sz="1200" b="1" spc="-40" dirty="0">
                <a:latin typeface="Calibri"/>
                <a:cs typeface="Calibri"/>
              </a:rPr>
              <a:t> </a:t>
            </a:r>
            <a:r>
              <a:rPr lang="es-AR" sz="1200" dirty="0">
                <a:hlinkClick r:id="rId2"/>
              </a:rPr>
              <a:t>Try Free | Redis</a:t>
            </a:r>
            <a:endParaRPr sz="12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9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Insertar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 BD REDIS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5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títulos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películas</a:t>
            </a:r>
            <a:r>
              <a:rPr sz="1200" spc="-10" dirty="0">
                <a:latin typeface="Calibri"/>
                <a:cs typeface="Calibri"/>
              </a:rPr>
              <a:t>:</a:t>
            </a:r>
            <a:endParaRPr sz="1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7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Utilice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comandos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SET,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MSET,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SETNX, </a:t>
            </a:r>
            <a:r>
              <a:rPr sz="1100" spc="-10" dirty="0">
                <a:latin typeface="Calibri"/>
                <a:cs typeface="Calibri"/>
              </a:rPr>
              <a:t>MSETNX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Compruebe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funcionamiento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EXPIRE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TLL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Use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MGET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para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recuperar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valores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películas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insertadas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Busque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claves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insertadas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KEYS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(use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diferentes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patrones)</a:t>
            </a:r>
            <a:endParaRPr sz="1100" dirty="0">
              <a:latin typeface="Calibri"/>
              <a:cs typeface="Calibri"/>
            </a:endParaRPr>
          </a:p>
          <a:p>
            <a:pPr marL="390525" indent="-377825">
              <a:lnSpc>
                <a:spcPct val="100000"/>
              </a:lnSpc>
              <a:spcBef>
                <a:spcPts val="285"/>
              </a:spcBef>
              <a:buClr>
                <a:srgbClr val="E75C01"/>
              </a:buClr>
              <a:buFont typeface="Arial"/>
              <a:buChar char="•"/>
              <a:tabLst>
                <a:tab pos="390525" algn="l"/>
              </a:tabLst>
            </a:pPr>
            <a:r>
              <a:rPr sz="1200" dirty="0">
                <a:latin typeface="Calibri"/>
                <a:cs typeface="Calibri"/>
              </a:rPr>
              <a:t>Cree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lista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10" dirty="0">
                <a:latin typeface="Calibri"/>
                <a:cs typeface="Calibri"/>
              </a:rPr>
              <a:t> cantantes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L_Cantantes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inserte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5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elementos.</a:t>
            </a:r>
            <a:endParaRPr sz="1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Use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LPUSH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RPUSH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Verifique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insertado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forma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correcta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cantantes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usando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LRANGE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LLEN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Recorra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lista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orden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inverso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(elemento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elemento)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Borre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último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elemento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cola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recupere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lista</a:t>
            </a:r>
            <a:endParaRPr sz="11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84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Cree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hash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5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Libros</a:t>
            </a:r>
            <a:r>
              <a:rPr sz="1200" dirty="0">
                <a:latin typeface="Calibri"/>
                <a:cs typeface="Calibri"/>
              </a:rPr>
              <a:t>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incluyendo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título,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ISBN,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editorial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el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año.</a:t>
            </a:r>
            <a:endParaRPr sz="1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Utilice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comandos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HSET,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HMSET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Recupere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contenido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usando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HGET,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HMGET,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HGTALL,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HKEYS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HVALS</a:t>
            </a:r>
            <a:endParaRPr sz="11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85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Cree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conjunto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productos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BD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NoSQL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otro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BD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Relacionales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Utilice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SADD,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incluyendo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menos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 productos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cada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 los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conjuntos.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Visualice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contenido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utilizando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SMEMBERS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Recupere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unión,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intersección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diferencia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ambos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conjuntos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usando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SUNION,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SINTER 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SDIFF.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Recupere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2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elementos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aleatorios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conjunto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BD</a:t>
            </a:r>
            <a:r>
              <a:rPr sz="1100" spc="-10" dirty="0">
                <a:latin typeface="Calibri"/>
                <a:cs typeface="Calibri"/>
              </a:rPr>
              <a:t> NoSQL.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Recupere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3 elementos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aleatorios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(con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posibles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repetidos)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conjunto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BD</a:t>
            </a:r>
            <a:r>
              <a:rPr sz="1100" spc="-10" dirty="0">
                <a:latin typeface="Calibri"/>
                <a:cs typeface="Calibri"/>
              </a:rPr>
              <a:t> Relacionales.</a:t>
            </a:r>
            <a:endParaRPr sz="11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80"/>
              </a:spcBef>
              <a:buClr>
                <a:srgbClr val="E75C01"/>
              </a:buClr>
              <a:buFont typeface="Arial"/>
              <a:buChar char="•"/>
              <a:tabLst>
                <a:tab pos="354965" algn="l"/>
              </a:tabLst>
            </a:pPr>
            <a:r>
              <a:rPr sz="1200" dirty="0">
                <a:latin typeface="Calibri"/>
                <a:cs typeface="Calibri"/>
              </a:rPr>
              <a:t>Cree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conjunto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ordenado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productos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BD</a:t>
            </a:r>
            <a:r>
              <a:rPr sz="1200" b="1" spc="-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NoSQL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incluyendo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una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puntuación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popularidad.</a:t>
            </a:r>
            <a:endParaRPr sz="12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7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Utilice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ZADD,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incluyendo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4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productos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comerciales.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Visualice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su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contenido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completo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utilizando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comandos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ZRANGE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</a:t>
            </a:r>
            <a:r>
              <a:rPr sz="1100" spc="-10" dirty="0">
                <a:latin typeface="Calibri"/>
                <a:cs typeface="Calibri"/>
              </a:rPr>
              <a:t> ZREVRANGE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5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Borre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productos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 </a:t>
            </a:r>
            <a:r>
              <a:rPr sz="1100" spc="-10" dirty="0">
                <a:latin typeface="Calibri"/>
                <a:cs typeface="Calibri"/>
              </a:rPr>
              <a:t>conjunto</a:t>
            </a:r>
            <a:endParaRPr sz="11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60"/>
              </a:spcBef>
              <a:buClr>
                <a:srgbClr val="E75C01"/>
              </a:buClr>
              <a:buFont typeface="Arial"/>
              <a:buChar char="–"/>
              <a:tabLst>
                <a:tab pos="756285" algn="l"/>
              </a:tabLst>
            </a:pPr>
            <a:r>
              <a:rPr sz="1100" dirty="0">
                <a:latin typeface="Calibri"/>
                <a:cs typeface="Calibri"/>
              </a:rPr>
              <a:t>Recupere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elementos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conjunto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cuya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puntuación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esté</a:t>
            </a:r>
            <a:r>
              <a:rPr sz="1100" spc="-10" dirty="0">
                <a:latin typeface="Calibri"/>
                <a:cs typeface="Calibri"/>
              </a:rPr>
              <a:t> comprendida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rango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especificado.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4623" y="1600200"/>
            <a:ext cx="2909316" cy="338327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FDE77-AC80-21BB-2855-A9F86297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7846060" cy="1846659"/>
          </a:xfrm>
        </p:spPr>
        <p:txBody>
          <a:bodyPr/>
          <a:lstStyle/>
          <a:p>
            <a:r>
              <a:rPr lang="es-AR" dirty="0"/>
              <a:t>Redis</a:t>
            </a:r>
            <a:br>
              <a:rPr lang="es-AR" dirty="0"/>
            </a:br>
            <a:r>
              <a:rPr lang="es-AR" dirty="0"/>
              <a:t>Detalle de principales tipos de datos</a:t>
            </a:r>
          </a:p>
        </p:txBody>
      </p:sp>
    </p:spTree>
    <p:extLst>
      <p:ext uri="{BB962C8B-B14F-4D97-AF65-F5344CB8AC3E}">
        <p14:creationId xmlns:p14="http://schemas.microsoft.com/office/powerpoint/2010/main" val="29155052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5B20-D26D-A860-1921-8B7AC789B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 err="1"/>
              <a:t>String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6DA60-C0F1-4EFE-AE76-69FAD2D71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1354217"/>
          </a:xfrm>
        </p:spPr>
        <p:txBody>
          <a:bodyPr/>
          <a:lstStyle/>
          <a:p>
            <a:r>
              <a:rPr lang="es-AR" b="0" dirty="0"/>
              <a:t>Es el tipo más básico: una secuencia de bytes (texto, número, binario). Se usa para cache, tokens, </a:t>
            </a:r>
            <a:r>
              <a:rPr lang="es-AR" b="0" dirty="0" err="1"/>
              <a:t>flags</a:t>
            </a:r>
            <a:r>
              <a:rPr lang="es-AR" b="0" dirty="0"/>
              <a:t>, contadores (con operaciones atómicas).</a:t>
            </a:r>
          </a:p>
          <a:p>
            <a:r>
              <a:rPr lang="es-AR" b="0" dirty="0"/>
              <a:t>Caso típico: contador de visitas, </a:t>
            </a:r>
            <a:r>
              <a:rPr lang="es-AR" b="0" dirty="0" err="1"/>
              <a:t>rate</a:t>
            </a:r>
            <a:r>
              <a:rPr lang="es-AR" b="0" dirty="0"/>
              <a:t> </a:t>
            </a:r>
            <a:r>
              <a:rPr lang="es-AR" b="0" dirty="0" err="1"/>
              <a:t>limiting</a:t>
            </a:r>
            <a:r>
              <a:rPr lang="es-AR" b="0" dirty="0"/>
              <a:t> simple con INCR + EXPIRE.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A52327-E2CB-D168-C80F-9ABB3696BFBE}"/>
              </a:ext>
            </a:extLst>
          </p:cNvPr>
          <p:cNvSpPr txBox="1"/>
          <p:nvPr/>
        </p:nvSpPr>
        <p:spPr>
          <a:xfrm>
            <a:off x="512749" y="336592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 user:1:name "Hernan"</a:t>
            </a:r>
          </a:p>
          <a:p>
            <a:r>
              <a:rPr lang="en-US" dirty="0"/>
              <a:t>SET </a:t>
            </a:r>
            <a:r>
              <a:rPr lang="en-US" dirty="0" err="1"/>
              <a:t>page:views</a:t>
            </a:r>
            <a:r>
              <a:rPr lang="en-US" dirty="0"/>
              <a:t> 0</a:t>
            </a:r>
          </a:p>
          <a:p>
            <a:r>
              <a:rPr lang="en-US" dirty="0"/>
              <a:t>INCR </a:t>
            </a:r>
            <a:r>
              <a:rPr lang="en-US" dirty="0" err="1"/>
              <a:t>page:views</a:t>
            </a:r>
            <a:endParaRPr lang="en-US" dirty="0"/>
          </a:p>
          <a:p>
            <a:r>
              <a:rPr lang="en-US" dirty="0"/>
              <a:t>INCRBY </a:t>
            </a:r>
            <a:r>
              <a:rPr lang="en-US" dirty="0" err="1"/>
              <a:t>page:views</a:t>
            </a:r>
            <a:r>
              <a:rPr lang="en-US" dirty="0"/>
              <a:t> 10</a:t>
            </a:r>
          </a:p>
          <a:p>
            <a:r>
              <a:rPr lang="en-US" dirty="0"/>
              <a:t>SET session:abc123 "payload" EX 3600</a:t>
            </a:r>
            <a:endParaRPr lang="es-A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DC117-5BEB-90F3-1AEA-2645E2E97A4D}"/>
              </a:ext>
            </a:extLst>
          </p:cNvPr>
          <p:cNvSpPr txBox="1"/>
          <p:nvPr/>
        </p:nvSpPr>
        <p:spPr>
          <a:xfrm>
            <a:off x="512749" y="524887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 user:1:name</a:t>
            </a:r>
          </a:p>
          <a:p>
            <a:r>
              <a:rPr lang="en-US" dirty="0"/>
              <a:t>GET </a:t>
            </a:r>
            <a:r>
              <a:rPr lang="en-US" dirty="0" err="1"/>
              <a:t>page:views</a:t>
            </a:r>
            <a:endParaRPr lang="en-US" dirty="0"/>
          </a:p>
          <a:p>
            <a:r>
              <a:rPr lang="en-US" dirty="0"/>
              <a:t>TTL session:abc123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7123720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62C9E-579E-59F0-2554-2D339F638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AF81-E44C-B8B7-E339-CA5BC698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/>
              <a:t>Hash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C5920-1539-32AE-3E8B-2BE3CD86E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3046988"/>
          </a:xfrm>
        </p:spPr>
        <p:txBody>
          <a:bodyPr/>
          <a:lstStyle/>
          <a:p>
            <a:r>
              <a:rPr lang="es-AR" b="0" dirty="0"/>
              <a:t>Es un “registro/objeto” como diccionario campo -&gt; valor (similar a </a:t>
            </a:r>
            <a:r>
              <a:rPr lang="es-AR" b="0" dirty="0" err="1"/>
              <a:t>map</a:t>
            </a:r>
            <a:r>
              <a:rPr lang="es-AR" b="0" dirty="0"/>
              <a:t>/</a:t>
            </a:r>
            <a:r>
              <a:rPr lang="es-AR" b="0" dirty="0" err="1"/>
              <a:t>dict</a:t>
            </a:r>
            <a:r>
              <a:rPr lang="es-AR" b="0" dirty="0"/>
              <a:t>). Ideal para representar entidades: usuario, producto, </a:t>
            </a:r>
            <a:r>
              <a:rPr lang="es-AR" b="0" dirty="0" err="1"/>
              <a:t>config</a:t>
            </a:r>
            <a:r>
              <a:rPr lang="es-AR" b="0" dirty="0"/>
              <a:t> por campos.</a:t>
            </a:r>
          </a:p>
          <a:p>
            <a:r>
              <a:rPr lang="es-AR" b="0" dirty="0"/>
              <a:t>Un HASH modela mejor una entidad completa que múltiples </a:t>
            </a:r>
            <a:r>
              <a:rPr lang="es-AR" b="0" dirty="0" err="1"/>
              <a:t>STRINGs</a:t>
            </a:r>
            <a:r>
              <a:rPr lang="es-AR" b="0" dirty="0"/>
              <a:t> separados</a:t>
            </a:r>
          </a:p>
          <a:p>
            <a:r>
              <a:rPr lang="es-AR" b="0" dirty="0"/>
              <a:t>Permite trabajar a nivel de campo individual dentro de un objeto</a:t>
            </a:r>
          </a:p>
          <a:p>
            <a:r>
              <a:rPr lang="es-AR" b="0" dirty="0"/>
              <a:t>Es una alternativa más natural a estructuras tipo fila/JSON simple</a:t>
            </a:r>
          </a:p>
          <a:p>
            <a:r>
              <a:rPr lang="es-AR" b="0" dirty="0"/>
              <a:t>Caso típico:  “perfil de usuario” (se lee/actualiza por campo sin reescribir todo).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B51717-A562-E601-FC62-765EC98DB188}"/>
              </a:ext>
            </a:extLst>
          </p:cNvPr>
          <p:cNvSpPr txBox="1"/>
          <p:nvPr/>
        </p:nvSpPr>
        <p:spPr>
          <a:xfrm>
            <a:off x="512749" y="472440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HSET user:42 name "Ana" email "ana@uade.edu" age "21"</a:t>
            </a:r>
          </a:p>
          <a:p>
            <a:r>
              <a:rPr lang="en-US" dirty="0"/>
              <a:t>HINCRBY user:42 age 1</a:t>
            </a:r>
            <a:endParaRPr lang="es-A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B74EFB-437A-FDC4-4722-4262C714483B}"/>
              </a:ext>
            </a:extLst>
          </p:cNvPr>
          <p:cNvSpPr txBox="1"/>
          <p:nvPr/>
        </p:nvSpPr>
        <p:spPr>
          <a:xfrm>
            <a:off x="512749" y="561675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HGET user:42 name</a:t>
            </a:r>
          </a:p>
          <a:p>
            <a:r>
              <a:rPr lang="en-US" dirty="0"/>
              <a:t>HMGET user:42 name age</a:t>
            </a:r>
          </a:p>
          <a:p>
            <a:r>
              <a:rPr lang="en-US" dirty="0"/>
              <a:t>HGETALL user:42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11851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04B44-B468-E361-653C-91E451E28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752A-FCFD-1ABD-79C6-E40216D37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 err="1"/>
              <a:t>List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CA2C8-8286-A9CF-186D-6BF2C952C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1354217"/>
          </a:xfrm>
        </p:spPr>
        <p:txBody>
          <a:bodyPr/>
          <a:lstStyle/>
          <a:p>
            <a:r>
              <a:rPr lang="es-AR" b="0" dirty="0"/>
              <a:t>Es una lista ordenada por inserción (</a:t>
            </a:r>
            <a:r>
              <a:rPr lang="es-AR" b="0" dirty="0" err="1"/>
              <a:t>push</a:t>
            </a:r>
            <a:r>
              <a:rPr lang="es-AR" b="0" dirty="0"/>
              <a:t>/pop en extremos). Sirve para colas, </a:t>
            </a:r>
            <a:r>
              <a:rPr lang="es-AR" b="0" dirty="0" err="1"/>
              <a:t>stacks</a:t>
            </a:r>
            <a:r>
              <a:rPr lang="es-AR" b="0" dirty="0"/>
              <a:t>, </a:t>
            </a:r>
            <a:r>
              <a:rPr lang="es-AR" b="0" dirty="0" err="1"/>
              <a:t>feeds</a:t>
            </a:r>
            <a:r>
              <a:rPr lang="es-AR" b="0" dirty="0"/>
              <a:t> simples, buffers.</a:t>
            </a:r>
          </a:p>
          <a:p>
            <a:r>
              <a:rPr lang="es-AR" b="0" dirty="0"/>
              <a:t>Caso típico:  cola de tareas “simple” (aunque para </a:t>
            </a:r>
            <a:r>
              <a:rPr lang="es-AR" b="0" dirty="0" err="1"/>
              <a:t>event</a:t>
            </a:r>
            <a:r>
              <a:rPr lang="es-AR" b="0" dirty="0"/>
              <a:t> </a:t>
            </a:r>
            <a:r>
              <a:rPr lang="es-AR" b="0" dirty="0" err="1"/>
              <a:t>streams</a:t>
            </a:r>
            <a:r>
              <a:rPr lang="es-AR" b="0" dirty="0"/>
              <a:t> modernos)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942D5-47D6-4E43-F19A-692CAB8B7445}"/>
              </a:ext>
            </a:extLst>
          </p:cNvPr>
          <p:cNvSpPr txBox="1"/>
          <p:nvPr/>
        </p:nvSpPr>
        <p:spPr>
          <a:xfrm>
            <a:off x="512749" y="336592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LPUSH </a:t>
            </a:r>
            <a:r>
              <a:rPr lang="en-US" dirty="0" err="1"/>
              <a:t>queue:jobs</a:t>
            </a:r>
            <a:r>
              <a:rPr lang="en-US" dirty="0"/>
              <a:t> "job1"</a:t>
            </a:r>
          </a:p>
          <a:p>
            <a:r>
              <a:rPr lang="en-US" dirty="0"/>
              <a:t>RPUSH </a:t>
            </a:r>
            <a:r>
              <a:rPr lang="en-US" dirty="0" err="1"/>
              <a:t>queue:jobs</a:t>
            </a:r>
            <a:r>
              <a:rPr lang="en-US" dirty="0"/>
              <a:t> "job2" "job3"</a:t>
            </a:r>
            <a:endParaRPr lang="es-A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EF2A5-6D72-EE12-26EF-8FC8DD297878}"/>
              </a:ext>
            </a:extLst>
          </p:cNvPr>
          <p:cNvSpPr txBox="1"/>
          <p:nvPr/>
        </p:nvSpPr>
        <p:spPr>
          <a:xfrm>
            <a:off x="512749" y="425827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LRANGE </a:t>
            </a:r>
            <a:r>
              <a:rPr lang="en-US" dirty="0" err="1"/>
              <a:t>queue:jobs</a:t>
            </a:r>
            <a:r>
              <a:rPr lang="en-US" dirty="0"/>
              <a:t> 0 -1</a:t>
            </a:r>
          </a:p>
          <a:p>
            <a:r>
              <a:rPr lang="en-US" dirty="0"/>
              <a:t>LLEN </a:t>
            </a:r>
            <a:r>
              <a:rPr lang="en-US" dirty="0" err="1"/>
              <a:t>queue:jobs</a:t>
            </a:r>
            <a:endParaRPr lang="es-A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B33A22-4FBB-6F79-60FA-DAE1937BFB53}"/>
              </a:ext>
            </a:extLst>
          </p:cNvPr>
          <p:cNvSpPr txBox="1"/>
          <p:nvPr/>
        </p:nvSpPr>
        <p:spPr>
          <a:xfrm>
            <a:off x="535940" y="5311582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LPOP </a:t>
            </a:r>
            <a:r>
              <a:rPr lang="en-US" dirty="0" err="1"/>
              <a:t>queue:jobs</a:t>
            </a:r>
            <a:endParaRPr lang="en-US" dirty="0"/>
          </a:p>
          <a:p>
            <a:r>
              <a:rPr lang="en-US" dirty="0"/>
              <a:t>RPOP </a:t>
            </a:r>
            <a:r>
              <a:rPr lang="en-US" dirty="0" err="1"/>
              <a:t>queue:jobs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4602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62DE-92D6-1AB0-34A8-79C142A32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A9A35-C017-9EFC-C231-D1201B45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/>
              <a:t>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9AF9A9-3479-0C67-693D-B0A07B4D6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677108"/>
          </a:xfrm>
        </p:spPr>
        <p:txBody>
          <a:bodyPr/>
          <a:lstStyle/>
          <a:p>
            <a:r>
              <a:rPr lang="es-AR" b="0" dirty="0"/>
              <a:t>Es un conjunto no ordenado de elementos únicos. Muy bueno para “pertenencia” (SISMEMBER), tags, usuarios online, </a:t>
            </a:r>
            <a:r>
              <a:rPr lang="es-AR" b="0" dirty="0" err="1"/>
              <a:t>deduplicación</a:t>
            </a:r>
            <a:r>
              <a:rPr lang="es-AR" b="0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657E5F-3DBD-342C-C1AF-8814748F9427}"/>
              </a:ext>
            </a:extLst>
          </p:cNvPr>
          <p:cNvSpPr txBox="1"/>
          <p:nvPr/>
        </p:nvSpPr>
        <p:spPr>
          <a:xfrm>
            <a:off x="512749" y="336592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SADD tags:post:99 "</a:t>
            </a:r>
            <a:r>
              <a:rPr lang="en-US" dirty="0" err="1"/>
              <a:t>redis</a:t>
            </a:r>
            <a:r>
              <a:rPr lang="en-US" dirty="0"/>
              <a:t>" "</a:t>
            </a:r>
            <a:r>
              <a:rPr lang="en-US" dirty="0" err="1"/>
              <a:t>nosql</a:t>
            </a:r>
            <a:r>
              <a:rPr lang="en-US" dirty="0"/>
              <a:t>" "cache"</a:t>
            </a:r>
          </a:p>
          <a:p>
            <a:r>
              <a:rPr lang="en-US" dirty="0"/>
              <a:t>SADD tags:post:99 "</a:t>
            </a:r>
            <a:r>
              <a:rPr lang="en-US" dirty="0" err="1"/>
              <a:t>redis</a:t>
            </a:r>
            <a:r>
              <a:rPr lang="en-US" dirty="0"/>
              <a:t>"   # no </a:t>
            </a:r>
            <a:r>
              <a:rPr lang="en-US" dirty="0" err="1"/>
              <a:t>duplica</a:t>
            </a:r>
            <a:endParaRPr lang="es-A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F7BCA6-E3DA-DA07-FFC7-12748CDEFED1}"/>
              </a:ext>
            </a:extLst>
          </p:cNvPr>
          <p:cNvSpPr txBox="1"/>
          <p:nvPr/>
        </p:nvSpPr>
        <p:spPr>
          <a:xfrm>
            <a:off x="512749" y="425827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SMEMBERS tags:post:99</a:t>
            </a:r>
          </a:p>
          <a:p>
            <a:r>
              <a:rPr lang="en-US" dirty="0"/>
              <a:t>SISMEMBER tags:post:99 "</a:t>
            </a:r>
            <a:r>
              <a:rPr lang="en-US" dirty="0" err="1"/>
              <a:t>nosql</a:t>
            </a:r>
            <a:r>
              <a:rPr lang="en-US" dirty="0"/>
              <a:t>"</a:t>
            </a:r>
          </a:p>
          <a:p>
            <a:r>
              <a:rPr lang="en-US" dirty="0"/>
              <a:t>SCARD tags:post:99</a:t>
            </a:r>
            <a:endParaRPr lang="es-A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3E33F-A073-7AFB-7506-D9553038B8E1}"/>
              </a:ext>
            </a:extLst>
          </p:cNvPr>
          <p:cNvSpPr txBox="1"/>
          <p:nvPr/>
        </p:nvSpPr>
        <p:spPr>
          <a:xfrm>
            <a:off x="535940" y="525780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SADD </a:t>
            </a:r>
            <a:r>
              <a:rPr lang="en-US" dirty="0" err="1"/>
              <a:t>set:A</a:t>
            </a:r>
            <a:r>
              <a:rPr lang="en-US" dirty="0"/>
              <a:t> a b c</a:t>
            </a:r>
          </a:p>
          <a:p>
            <a:r>
              <a:rPr lang="en-US" dirty="0"/>
              <a:t>SADD </a:t>
            </a:r>
            <a:r>
              <a:rPr lang="en-US" dirty="0" err="1"/>
              <a:t>set:B</a:t>
            </a:r>
            <a:r>
              <a:rPr lang="en-US" dirty="0"/>
              <a:t> b c d</a:t>
            </a:r>
          </a:p>
          <a:p>
            <a:r>
              <a:rPr lang="en-US" dirty="0"/>
              <a:t>SINTER </a:t>
            </a:r>
            <a:r>
              <a:rPr lang="en-US" dirty="0" err="1"/>
              <a:t>set:A</a:t>
            </a:r>
            <a:r>
              <a:rPr lang="en-US" dirty="0"/>
              <a:t> </a:t>
            </a:r>
            <a:r>
              <a:rPr lang="en-US" dirty="0" err="1"/>
              <a:t>set:B</a:t>
            </a:r>
            <a:endParaRPr lang="en-US" dirty="0"/>
          </a:p>
          <a:p>
            <a:r>
              <a:rPr lang="en-US" dirty="0"/>
              <a:t>SUNION </a:t>
            </a:r>
            <a:r>
              <a:rPr lang="en-US" dirty="0" err="1"/>
              <a:t>set:A</a:t>
            </a:r>
            <a:r>
              <a:rPr lang="en-US" dirty="0"/>
              <a:t> </a:t>
            </a:r>
            <a:r>
              <a:rPr lang="en-US" dirty="0" err="1"/>
              <a:t>set:B</a:t>
            </a:r>
            <a:endParaRPr lang="en-US" dirty="0"/>
          </a:p>
          <a:p>
            <a:r>
              <a:rPr lang="en-US" dirty="0"/>
              <a:t>SDIFF </a:t>
            </a:r>
            <a:r>
              <a:rPr lang="en-US" dirty="0" err="1"/>
              <a:t>set:A</a:t>
            </a:r>
            <a:r>
              <a:rPr lang="en-US" dirty="0"/>
              <a:t> </a:t>
            </a:r>
            <a:r>
              <a:rPr lang="en-US" dirty="0" err="1"/>
              <a:t>set:B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5607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58220-DB49-DE6D-F989-D344D0A20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B2927-909B-65D9-3A96-79AF61E60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 err="1"/>
              <a:t>Sorted</a:t>
            </a:r>
            <a:r>
              <a:rPr lang="es-AR" dirty="0"/>
              <a:t> 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A853B2-9EAB-44DE-D5F8-BB5CADDEF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1354217"/>
          </a:xfrm>
        </p:spPr>
        <p:txBody>
          <a:bodyPr/>
          <a:lstStyle/>
          <a:p>
            <a:r>
              <a:rPr lang="es-AR" b="0" dirty="0"/>
              <a:t>Es un conjunto de elementos únicos pero ordenados por score numérico. </a:t>
            </a:r>
          </a:p>
          <a:p>
            <a:r>
              <a:rPr lang="es-AR" b="0" dirty="0"/>
              <a:t>Perfecto para </a:t>
            </a:r>
            <a:r>
              <a:rPr lang="es-AR" b="0" dirty="0" err="1"/>
              <a:t>leaderboards</a:t>
            </a:r>
            <a:r>
              <a:rPr lang="es-AR" b="0" dirty="0"/>
              <a:t>, rankings, colas por prioridad, ventanas de tiempo.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80708-B18B-108D-0EEC-1DD216D45DB3}"/>
              </a:ext>
            </a:extLst>
          </p:cNvPr>
          <p:cNvSpPr txBox="1"/>
          <p:nvPr/>
        </p:nvSpPr>
        <p:spPr>
          <a:xfrm>
            <a:off x="512749" y="336592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ZADD leaderboard 1200 "</a:t>
            </a:r>
            <a:r>
              <a:rPr lang="en-US" dirty="0" err="1"/>
              <a:t>alice</a:t>
            </a:r>
            <a:r>
              <a:rPr lang="en-US" dirty="0"/>
              <a:t>" 950 "bob" 1500 "carol"</a:t>
            </a:r>
          </a:p>
          <a:p>
            <a:r>
              <a:rPr lang="en-US" dirty="0"/>
              <a:t>ZINCRBY leaderboard 50 "bob"</a:t>
            </a:r>
            <a:endParaRPr lang="es-A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320067-D23C-06F3-6054-1837C80E63F2}"/>
              </a:ext>
            </a:extLst>
          </p:cNvPr>
          <p:cNvSpPr txBox="1"/>
          <p:nvPr/>
        </p:nvSpPr>
        <p:spPr>
          <a:xfrm>
            <a:off x="512749" y="4258270"/>
            <a:ext cx="7315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ZRANGE leaderboard 0 -1 WITHSCORES</a:t>
            </a:r>
          </a:p>
          <a:p>
            <a:r>
              <a:rPr lang="en-US" dirty="0"/>
              <a:t>ZREVRANGE leaderboard 0 -1 WITHSCORES</a:t>
            </a:r>
          </a:p>
          <a:p>
            <a:r>
              <a:rPr lang="en-US" dirty="0"/>
              <a:t>ZSCORE leaderboard "</a:t>
            </a:r>
            <a:r>
              <a:rPr lang="en-US" dirty="0" err="1"/>
              <a:t>alice</a:t>
            </a:r>
            <a:r>
              <a:rPr lang="en-US" dirty="0"/>
              <a:t>"</a:t>
            </a:r>
          </a:p>
          <a:p>
            <a:r>
              <a:rPr lang="en-US" dirty="0"/>
              <a:t>ZRANK leaderboard "</a:t>
            </a:r>
            <a:r>
              <a:rPr lang="en-US" dirty="0" err="1"/>
              <a:t>alice</a:t>
            </a:r>
            <a:r>
              <a:rPr lang="en-US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4915393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CB53-E971-70A7-7EF7-0E152EEA5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0F55-0F19-6745-3282-67A009C92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/>
              <a:t>JSON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444F7-3E78-3197-ECF5-B0A532F3D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677108"/>
          </a:xfrm>
        </p:spPr>
        <p:txBody>
          <a:bodyPr/>
          <a:lstStyle/>
          <a:p>
            <a:r>
              <a:rPr lang="es-AR" b="0" dirty="0"/>
              <a:t>Soporte para guardar y manipular documentos JSON como tipo nativo (con </a:t>
            </a:r>
            <a:r>
              <a:rPr lang="es-AR" b="0" dirty="0" err="1"/>
              <a:t>paths</a:t>
            </a:r>
            <a:r>
              <a:rPr lang="es-AR" b="0" dirty="0"/>
              <a:t> tipo </a:t>
            </a:r>
            <a:r>
              <a:rPr lang="es-AR" b="0" dirty="0" err="1"/>
              <a:t>JSONPath</a:t>
            </a:r>
            <a:r>
              <a:rPr lang="es-AR" b="0" dirty="0"/>
              <a:t>), usando comandos JSON.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9B842-D595-9F35-3B5D-873AB9768C07}"/>
              </a:ext>
            </a:extLst>
          </p:cNvPr>
          <p:cNvSpPr txBox="1"/>
          <p:nvPr/>
        </p:nvSpPr>
        <p:spPr>
          <a:xfrm>
            <a:off x="512748" y="3365920"/>
            <a:ext cx="77168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JSON.SET user:100 $ '{"name":"Sofi","age":22,"skills":["</a:t>
            </a:r>
            <a:r>
              <a:rPr lang="en-US" dirty="0" err="1"/>
              <a:t>redis</a:t>
            </a:r>
            <a:r>
              <a:rPr lang="en-US" dirty="0"/>
              <a:t>","mongo"]}'</a:t>
            </a:r>
          </a:p>
          <a:p>
            <a:r>
              <a:rPr lang="en-US" dirty="0"/>
              <a:t>JSON.SET user:100 $.age 23</a:t>
            </a:r>
          </a:p>
          <a:p>
            <a:r>
              <a:rPr lang="en-US" dirty="0"/>
              <a:t>JSON.ARRAPPEND user:100 $.skills '"</a:t>
            </a:r>
            <a:r>
              <a:rPr lang="en-US" dirty="0" err="1"/>
              <a:t>cassandra</a:t>
            </a:r>
            <a:r>
              <a:rPr lang="en-US" dirty="0"/>
              <a:t>"'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F4F1A6-4D95-BED1-7EC2-8189EA4C7BCF}"/>
              </a:ext>
            </a:extLst>
          </p:cNvPr>
          <p:cNvSpPr txBox="1"/>
          <p:nvPr/>
        </p:nvSpPr>
        <p:spPr>
          <a:xfrm>
            <a:off x="512749" y="4840069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JSON.GET user:100 $</a:t>
            </a:r>
          </a:p>
          <a:p>
            <a:r>
              <a:rPr lang="en-US" dirty="0"/>
              <a:t>JSON.GET user:100 $.skills</a:t>
            </a:r>
          </a:p>
          <a:p>
            <a:r>
              <a:rPr lang="en-US" dirty="0"/>
              <a:t>JSON.TYPE user:100 $</a:t>
            </a:r>
          </a:p>
        </p:txBody>
      </p:sp>
    </p:spTree>
    <p:extLst>
      <p:ext uri="{BB962C8B-B14F-4D97-AF65-F5344CB8AC3E}">
        <p14:creationId xmlns:p14="http://schemas.microsoft.com/office/powerpoint/2010/main" val="39885419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7DF6-2FE3-538C-E9A3-8BDF9075B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B7A0D-994E-19CA-8B8C-D804C8123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 err="1"/>
              <a:t>Streams</a:t>
            </a:r>
            <a:endParaRPr lang="es-A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A7C0D-C89B-AB3A-A20A-C7F831653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1015663"/>
          </a:xfrm>
        </p:spPr>
        <p:txBody>
          <a:bodyPr/>
          <a:lstStyle/>
          <a:p>
            <a:r>
              <a:rPr lang="es-AR" b="0" dirty="0"/>
              <a:t>Es un </a:t>
            </a:r>
            <a:r>
              <a:rPr lang="es-AR" b="0" dirty="0" err="1"/>
              <a:t>un</a:t>
            </a:r>
            <a:r>
              <a:rPr lang="es-AR" b="0" dirty="0"/>
              <a:t> log </a:t>
            </a:r>
            <a:r>
              <a:rPr lang="es-AR" b="0" dirty="0" err="1"/>
              <a:t>append-only</a:t>
            </a:r>
            <a:r>
              <a:rPr lang="es-AR" b="0" dirty="0"/>
              <a:t> de eventos (se puede pensarlo tipo “mini-Kafka”), con </a:t>
            </a:r>
            <a:r>
              <a:rPr lang="es-AR" b="0" dirty="0" err="1"/>
              <a:t>IDs</a:t>
            </a:r>
            <a:r>
              <a:rPr lang="es-AR" b="0" dirty="0"/>
              <a:t>, lecturas secuenciales y </a:t>
            </a:r>
            <a:r>
              <a:rPr lang="es-AR" b="0" dirty="0" err="1"/>
              <a:t>consumer</a:t>
            </a:r>
            <a:r>
              <a:rPr lang="es-AR" b="0" dirty="0"/>
              <a:t> </a:t>
            </a:r>
            <a:r>
              <a:rPr lang="es-AR" b="0" dirty="0" err="1"/>
              <a:t>groups</a:t>
            </a:r>
            <a:r>
              <a:rPr lang="es-AR" b="0" dirty="0"/>
              <a:t>. </a:t>
            </a:r>
          </a:p>
          <a:p>
            <a:r>
              <a:rPr lang="es-AR" b="0" dirty="0"/>
              <a:t>Ideal para </a:t>
            </a:r>
            <a:r>
              <a:rPr lang="es-AR" b="0" dirty="0" err="1"/>
              <a:t>event</a:t>
            </a:r>
            <a:r>
              <a:rPr lang="es-AR" b="0" dirty="0"/>
              <a:t> </a:t>
            </a:r>
            <a:r>
              <a:rPr lang="es-AR" b="0" dirty="0" err="1"/>
              <a:t>processing</a:t>
            </a:r>
            <a:r>
              <a:rPr lang="es-AR" b="0" dirty="0"/>
              <a:t> y pipelines.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0DAA1-8BC2-5258-8828-399BA05B37CF}"/>
              </a:ext>
            </a:extLst>
          </p:cNvPr>
          <p:cNvSpPr txBox="1"/>
          <p:nvPr/>
        </p:nvSpPr>
        <p:spPr>
          <a:xfrm>
            <a:off x="512749" y="336592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XADD orders * </a:t>
            </a:r>
            <a:r>
              <a:rPr lang="en-US" dirty="0" err="1"/>
              <a:t>orderId</a:t>
            </a:r>
            <a:r>
              <a:rPr lang="en-US" dirty="0"/>
              <a:t> 1001 total 250.5 status "PAID"</a:t>
            </a:r>
          </a:p>
          <a:p>
            <a:r>
              <a:rPr lang="en-US" dirty="0"/>
              <a:t>XADD orders * </a:t>
            </a:r>
            <a:r>
              <a:rPr lang="en-US" dirty="0" err="1"/>
              <a:t>orderId</a:t>
            </a:r>
            <a:r>
              <a:rPr lang="en-US" dirty="0"/>
              <a:t> 1002 total 80 status "PENDING"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CF71E-00E8-CFA6-B740-8239CC21148F}"/>
              </a:ext>
            </a:extLst>
          </p:cNvPr>
          <p:cNvSpPr txBox="1"/>
          <p:nvPr/>
        </p:nvSpPr>
        <p:spPr>
          <a:xfrm>
            <a:off x="512749" y="425827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XRANGE orders - +          # </a:t>
            </a:r>
            <a:r>
              <a:rPr lang="en-US" dirty="0" err="1"/>
              <a:t>todo</a:t>
            </a:r>
            <a:endParaRPr lang="en-US" dirty="0"/>
          </a:p>
          <a:p>
            <a:r>
              <a:rPr lang="en-US" dirty="0"/>
              <a:t>XREVRANGE orders + - COUNT 2</a:t>
            </a:r>
          </a:p>
          <a:p>
            <a:r>
              <a:rPr lang="en-US" dirty="0"/>
              <a:t>XLEN orders</a:t>
            </a:r>
          </a:p>
        </p:txBody>
      </p:sp>
    </p:spTree>
    <p:extLst>
      <p:ext uri="{BB962C8B-B14F-4D97-AF65-F5344CB8AC3E}">
        <p14:creationId xmlns:p14="http://schemas.microsoft.com/office/powerpoint/2010/main" val="29405133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ED10-55D1-FC28-8C42-9C7778867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24DB-5876-E5EF-D694-FB9D01DE6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 err="1"/>
              <a:t>Geospatial</a:t>
            </a:r>
            <a:r>
              <a:rPr lang="es-AR" dirty="0"/>
              <a:t> (Geo)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7EE58-22DA-622D-173D-860DD00AA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1015663"/>
          </a:xfrm>
        </p:spPr>
        <p:txBody>
          <a:bodyPr/>
          <a:lstStyle/>
          <a:p>
            <a:r>
              <a:rPr lang="es-AR" b="0" dirty="0"/>
              <a:t>Son índices geo para ubicar puntos (</a:t>
            </a:r>
            <a:r>
              <a:rPr lang="es-AR" b="0" dirty="0" err="1"/>
              <a:t>lat</a:t>
            </a:r>
            <a:r>
              <a:rPr lang="es-AR" b="0" dirty="0"/>
              <a:t>/</a:t>
            </a:r>
            <a:r>
              <a:rPr lang="es-AR" b="0" dirty="0" err="1"/>
              <a:t>lon</a:t>
            </a:r>
            <a:r>
              <a:rPr lang="es-AR" b="0" dirty="0"/>
              <a:t>) y consultar por cercanía/radio. </a:t>
            </a:r>
          </a:p>
          <a:p>
            <a:r>
              <a:rPr lang="es-AR" b="0" dirty="0"/>
              <a:t>Se apoya en comandos GEO.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FE2D3E-8DF1-A865-FD52-55E19D9F6F2C}"/>
              </a:ext>
            </a:extLst>
          </p:cNvPr>
          <p:cNvSpPr txBox="1"/>
          <p:nvPr/>
        </p:nvSpPr>
        <p:spPr>
          <a:xfrm>
            <a:off x="512749" y="336592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GEOADD stores -58.3816 -34.6037 "</a:t>
            </a:r>
            <a:r>
              <a:rPr lang="en-US" dirty="0" err="1"/>
              <a:t>Obelisco</a:t>
            </a:r>
            <a:r>
              <a:rPr lang="en-US" dirty="0"/>
              <a:t>"</a:t>
            </a:r>
          </a:p>
          <a:p>
            <a:r>
              <a:rPr lang="en-US" dirty="0"/>
              <a:t>GEOADD stores -58.3702 -34.6083 "</a:t>
            </a:r>
            <a:r>
              <a:rPr lang="en-US" dirty="0" err="1"/>
              <a:t>PuertoMadero</a:t>
            </a:r>
            <a:r>
              <a:rPr lang="en-US" dirty="0"/>
              <a:t>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707B2-3568-DEF4-94B9-A4480137CB52}"/>
              </a:ext>
            </a:extLst>
          </p:cNvPr>
          <p:cNvSpPr txBox="1"/>
          <p:nvPr/>
        </p:nvSpPr>
        <p:spPr>
          <a:xfrm>
            <a:off x="512749" y="425827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GEODIST stores "</a:t>
            </a:r>
            <a:r>
              <a:rPr lang="en-US" dirty="0" err="1"/>
              <a:t>Obelisco</a:t>
            </a:r>
            <a:r>
              <a:rPr lang="en-US" dirty="0"/>
              <a:t>" "</a:t>
            </a:r>
            <a:r>
              <a:rPr lang="en-US" dirty="0" err="1"/>
              <a:t>PuertoMadero</a:t>
            </a:r>
            <a:r>
              <a:rPr lang="en-US" dirty="0"/>
              <a:t>" km</a:t>
            </a:r>
          </a:p>
          <a:p>
            <a:r>
              <a:rPr lang="en-US" dirty="0"/>
              <a:t>GEOSEARCH stores FROMLONLAT -58.3816 -34.6037 BYRADIUS 3 km WITHDIST</a:t>
            </a:r>
          </a:p>
        </p:txBody>
      </p:sp>
    </p:spTree>
    <p:extLst>
      <p:ext uri="{BB962C8B-B14F-4D97-AF65-F5344CB8AC3E}">
        <p14:creationId xmlns:p14="http://schemas.microsoft.com/office/powerpoint/2010/main" val="40827140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68629-5EA8-820D-675C-4CBC8054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1A016-EEFD-7D51-4D67-C8E558A49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940" y="191833"/>
            <a:ext cx="5632450" cy="615553"/>
          </a:xfrm>
        </p:spPr>
        <p:txBody>
          <a:bodyPr/>
          <a:lstStyle/>
          <a:p>
            <a:r>
              <a:rPr lang="es-AR" dirty="0"/>
              <a:t>Bitmaps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3BE4F-C7CC-AE31-185E-F38DB2D3C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940" y="1526540"/>
            <a:ext cx="8072755" cy="1015663"/>
          </a:xfrm>
        </p:spPr>
        <p:txBody>
          <a:bodyPr/>
          <a:lstStyle/>
          <a:p>
            <a:r>
              <a:rPr lang="es-AR" b="0" dirty="0"/>
              <a:t>operaciones bit a bit sobre </a:t>
            </a:r>
            <a:r>
              <a:rPr lang="es-AR" b="0" dirty="0" err="1"/>
              <a:t>strings</a:t>
            </a:r>
            <a:r>
              <a:rPr lang="es-AR" b="0" dirty="0"/>
              <a:t>, útil para </a:t>
            </a:r>
            <a:r>
              <a:rPr lang="es-AR" b="0" dirty="0" err="1"/>
              <a:t>flags</a:t>
            </a:r>
            <a:r>
              <a:rPr lang="es-AR" b="0" dirty="0"/>
              <a:t> masivos y </a:t>
            </a:r>
            <a:r>
              <a:rPr lang="es-AR" b="0" dirty="0" err="1"/>
              <a:t>analytics</a:t>
            </a:r>
            <a:r>
              <a:rPr lang="es-AR" b="0" dirty="0"/>
              <a:t> (</a:t>
            </a:r>
            <a:r>
              <a:rPr lang="es-AR" b="0" dirty="0" err="1"/>
              <a:t>ej</a:t>
            </a:r>
            <a:r>
              <a:rPr lang="es-AR" b="0" dirty="0"/>
              <a:t>: usuarios activos por día). Redis las describe como </a:t>
            </a:r>
            <a:r>
              <a:rPr lang="es-AR" b="0" dirty="0" err="1"/>
              <a:t>bitwise</a:t>
            </a:r>
            <a:r>
              <a:rPr lang="es-AR" b="0" dirty="0"/>
              <a:t> </a:t>
            </a:r>
            <a:r>
              <a:rPr lang="es-AR" b="0" dirty="0" err="1"/>
              <a:t>ops</a:t>
            </a:r>
            <a:r>
              <a:rPr lang="es-AR" b="0" dirty="0"/>
              <a:t> sobre </a:t>
            </a:r>
            <a:r>
              <a:rPr lang="es-AR" b="0" dirty="0" err="1"/>
              <a:t>strings</a:t>
            </a:r>
            <a:r>
              <a:rPr lang="es-AR" b="0" dirty="0"/>
              <a:t>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9820A-EF6B-D34C-D850-7B24AD5BEAC3}"/>
              </a:ext>
            </a:extLst>
          </p:cNvPr>
          <p:cNvSpPr txBox="1"/>
          <p:nvPr/>
        </p:nvSpPr>
        <p:spPr>
          <a:xfrm>
            <a:off x="512749" y="3365920"/>
            <a:ext cx="731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SETBIT active:2026-05-01 1001 1</a:t>
            </a:r>
          </a:p>
          <a:p>
            <a:r>
              <a:rPr lang="en-US" dirty="0"/>
              <a:t>SETBIT active:2026-05-01 1002 1</a:t>
            </a:r>
          </a:p>
          <a:p>
            <a:r>
              <a:rPr lang="en-US" dirty="0"/>
              <a:t>SETBIT active:2026-05-01 1002 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72B2E1-3541-A7BB-DDED-23D6F3992975}"/>
              </a:ext>
            </a:extLst>
          </p:cNvPr>
          <p:cNvSpPr txBox="1"/>
          <p:nvPr/>
        </p:nvSpPr>
        <p:spPr>
          <a:xfrm>
            <a:off x="512749" y="463927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GETBIT active:2026-05-01 1001</a:t>
            </a:r>
          </a:p>
          <a:p>
            <a:r>
              <a:rPr lang="en-US" dirty="0"/>
              <a:t>BITCOUNT active:2026-05-01</a:t>
            </a:r>
          </a:p>
        </p:txBody>
      </p:sp>
    </p:spTree>
    <p:extLst>
      <p:ext uri="{BB962C8B-B14F-4D97-AF65-F5344CB8AC3E}">
        <p14:creationId xmlns:p14="http://schemas.microsoft.com/office/powerpoint/2010/main" val="3763836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3BEE4324150E468E9D56AC1A069CC0" ma:contentTypeVersion="10" ma:contentTypeDescription="Create a new document." ma:contentTypeScope="" ma:versionID="6b7533682bf6fbff95c8cc4f79a2dd38">
  <xsd:schema xmlns:xsd="http://www.w3.org/2001/XMLSchema" xmlns:xs="http://www.w3.org/2001/XMLSchema" xmlns:p="http://schemas.microsoft.com/office/2006/metadata/properties" xmlns:ns2="88a81109-a086-44ae-a9ae-b48b478270f0" xmlns:ns3="36ae782e-a2ad-455b-8012-e967b2ff0266" targetNamespace="http://schemas.microsoft.com/office/2006/metadata/properties" ma:root="true" ma:fieldsID="bf02702ce59ee1ec2ec03d4234b9ec85" ns2:_="" ns3:_="">
    <xsd:import namespace="88a81109-a086-44ae-a9ae-b48b478270f0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81109-a086-44ae-a9ae-b48b47827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a22bb8-c71e-4324-a640-0354e2d274c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8a81109-a086-44ae-a9ae-b48b478270f0">
      <Terms xmlns="http://schemas.microsoft.com/office/infopath/2007/PartnerControls"/>
    </lcf76f155ced4ddcb4097134ff3c332f>
    <TaxCatchAll xmlns="36ae782e-a2ad-455b-8012-e967b2ff0266" xsi:nil="true"/>
  </documentManagement>
</p:properties>
</file>

<file path=customXml/itemProps1.xml><?xml version="1.0" encoding="utf-8"?>
<ds:datastoreItem xmlns:ds="http://schemas.openxmlformats.org/officeDocument/2006/customXml" ds:itemID="{70B33C56-195A-43D6-9F3A-04BE840BD987}"/>
</file>

<file path=customXml/itemProps2.xml><?xml version="1.0" encoding="utf-8"?>
<ds:datastoreItem xmlns:ds="http://schemas.openxmlformats.org/officeDocument/2006/customXml" ds:itemID="{FD21B032-7074-4338-B8B1-311ACD6E1A2C}"/>
</file>

<file path=customXml/itemProps3.xml><?xml version="1.0" encoding="utf-8"?>
<ds:datastoreItem xmlns:ds="http://schemas.openxmlformats.org/officeDocument/2006/customXml" ds:itemID="{063CF5DA-E3E3-4F96-8B55-B982A164891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721</TotalTime>
  <Words>4778</Words>
  <Application>Microsoft Office PowerPoint</Application>
  <PresentationFormat>On-screen Show (4:3)</PresentationFormat>
  <Paragraphs>606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Times New Roman</vt:lpstr>
      <vt:lpstr>Wingdings</vt:lpstr>
      <vt:lpstr>Office Theme</vt:lpstr>
      <vt:lpstr>Bases de Datos No SQL</vt:lpstr>
      <vt:lpstr>Bibliografía</vt:lpstr>
      <vt:lpstr>Bases de Datos Clave-Valor</vt:lpstr>
      <vt:lpstr>Bases de Datos Clave-Valor</vt:lpstr>
      <vt:lpstr>Bases de Datos Clave-Valor</vt:lpstr>
      <vt:lpstr>Bases de Datos Clave-Valor</vt:lpstr>
      <vt:lpstr>Bases de Datos Clave-Valor</vt:lpstr>
      <vt:lpstr>Bases de Datos Clave-Valor</vt:lpstr>
      <vt:lpstr>Bases de Datos Clave-Valor</vt:lpstr>
      <vt:lpstr>Bases de Datos Clave-Valor</vt:lpstr>
      <vt:lpstr>Bases de Datos Clave-Valor</vt:lpstr>
      <vt:lpstr>Bases de Datos Clave-Valor</vt:lpstr>
      <vt:lpstr>Bases de Datos Clave-Valor</vt:lpstr>
      <vt:lpstr>Bases de Datos Clave-Valor. Redis</vt:lpstr>
      <vt:lpstr>Bases de Datos Clave-Valor. Redis – cont.</vt:lpstr>
      <vt:lpstr>Bases de Datos Clave-Valor. Redis – cont.</vt:lpstr>
      <vt:lpstr>Bases de Datos Clave-Valor. Redis (Ejemplo Netflix)</vt:lpstr>
      <vt:lpstr>Bases de Datos Clave-Valor. Redis (Ejemplo Uber)</vt:lpstr>
      <vt:lpstr>Bases de Datos Clave-Valor. Redis (Ejemplo Twitter)</vt:lpstr>
      <vt:lpstr>Bases de Datos Clave-Valor. Redis (Ejemplo Airbnb)</vt:lpstr>
      <vt:lpstr>Bases de Datos Clave-Valor. Redis</vt:lpstr>
      <vt:lpstr>Bases de Datos Clave-Valor.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Bases de Datos Clave-Valor. Redis</vt:lpstr>
      <vt:lpstr>Redis Detalle de principales tipos de datos</vt:lpstr>
      <vt:lpstr>String</vt:lpstr>
      <vt:lpstr>Hash</vt:lpstr>
      <vt:lpstr>List</vt:lpstr>
      <vt:lpstr>Set</vt:lpstr>
      <vt:lpstr>Sorted Set</vt:lpstr>
      <vt:lpstr>JSON</vt:lpstr>
      <vt:lpstr>Streams</vt:lpstr>
      <vt:lpstr>Geospatial (Geo)</vt:lpstr>
      <vt:lpstr>Bitmaps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Belén Vela Sánchez</dc:creator>
  <cp:lastModifiedBy>Hernan Novodvorski</cp:lastModifiedBy>
  <cp:revision>17</cp:revision>
  <dcterms:created xsi:type="dcterms:W3CDTF">2026-05-08T23:23:35Z</dcterms:created>
  <dcterms:modified xsi:type="dcterms:W3CDTF">2026-05-09T11:43:38Z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2020-03-23T00:00:00Z</vt:filetime>
  </property>
  <property fmtid="{D5CDD505-2E9C-101B-9397-08002B2CF9AE}" pid="3" name="Creator">
    <vt:lpwstr>Acrobat PDFMaker 15 para PowerPoint</vt:lpwstr>
  </property>
  <property fmtid="{D5CDD505-2E9C-101B-9397-08002B2CF9AE}" pid="4" name="LastSaved">
    <vt:filetime>2026-05-08T00:00:00Z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ContentTypeId">
    <vt:lpwstr>0x010100163BEE4324150E468E9D56AC1A069CC0</vt:lpwstr>
  </property>
</Properties>
</file>