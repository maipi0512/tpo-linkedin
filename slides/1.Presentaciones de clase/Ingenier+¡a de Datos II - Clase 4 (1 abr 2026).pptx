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diagrams/colors1.xml" ContentType="application/vnd.openxmlformats-officedocument.drawingml.diagramColors+xml"/>
  <Override PartName="/ppt/diagrams/layout1.xml" ContentType="application/vnd.openxmlformats-officedocument.drawingml.diagramLayout+xml"/>
  <Override PartName="/ppt/diagrams/quickStyle1.xml" ContentType="application/vnd.openxmlformats-officedocument.drawingml.diagramStyle+xml"/>
  <Override PartName="/ppt/diagrams/drawing1.xml" ContentType="application/vnd.ms-office.drawingml.diagramDrawing+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302" r:id="rId3"/>
    <p:sldId id="301" r:id="rId4"/>
    <p:sldId id="308" r:id="rId5"/>
    <p:sldId id="305" r:id="rId6"/>
    <p:sldId id="306" r:id="rId7"/>
    <p:sldId id="303" r:id="rId8"/>
    <p:sldId id="307" r:id="rId9"/>
    <p:sldId id="309" r:id="rId10"/>
    <p:sldId id="256" r:id="rId11"/>
    <p:sldId id="260" r:id="rId12"/>
    <p:sldId id="310" r:id="rId13"/>
    <p:sldId id="259" r:id="rId14"/>
    <p:sldId id="258" r:id="rId15"/>
    <p:sldId id="311" r:id="rId16"/>
    <p:sldId id="312" r:id="rId17"/>
    <p:sldId id="262" r:id="rId18"/>
    <p:sldId id="313" r:id="rId19"/>
    <p:sldId id="265" r:id="rId20"/>
    <p:sldId id="314" r:id="rId21"/>
    <p:sldId id="266" r:id="rId22"/>
    <p:sldId id="315" r:id="rId23"/>
    <p:sldId id="264" r:id="rId24"/>
    <p:sldId id="270" r:id="rId25"/>
    <p:sldId id="269" r:id="rId26"/>
    <p:sldId id="268" r:id="rId27"/>
    <p:sldId id="316" r:id="rId28"/>
    <p:sldId id="267" r:id="rId29"/>
    <p:sldId id="261" r:id="rId30"/>
    <p:sldId id="273" r:id="rId31"/>
    <p:sldId id="271" r:id="rId32"/>
    <p:sldId id="274" r:id="rId33"/>
    <p:sldId id="277" r:id="rId34"/>
    <p:sldId id="317" r:id="rId35"/>
    <p:sldId id="318" r:id="rId36"/>
    <p:sldId id="319" r:id="rId37"/>
    <p:sldId id="320" r:id="rId38"/>
    <p:sldId id="283" r:id="rId39"/>
    <p:sldId id="284" r:id="rId40"/>
    <p:sldId id="321" r:id="rId41"/>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DB046C-4FA2-4F39-91A2-B51069972686}" v="1" dt="2024-09-17T10:37:47.57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52" d="100"/>
          <a:sy n="52" d="100"/>
        </p:scale>
        <p:origin x="116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ED8941-AE9E-4DCC-B2FF-B72FEB6EF09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60710DE-050C-41B9-A667-1F1D73367EBB}">
      <dgm:prSet custT="1"/>
      <dgm:spPr/>
      <dgm:t>
        <a:bodyPr/>
        <a:lstStyle/>
        <a:p>
          <a:pPr marL="0" indent="0" algn="just">
            <a:lnSpc>
              <a:spcPct val="100000"/>
            </a:lnSpc>
            <a:spcAft>
              <a:spcPts val="0"/>
            </a:spcAft>
            <a:buNone/>
          </a:pPr>
          <a:r>
            <a:rPr lang="es-MX" sz="2000" dirty="0">
              <a:latin typeface="Verdana" panose="020B0604030504040204" pitchFamily="34" charset="0"/>
              <a:ea typeface="Verdana" panose="020B0604030504040204" pitchFamily="34" charset="0"/>
            </a:rPr>
            <a:t>Los valores son proporcionados por la aplicación, incluido el </a:t>
          </a:r>
          <a:r>
            <a:rPr lang="es-MX" sz="2000" i="1" dirty="0" err="1">
              <a:latin typeface="Verdana" panose="020B0604030504040204" pitchFamily="34" charset="0"/>
              <a:ea typeface="Verdana" panose="020B0604030504040204" pitchFamily="34" charset="0"/>
            </a:rPr>
            <a:t>timestamp</a:t>
          </a:r>
          <a:r>
            <a:rPr lang="es-MX" sz="2000" dirty="0">
              <a:latin typeface="Verdana" panose="020B0604030504040204" pitchFamily="34" charset="0"/>
              <a:ea typeface="Verdana" panose="020B0604030504040204" pitchFamily="34" charset="0"/>
            </a:rPr>
            <a:t>. </a:t>
          </a:r>
          <a:endParaRPr lang="en-US" sz="2000" dirty="0">
            <a:latin typeface="Verdana" panose="020B0604030504040204" pitchFamily="34" charset="0"/>
            <a:ea typeface="Verdana" panose="020B0604030504040204" pitchFamily="34" charset="0"/>
          </a:endParaRPr>
        </a:p>
      </dgm:t>
    </dgm:pt>
    <dgm:pt modelId="{A8CBCC84-D8E9-4ED2-83EB-30734C9B1FBD}" type="parTrans" cxnId="{E12D54C3-3F7B-4B71-B4A8-79AB1B73F777}">
      <dgm:prSet/>
      <dgm:spPr/>
      <dgm:t>
        <a:bodyPr/>
        <a:lstStyle/>
        <a:p>
          <a:endParaRPr lang="en-US"/>
        </a:p>
      </dgm:t>
    </dgm:pt>
    <dgm:pt modelId="{2EE12730-AFB6-41BE-A79B-B3101657FDC5}" type="sibTrans" cxnId="{E12D54C3-3F7B-4B71-B4A8-79AB1B73F777}">
      <dgm:prSet/>
      <dgm:spPr/>
      <dgm:t>
        <a:bodyPr/>
        <a:lstStyle/>
        <a:p>
          <a:endParaRPr lang="en-US"/>
        </a:p>
      </dgm:t>
    </dgm:pt>
    <dgm:pt modelId="{2B931AD4-1708-4A3B-99A4-700E49F2A35C}">
      <dgm:prSet custT="1"/>
      <dgm:spPr/>
      <dgm:t>
        <a:bodyPr/>
        <a:lstStyle/>
        <a:p>
          <a:pPr marL="0" indent="0" algn="just">
            <a:lnSpc>
              <a:spcPct val="100000"/>
            </a:lnSpc>
            <a:spcAft>
              <a:spcPts val="0"/>
            </a:spcAft>
            <a:buNone/>
          </a:pPr>
          <a:r>
            <a:rPr lang="es-MX" sz="2000" dirty="0">
              <a:latin typeface="Verdana" panose="020B0604030504040204" pitchFamily="34" charset="0"/>
              <a:ea typeface="Verdana" panose="020B0604030504040204" pitchFamily="34" charset="0"/>
            </a:rPr>
            <a:t>El </a:t>
          </a:r>
          <a:r>
            <a:rPr lang="es-MX" sz="2000" i="1" dirty="0" err="1">
              <a:latin typeface="Verdana" panose="020B0604030504040204" pitchFamily="34" charset="0"/>
              <a:ea typeface="Verdana" panose="020B0604030504040204" pitchFamily="34" charset="0"/>
            </a:rPr>
            <a:t>timestamp</a:t>
          </a:r>
          <a:r>
            <a:rPr lang="es-MX" sz="2000" dirty="0">
              <a:latin typeface="Verdana" panose="020B0604030504040204" pitchFamily="34" charset="0"/>
              <a:ea typeface="Verdana" panose="020B0604030504040204" pitchFamily="34" charset="0"/>
            </a:rPr>
            <a:t> es usa para resolver conflictos (</a:t>
          </a:r>
          <a:r>
            <a:rPr lang="es-MX" sz="1800" b="1" i="1" dirty="0">
              <a:latin typeface="Verdana" panose="020B0604030504040204" pitchFamily="34" charset="0"/>
              <a:ea typeface="Verdana" panose="020B0604030504040204" pitchFamily="34" charset="0"/>
            </a:rPr>
            <a:t>Consistencia Eventual</a:t>
          </a:r>
          <a:r>
            <a:rPr lang="es-MX" sz="2000" dirty="0">
              <a:latin typeface="Verdana" panose="020B0604030504040204" pitchFamily="34" charset="0"/>
              <a:ea typeface="Verdana" panose="020B0604030504040204" pitchFamily="34" charset="0"/>
            </a:rPr>
            <a:t>)</a:t>
          </a:r>
          <a:endParaRPr lang="en-US" sz="2000" dirty="0">
            <a:latin typeface="Verdana" panose="020B0604030504040204" pitchFamily="34" charset="0"/>
            <a:ea typeface="Verdana" panose="020B0604030504040204" pitchFamily="34" charset="0"/>
          </a:endParaRPr>
        </a:p>
      </dgm:t>
    </dgm:pt>
    <dgm:pt modelId="{BD36F62C-BB48-4F46-83E2-DF5C2EB889A4}" type="parTrans" cxnId="{DD45AC1F-F707-4AA8-A017-E8841201CAC8}">
      <dgm:prSet/>
      <dgm:spPr/>
      <dgm:t>
        <a:bodyPr/>
        <a:lstStyle/>
        <a:p>
          <a:endParaRPr lang="en-US"/>
        </a:p>
      </dgm:t>
    </dgm:pt>
    <dgm:pt modelId="{770E0F5B-DAA8-4980-9D79-4BBA47C74E99}" type="sibTrans" cxnId="{DD45AC1F-F707-4AA8-A017-E8841201CAC8}">
      <dgm:prSet/>
      <dgm:spPr/>
      <dgm:t>
        <a:bodyPr/>
        <a:lstStyle/>
        <a:p>
          <a:endParaRPr lang="en-US"/>
        </a:p>
      </dgm:t>
    </dgm:pt>
    <dgm:pt modelId="{B5C99E71-6250-4F16-AC04-5A5BEBFA8798}">
      <dgm:prSet/>
      <dgm:spPr/>
      <dgm:t>
        <a:bodyPr/>
        <a:lstStyle/>
        <a:p>
          <a:r>
            <a:rPr lang="es-MX" b="1" i="1" dirty="0"/>
            <a:t>Nota: </a:t>
          </a:r>
          <a:endParaRPr lang="en-US" dirty="0"/>
        </a:p>
      </dgm:t>
    </dgm:pt>
    <dgm:pt modelId="{4965E187-C80D-439F-B728-0EAFA79E9E54}" type="sibTrans" cxnId="{D7420878-166B-4C3F-81AF-9FC665104F88}">
      <dgm:prSet/>
      <dgm:spPr/>
      <dgm:t>
        <a:bodyPr/>
        <a:lstStyle/>
        <a:p>
          <a:endParaRPr lang="en-US"/>
        </a:p>
      </dgm:t>
    </dgm:pt>
    <dgm:pt modelId="{9BA1B115-59A3-40A3-B2A5-68ECD14DADE2}" type="parTrans" cxnId="{D7420878-166B-4C3F-81AF-9FC665104F88}">
      <dgm:prSet/>
      <dgm:spPr/>
      <dgm:t>
        <a:bodyPr/>
        <a:lstStyle/>
        <a:p>
          <a:endParaRPr lang="en-US"/>
        </a:p>
      </dgm:t>
    </dgm:pt>
    <dgm:pt modelId="{B81D3C03-1605-4587-A8AA-5A1617DA0B9E}">
      <dgm:prSet custT="1"/>
      <dgm:spPr/>
      <dgm:t>
        <a:bodyPr/>
        <a:lstStyle/>
        <a:p>
          <a:pPr marL="0" indent="0" algn="just">
            <a:lnSpc>
              <a:spcPct val="100000"/>
            </a:lnSpc>
            <a:spcAft>
              <a:spcPts val="0"/>
            </a:spcAft>
            <a:buNone/>
          </a:pPr>
          <a:r>
            <a:rPr lang="es-MX" sz="2000" dirty="0">
              <a:latin typeface="Verdana" panose="020B0604030504040204" pitchFamily="34" charset="0"/>
              <a:ea typeface="Verdana" panose="020B0604030504040204" pitchFamily="34" charset="0"/>
            </a:rPr>
            <a:t>Es necesario tener sincronizado el reloj del sistema con el reloj del clúster. </a:t>
          </a:r>
          <a:endParaRPr lang="en-US" sz="2000" dirty="0">
            <a:latin typeface="Verdana" panose="020B0604030504040204" pitchFamily="34" charset="0"/>
            <a:ea typeface="Verdana" panose="020B0604030504040204" pitchFamily="34" charset="0"/>
          </a:endParaRPr>
        </a:p>
      </dgm:t>
    </dgm:pt>
    <dgm:pt modelId="{5C351511-A179-49AB-9E3A-E610284ECD32}" type="parTrans" cxnId="{332C6703-49ED-480B-A3F9-A3ED61670602}">
      <dgm:prSet/>
      <dgm:spPr/>
      <dgm:t>
        <a:bodyPr/>
        <a:lstStyle/>
        <a:p>
          <a:endParaRPr lang="es-AR"/>
        </a:p>
      </dgm:t>
    </dgm:pt>
    <dgm:pt modelId="{0AEB1420-4E73-4731-B6C2-CBD86BD8ED4B}" type="sibTrans" cxnId="{332C6703-49ED-480B-A3F9-A3ED61670602}">
      <dgm:prSet/>
      <dgm:spPr/>
      <dgm:t>
        <a:bodyPr/>
        <a:lstStyle/>
        <a:p>
          <a:endParaRPr lang="es-AR"/>
        </a:p>
      </dgm:t>
    </dgm:pt>
    <dgm:pt modelId="{E90B0619-93B2-4F98-98B1-FA0B1E59495C}" type="pres">
      <dgm:prSet presAssocID="{78ED8941-AE9E-4DCC-B2FF-B72FEB6EF09C}" presName="linear" presStyleCnt="0">
        <dgm:presLayoutVars>
          <dgm:animLvl val="lvl"/>
          <dgm:resizeHandles val="exact"/>
        </dgm:presLayoutVars>
      </dgm:prSet>
      <dgm:spPr/>
    </dgm:pt>
    <dgm:pt modelId="{791E8C8F-1EBB-4B76-BAFD-0F4D1F850873}" type="pres">
      <dgm:prSet presAssocID="{B5C99E71-6250-4F16-AC04-5A5BEBFA8798}" presName="parentText" presStyleLbl="node1" presStyleIdx="0" presStyleCnt="1">
        <dgm:presLayoutVars>
          <dgm:chMax val="0"/>
          <dgm:bulletEnabled val="1"/>
        </dgm:presLayoutVars>
      </dgm:prSet>
      <dgm:spPr/>
    </dgm:pt>
    <dgm:pt modelId="{544CFEE9-0CB1-4306-8085-526F882FA667}" type="pres">
      <dgm:prSet presAssocID="{B5C99E71-6250-4F16-AC04-5A5BEBFA8798}" presName="childText" presStyleLbl="revTx" presStyleIdx="0" presStyleCnt="1">
        <dgm:presLayoutVars>
          <dgm:bulletEnabled val="1"/>
        </dgm:presLayoutVars>
      </dgm:prSet>
      <dgm:spPr/>
    </dgm:pt>
  </dgm:ptLst>
  <dgm:cxnLst>
    <dgm:cxn modelId="{332C6703-49ED-480B-A3F9-A3ED61670602}" srcId="{B5C99E71-6250-4F16-AC04-5A5BEBFA8798}" destId="{B81D3C03-1605-4587-A8AA-5A1617DA0B9E}" srcOrd="1" destOrd="0" parTransId="{5C351511-A179-49AB-9E3A-E610284ECD32}" sibTransId="{0AEB1420-4E73-4731-B6C2-CBD86BD8ED4B}"/>
    <dgm:cxn modelId="{2F1DF50A-44BD-4234-B721-77A164CC5F7B}" type="presOf" srcId="{B5C99E71-6250-4F16-AC04-5A5BEBFA8798}" destId="{791E8C8F-1EBB-4B76-BAFD-0F4D1F850873}" srcOrd="0" destOrd="0" presId="urn:microsoft.com/office/officeart/2005/8/layout/vList2"/>
    <dgm:cxn modelId="{DD45AC1F-F707-4AA8-A017-E8841201CAC8}" srcId="{B5C99E71-6250-4F16-AC04-5A5BEBFA8798}" destId="{2B931AD4-1708-4A3B-99A4-700E49F2A35C}" srcOrd="2" destOrd="0" parTransId="{BD36F62C-BB48-4F46-83E2-DF5C2EB889A4}" sibTransId="{770E0F5B-DAA8-4980-9D79-4BBA47C74E99}"/>
    <dgm:cxn modelId="{D8B0EC60-BB43-4BEB-934D-CC60B1F2AA8C}" type="presOf" srcId="{B81D3C03-1605-4587-A8AA-5A1617DA0B9E}" destId="{544CFEE9-0CB1-4306-8085-526F882FA667}" srcOrd="0" destOrd="1" presId="urn:microsoft.com/office/officeart/2005/8/layout/vList2"/>
    <dgm:cxn modelId="{0C23E861-C827-4C9A-A94F-D07577C190B8}" type="presOf" srcId="{2B931AD4-1708-4A3B-99A4-700E49F2A35C}" destId="{544CFEE9-0CB1-4306-8085-526F882FA667}" srcOrd="0" destOrd="2" presId="urn:microsoft.com/office/officeart/2005/8/layout/vList2"/>
    <dgm:cxn modelId="{D7420878-166B-4C3F-81AF-9FC665104F88}" srcId="{78ED8941-AE9E-4DCC-B2FF-B72FEB6EF09C}" destId="{B5C99E71-6250-4F16-AC04-5A5BEBFA8798}" srcOrd="0" destOrd="0" parTransId="{9BA1B115-59A3-40A3-B2A5-68ECD14DADE2}" sibTransId="{4965E187-C80D-439F-B728-0EAFA79E9E54}"/>
    <dgm:cxn modelId="{D2B71D90-59B2-4617-84F8-BF43681680AC}" type="presOf" srcId="{78ED8941-AE9E-4DCC-B2FF-B72FEB6EF09C}" destId="{E90B0619-93B2-4F98-98B1-FA0B1E59495C}" srcOrd="0" destOrd="0" presId="urn:microsoft.com/office/officeart/2005/8/layout/vList2"/>
    <dgm:cxn modelId="{E12D54C3-3F7B-4B71-B4A8-79AB1B73F777}" srcId="{B5C99E71-6250-4F16-AC04-5A5BEBFA8798}" destId="{C60710DE-050C-41B9-A667-1F1D73367EBB}" srcOrd="0" destOrd="0" parTransId="{A8CBCC84-D8E9-4ED2-83EB-30734C9B1FBD}" sibTransId="{2EE12730-AFB6-41BE-A79B-B3101657FDC5}"/>
    <dgm:cxn modelId="{5BB523F3-0F70-4031-9206-C4A6263EBF00}" type="presOf" srcId="{C60710DE-050C-41B9-A667-1F1D73367EBB}" destId="{544CFEE9-0CB1-4306-8085-526F882FA667}" srcOrd="0" destOrd="0" presId="urn:microsoft.com/office/officeart/2005/8/layout/vList2"/>
    <dgm:cxn modelId="{3ED25978-A08A-4283-A79C-17A5736041C2}" type="presParOf" srcId="{E90B0619-93B2-4F98-98B1-FA0B1E59495C}" destId="{791E8C8F-1EBB-4B76-BAFD-0F4D1F850873}" srcOrd="0" destOrd="0" presId="urn:microsoft.com/office/officeart/2005/8/layout/vList2"/>
    <dgm:cxn modelId="{8832463B-549B-4C7C-BED5-3DD8F05ED6CB}" type="presParOf" srcId="{E90B0619-93B2-4F98-98B1-FA0B1E59495C}" destId="{544CFEE9-0CB1-4306-8085-526F882FA667}" srcOrd="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1E8C8F-1EBB-4B76-BAFD-0F4D1F850873}">
      <dsp:nvSpPr>
        <dsp:cNvPr id="0" name=""/>
        <dsp:cNvSpPr/>
      </dsp:nvSpPr>
      <dsp:spPr>
        <a:xfrm>
          <a:off x="0" y="28049"/>
          <a:ext cx="7251658" cy="11992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l" defTabSz="2222500">
            <a:lnSpc>
              <a:spcPct val="90000"/>
            </a:lnSpc>
            <a:spcBef>
              <a:spcPct val="0"/>
            </a:spcBef>
            <a:spcAft>
              <a:spcPct val="35000"/>
            </a:spcAft>
            <a:buNone/>
          </a:pPr>
          <a:r>
            <a:rPr lang="es-MX" sz="5000" b="1" i="1" kern="1200" dirty="0"/>
            <a:t>Nota: </a:t>
          </a:r>
          <a:endParaRPr lang="en-US" sz="5000" kern="1200" dirty="0"/>
        </a:p>
      </dsp:txBody>
      <dsp:txXfrm>
        <a:off x="58543" y="86592"/>
        <a:ext cx="7134572" cy="1082164"/>
      </dsp:txXfrm>
    </dsp:sp>
    <dsp:sp modelId="{544CFEE9-0CB1-4306-8085-526F882FA667}">
      <dsp:nvSpPr>
        <dsp:cNvPr id="0" name=""/>
        <dsp:cNvSpPr/>
      </dsp:nvSpPr>
      <dsp:spPr>
        <a:xfrm>
          <a:off x="0" y="1227299"/>
          <a:ext cx="7251658" cy="1914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0240" tIns="25400" rIns="142240" bIns="25400" numCol="1" spcCol="1270" anchor="t" anchorCtr="0">
          <a:noAutofit/>
        </a:bodyPr>
        <a:lstStyle/>
        <a:p>
          <a:pPr marL="0" lvl="1" indent="0" algn="just" defTabSz="889000">
            <a:lnSpc>
              <a:spcPct val="100000"/>
            </a:lnSpc>
            <a:spcBef>
              <a:spcPct val="0"/>
            </a:spcBef>
            <a:spcAft>
              <a:spcPts val="0"/>
            </a:spcAft>
            <a:buNone/>
          </a:pPr>
          <a:r>
            <a:rPr lang="es-MX" sz="2000" kern="1200" dirty="0">
              <a:latin typeface="Verdana" panose="020B0604030504040204" pitchFamily="34" charset="0"/>
              <a:ea typeface="Verdana" panose="020B0604030504040204" pitchFamily="34" charset="0"/>
            </a:rPr>
            <a:t>Los valores son proporcionados por la aplicación, incluido el </a:t>
          </a:r>
          <a:r>
            <a:rPr lang="es-MX" sz="2000" i="1" kern="1200" dirty="0" err="1">
              <a:latin typeface="Verdana" panose="020B0604030504040204" pitchFamily="34" charset="0"/>
              <a:ea typeface="Verdana" panose="020B0604030504040204" pitchFamily="34" charset="0"/>
            </a:rPr>
            <a:t>timestamp</a:t>
          </a:r>
          <a:r>
            <a:rPr lang="es-MX" sz="2000" kern="1200" dirty="0">
              <a:latin typeface="Verdana" panose="020B0604030504040204" pitchFamily="34" charset="0"/>
              <a:ea typeface="Verdana" panose="020B0604030504040204" pitchFamily="34" charset="0"/>
            </a:rPr>
            <a:t>. </a:t>
          </a:r>
          <a:endParaRPr lang="en-US" sz="2000" kern="1200" dirty="0">
            <a:latin typeface="Verdana" panose="020B0604030504040204" pitchFamily="34" charset="0"/>
            <a:ea typeface="Verdana" panose="020B0604030504040204" pitchFamily="34" charset="0"/>
          </a:endParaRPr>
        </a:p>
        <a:p>
          <a:pPr marL="0" lvl="1" indent="0" algn="just" defTabSz="889000">
            <a:lnSpc>
              <a:spcPct val="100000"/>
            </a:lnSpc>
            <a:spcBef>
              <a:spcPct val="0"/>
            </a:spcBef>
            <a:spcAft>
              <a:spcPts val="0"/>
            </a:spcAft>
            <a:buNone/>
          </a:pPr>
          <a:r>
            <a:rPr lang="es-MX" sz="2000" kern="1200" dirty="0">
              <a:latin typeface="Verdana" panose="020B0604030504040204" pitchFamily="34" charset="0"/>
              <a:ea typeface="Verdana" panose="020B0604030504040204" pitchFamily="34" charset="0"/>
            </a:rPr>
            <a:t>Es necesario tener sincronizado el reloj del sistema con el reloj del clúster. </a:t>
          </a:r>
          <a:endParaRPr lang="en-US" sz="2000" kern="1200" dirty="0">
            <a:latin typeface="Verdana" panose="020B0604030504040204" pitchFamily="34" charset="0"/>
            <a:ea typeface="Verdana" panose="020B0604030504040204" pitchFamily="34" charset="0"/>
          </a:endParaRPr>
        </a:p>
        <a:p>
          <a:pPr marL="0" lvl="1" indent="0" algn="just" defTabSz="889000">
            <a:lnSpc>
              <a:spcPct val="100000"/>
            </a:lnSpc>
            <a:spcBef>
              <a:spcPct val="0"/>
            </a:spcBef>
            <a:spcAft>
              <a:spcPts val="0"/>
            </a:spcAft>
            <a:buNone/>
          </a:pPr>
          <a:r>
            <a:rPr lang="es-MX" sz="2000" kern="1200" dirty="0">
              <a:latin typeface="Verdana" panose="020B0604030504040204" pitchFamily="34" charset="0"/>
              <a:ea typeface="Verdana" panose="020B0604030504040204" pitchFamily="34" charset="0"/>
            </a:rPr>
            <a:t>El </a:t>
          </a:r>
          <a:r>
            <a:rPr lang="es-MX" sz="2000" i="1" kern="1200" dirty="0" err="1">
              <a:latin typeface="Verdana" panose="020B0604030504040204" pitchFamily="34" charset="0"/>
              <a:ea typeface="Verdana" panose="020B0604030504040204" pitchFamily="34" charset="0"/>
            </a:rPr>
            <a:t>timestamp</a:t>
          </a:r>
          <a:r>
            <a:rPr lang="es-MX" sz="2000" kern="1200" dirty="0">
              <a:latin typeface="Verdana" panose="020B0604030504040204" pitchFamily="34" charset="0"/>
              <a:ea typeface="Verdana" panose="020B0604030504040204" pitchFamily="34" charset="0"/>
            </a:rPr>
            <a:t> es usa para resolver conflictos (</a:t>
          </a:r>
          <a:r>
            <a:rPr lang="es-MX" sz="1800" b="1" i="1" kern="1200" dirty="0">
              <a:latin typeface="Verdana" panose="020B0604030504040204" pitchFamily="34" charset="0"/>
              <a:ea typeface="Verdana" panose="020B0604030504040204" pitchFamily="34" charset="0"/>
            </a:rPr>
            <a:t>Consistencia Eventual</a:t>
          </a:r>
          <a:r>
            <a:rPr lang="es-MX" sz="2000" kern="1200" dirty="0">
              <a:latin typeface="Verdana" panose="020B0604030504040204" pitchFamily="34" charset="0"/>
              <a:ea typeface="Verdana" panose="020B0604030504040204" pitchFamily="34" charset="0"/>
            </a:rPr>
            <a:t>)</a:t>
          </a:r>
          <a:endParaRPr lang="en-US" sz="2000" kern="1200" dirty="0">
            <a:latin typeface="Verdana" panose="020B0604030504040204" pitchFamily="34" charset="0"/>
            <a:ea typeface="Verdana" panose="020B0604030504040204" pitchFamily="34" charset="0"/>
          </a:endParaRPr>
        </a:p>
      </dsp:txBody>
      <dsp:txXfrm>
        <a:off x="0" y="1227299"/>
        <a:ext cx="7251658" cy="19147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AR"/>
          </a:p>
        </p:txBody>
      </p:sp>
      <p:sp>
        <p:nvSpPr>
          <p:cNvPr id="4" name="Marcador de fecha 3"/>
          <p:cNvSpPr>
            <a:spLocks noGrp="1"/>
          </p:cNvSpPr>
          <p:nvPr>
            <p:ph type="dt" sz="half" idx="10"/>
          </p:nvPr>
        </p:nvSpPr>
        <p:spPr/>
        <p:txBody>
          <a:bodyPr/>
          <a:lstStyle/>
          <a:p>
            <a:fld id="{0E6DE7D9-6AA3-42D1-869F-CACC17E134BF}" type="datetimeFigureOut">
              <a:rPr lang="es-AR" smtClean="0"/>
              <a:t>1/4/2026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2485378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0E6DE7D9-6AA3-42D1-869F-CACC17E134BF}" type="datetimeFigureOut">
              <a:rPr lang="es-AR" smtClean="0"/>
              <a:t>1/4/2026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2239345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0E6DE7D9-6AA3-42D1-869F-CACC17E134BF}" type="datetimeFigureOut">
              <a:rPr lang="es-AR" smtClean="0"/>
              <a:t>1/4/2026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3788387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p:cNvSpPr>
            <a:spLocks noGrp="1"/>
          </p:cNvSpPr>
          <p:nvPr>
            <p:ph type="dt" sz="half" idx="10"/>
          </p:nvPr>
        </p:nvSpPr>
        <p:spPr/>
        <p:txBody>
          <a:bodyPr/>
          <a:lstStyle/>
          <a:p>
            <a:fld id="{0E6DE7D9-6AA3-42D1-869F-CACC17E134BF}" type="datetimeFigureOut">
              <a:rPr lang="es-AR" smtClean="0"/>
              <a:t>1/4/2026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153888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p:cNvSpPr>
            <a:spLocks noGrp="1"/>
          </p:cNvSpPr>
          <p:nvPr>
            <p:ph type="dt" sz="half" idx="10"/>
          </p:nvPr>
        </p:nvSpPr>
        <p:spPr/>
        <p:txBody>
          <a:bodyPr/>
          <a:lstStyle/>
          <a:p>
            <a:fld id="{0E6DE7D9-6AA3-42D1-869F-CACC17E134BF}" type="datetimeFigureOut">
              <a:rPr lang="es-AR" smtClean="0"/>
              <a:t>1/4/2026</a:t>
            </a:fld>
            <a:endParaRPr lang="es-AR"/>
          </a:p>
        </p:txBody>
      </p:sp>
      <p:sp>
        <p:nvSpPr>
          <p:cNvPr id="8" name="Marcador de pie de página 7"/>
          <p:cNvSpPr>
            <a:spLocks noGrp="1"/>
          </p:cNvSpPr>
          <p:nvPr>
            <p:ph type="ftr" sz="quarter" idx="11"/>
          </p:nvPr>
        </p:nvSpPr>
        <p:spPr/>
        <p:txBody>
          <a:bodyPr/>
          <a:lstStyle/>
          <a:p>
            <a:endParaRPr lang="es-AR"/>
          </a:p>
        </p:txBody>
      </p:sp>
      <p:sp>
        <p:nvSpPr>
          <p:cNvPr id="9" name="Marcador de número de diapositiva 8"/>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363419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fecha 2"/>
          <p:cNvSpPr>
            <a:spLocks noGrp="1"/>
          </p:cNvSpPr>
          <p:nvPr>
            <p:ph type="dt" sz="half" idx="10"/>
          </p:nvPr>
        </p:nvSpPr>
        <p:spPr/>
        <p:txBody>
          <a:bodyPr/>
          <a:lstStyle/>
          <a:p>
            <a:fld id="{0E6DE7D9-6AA3-42D1-869F-CACC17E134BF}" type="datetimeFigureOut">
              <a:rPr lang="es-AR" smtClean="0"/>
              <a:t>1/4/2026</a:t>
            </a:fld>
            <a:endParaRPr lang="es-AR"/>
          </a:p>
        </p:txBody>
      </p:sp>
      <p:sp>
        <p:nvSpPr>
          <p:cNvPr id="4" name="Marcador de pie de página 3"/>
          <p:cNvSpPr>
            <a:spLocks noGrp="1"/>
          </p:cNvSpPr>
          <p:nvPr>
            <p:ph type="ftr" sz="quarter" idx="11"/>
          </p:nvPr>
        </p:nvSpPr>
        <p:spPr/>
        <p:txBody>
          <a:bodyPr/>
          <a:lstStyle/>
          <a:p>
            <a:endParaRPr lang="es-AR"/>
          </a:p>
        </p:txBody>
      </p:sp>
      <p:sp>
        <p:nvSpPr>
          <p:cNvPr id="5" name="Marcador de número de diapositiva 4"/>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41939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0E6DE7D9-6AA3-42D1-869F-CACC17E134BF}" type="datetimeFigureOut">
              <a:rPr lang="es-AR" smtClean="0"/>
              <a:t>1/4/2026</a:t>
            </a:fld>
            <a:endParaRPr lang="es-AR"/>
          </a:p>
        </p:txBody>
      </p:sp>
      <p:sp>
        <p:nvSpPr>
          <p:cNvPr id="3" name="Marcador de pie de página 2"/>
          <p:cNvSpPr>
            <a:spLocks noGrp="1"/>
          </p:cNvSpPr>
          <p:nvPr>
            <p:ph type="ftr" sz="quarter" idx="11"/>
          </p:nvPr>
        </p:nvSpPr>
        <p:spPr/>
        <p:txBody>
          <a:bodyPr/>
          <a:lstStyle/>
          <a:p>
            <a:endParaRPr lang="es-AR"/>
          </a:p>
        </p:txBody>
      </p:sp>
      <p:sp>
        <p:nvSpPr>
          <p:cNvPr id="4" name="Marcador de número de diapositiva 3"/>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1191129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E6DE7D9-6AA3-42D1-869F-CACC17E134BF}" type="datetimeFigureOut">
              <a:rPr lang="es-AR" smtClean="0"/>
              <a:t>1/4/2026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3348173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0E6DE7D9-6AA3-42D1-869F-CACC17E134BF}" type="datetimeFigureOut">
              <a:rPr lang="es-AR" smtClean="0"/>
              <a:t>1/4/2026</a:t>
            </a:fld>
            <a:endParaRPr lang="es-AR"/>
          </a:p>
        </p:txBody>
      </p:sp>
      <p:sp>
        <p:nvSpPr>
          <p:cNvPr id="6" name="Marcador de pie de página 5"/>
          <p:cNvSpPr>
            <a:spLocks noGrp="1"/>
          </p:cNvSpPr>
          <p:nvPr>
            <p:ph type="ftr" sz="quarter" idx="11"/>
          </p:nvPr>
        </p:nvSpPr>
        <p:spPr/>
        <p:txBody>
          <a:bodyPr/>
          <a:lstStyle/>
          <a:p>
            <a:endParaRPr lang="es-AR"/>
          </a:p>
        </p:txBody>
      </p:sp>
      <p:sp>
        <p:nvSpPr>
          <p:cNvPr id="7" name="Marcador de número de diapositiva 6"/>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2003929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0E6DE7D9-6AA3-42D1-869F-CACC17E134BF}" type="datetimeFigureOut">
              <a:rPr lang="es-AR" smtClean="0"/>
              <a:t>1/4/2026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140379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10"/>
          </p:nvPr>
        </p:nvSpPr>
        <p:spPr/>
        <p:txBody>
          <a:bodyPr/>
          <a:lstStyle/>
          <a:p>
            <a:fld id="{0E6DE7D9-6AA3-42D1-869F-CACC17E134BF}" type="datetimeFigureOut">
              <a:rPr lang="es-AR" smtClean="0"/>
              <a:t>1/4/2026</a:t>
            </a:fld>
            <a:endParaRPr lang="es-AR"/>
          </a:p>
        </p:txBody>
      </p:sp>
      <p:sp>
        <p:nvSpPr>
          <p:cNvPr id="5" name="Marcador de pie de página 4"/>
          <p:cNvSpPr>
            <a:spLocks noGrp="1"/>
          </p:cNvSpPr>
          <p:nvPr>
            <p:ph type="ftr" sz="quarter" idx="11"/>
          </p:nvPr>
        </p:nvSpPr>
        <p:spPr/>
        <p:txBody>
          <a:bodyPr/>
          <a:lstStyle/>
          <a:p>
            <a:endParaRPr lang="es-AR"/>
          </a:p>
        </p:txBody>
      </p:sp>
      <p:sp>
        <p:nvSpPr>
          <p:cNvPr id="6" name="Marcador de número de diapositiva 5"/>
          <p:cNvSpPr>
            <a:spLocks noGrp="1"/>
          </p:cNvSpPr>
          <p:nvPr>
            <p:ph type="sldNum" sz="quarter" idx="12"/>
          </p:nvPr>
        </p:nvSpPr>
        <p:spPr/>
        <p:txBody>
          <a:bodyPr/>
          <a:lstStyle/>
          <a:p>
            <a:fld id="{4EE3DC02-7CF7-440F-B1AB-AE4F25079696}" type="slidenum">
              <a:rPr lang="es-AR" smtClean="0"/>
              <a:t>‹#›</a:t>
            </a:fld>
            <a:endParaRPr lang="es-AR"/>
          </a:p>
        </p:txBody>
      </p:sp>
    </p:spTree>
    <p:extLst>
      <p:ext uri="{BB962C8B-B14F-4D97-AF65-F5344CB8AC3E}">
        <p14:creationId xmlns:p14="http://schemas.microsoft.com/office/powerpoint/2010/main" val="171876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6DE7D9-6AA3-42D1-869F-CACC17E134BF}" type="datetimeFigureOut">
              <a:rPr lang="es-AR" smtClean="0"/>
              <a:t>1/4/2026</a:t>
            </a:fld>
            <a:endParaRPr lang="es-A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E3DC02-7CF7-440F-B1AB-AE4F25079696}" type="slidenum">
              <a:rPr lang="es-AR" smtClean="0"/>
              <a:t>‹#›</a:t>
            </a:fld>
            <a:endParaRPr lang="es-AR"/>
          </a:p>
        </p:txBody>
      </p:sp>
    </p:spTree>
    <p:extLst>
      <p:ext uri="{BB962C8B-B14F-4D97-AF65-F5344CB8AC3E}">
        <p14:creationId xmlns:p14="http://schemas.microsoft.com/office/powerpoint/2010/main" val="290716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cloud.google.com/bigtable/docs/overview?hl=es-41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b-engines.com/en/ranking/wide+column+stor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cademy.binance.com/es/glossary/gossip-protoco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cassandra.apache.org/doc/4.1/cassandra/operating/compaction/index.html#deletes-with-tombstone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2.png"/><Relationship Id="rId7" Type="http://schemas.openxmlformats.org/officeDocument/2006/relationships/diagramColors" Target="../diagrams/colors1.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rlopezcano.blogspot.com/2019/02/preguntas-tareas-deinvestigacion-e.html" TargetMode="External"/><Relationship Id="rId2" Type="http://schemas.openxmlformats.org/officeDocument/2006/relationships/image" Target="../media/image3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B1CCF4C-E13A-448B-B7E7-87991D83A0A0}"/>
              </a:ext>
            </a:extLst>
          </p:cNvPr>
          <p:cNvSpPr>
            <a:spLocks noGrp="1"/>
          </p:cNvSpPr>
          <p:nvPr>
            <p:ph type="title"/>
          </p:nvPr>
        </p:nvSpPr>
        <p:spPr>
          <a:xfrm>
            <a:off x="0" y="5490971"/>
            <a:ext cx="8115296" cy="1159200"/>
          </a:xfrm>
          <a:prstGeom prst="ellipse">
            <a:avLst/>
          </a:prstGeom>
        </p:spPr>
        <p:txBody>
          <a:bodyPr vert="horz" lIns="91440" tIns="45720" rIns="91440" bIns="45720" rtlCol="0" anchor="ctr">
            <a:normAutofit fontScale="90000"/>
          </a:bodyPr>
          <a:lstStyle/>
          <a:p>
            <a:r>
              <a:rPr lang="en-US" sz="3700" kern="1200" dirty="0">
                <a:solidFill>
                  <a:srgbClr val="FF0000"/>
                </a:solidFill>
                <a:latin typeface="Verdana" panose="020B0604030504040204" pitchFamily="34" charset="0"/>
                <a:ea typeface="Verdana" panose="020B0604030504040204" pitchFamily="34" charset="0"/>
              </a:rPr>
              <a:t>Bases de </a:t>
            </a:r>
            <a:r>
              <a:rPr lang="en-US" sz="3700" kern="1200" dirty="0" err="1">
                <a:solidFill>
                  <a:srgbClr val="FF0000"/>
                </a:solidFill>
                <a:latin typeface="Verdana" panose="020B0604030504040204" pitchFamily="34" charset="0"/>
                <a:ea typeface="Verdana" panose="020B0604030504040204" pitchFamily="34" charset="0"/>
              </a:rPr>
              <a:t>Datos</a:t>
            </a:r>
            <a:r>
              <a:rPr lang="en-US" sz="3700" kern="1200" dirty="0">
                <a:solidFill>
                  <a:srgbClr val="FF0000"/>
                </a:solidFill>
                <a:latin typeface="Verdana" panose="020B0604030504040204" pitchFamily="34" charset="0"/>
                <a:ea typeface="Verdana" panose="020B0604030504040204" pitchFamily="34" charset="0"/>
              </a:rPr>
              <a:t> </a:t>
            </a:r>
            <a:r>
              <a:rPr lang="en-US" sz="3700" kern="1200" dirty="0" err="1">
                <a:solidFill>
                  <a:srgbClr val="FF0000"/>
                </a:solidFill>
                <a:latin typeface="Verdana" panose="020B0604030504040204" pitchFamily="34" charset="0"/>
                <a:ea typeface="Verdana" panose="020B0604030504040204" pitchFamily="34" charset="0"/>
              </a:rPr>
              <a:t>Tabulares</a:t>
            </a:r>
            <a:endParaRPr lang="en-US" sz="3700" kern="1200" dirty="0">
              <a:solidFill>
                <a:srgbClr val="FF0000"/>
              </a:solidFill>
              <a:latin typeface="Verdana" panose="020B0604030504040204" pitchFamily="34" charset="0"/>
              <a:ea typeface="Verdana" panose="020B0604030504040204" pitchFamily="34" charset="0"/>
            </a:endParaRPr>
          </a:p>
        </p:txBody>
      </p:sp>
      <p:sp>
        <p:nvSpPr>
          <p:cNvPr id="11" name="Content Placeholder 11">
            <a:extLst>
              <a:ext uri="{FF2B5EF4-FFF2-40B4-BE49-F238E27FC236}">
                <a16:creationId xmlns:a16="http://schemas.microsoft.com/office/drawing/2014/main" id="{8EEF96AC-3C61-43C5-9DA2-43D883B865FE}"/>
              </a:ext>
            </a:extLst>
          </p:cNvPr>
          <p:cNvSpPr>
            <a:spLocks noGrp="1"/>
          </p:cNvSpPr>
          <p:nvPr>
            <p:ph idx="1"/>
          </p:nvPr>
        </p:nvSpPr>
        <p:spPr>
          <a:xfrm>
            <a:off x="8456522" y="5633765"/>
            <a:ext cx="3408555" cy="873612"/>
          </a:xfrm>
        </p:spPr>
        <p:txBody>
          <a:bodyPr vert="horz" lIns="91440" tIns="45720" rIns="91440" bIns="45720" rtlCol="0" anchor="ctr">
            <a:normAutofit/>
          </a:bodyPr>
          <a:lstStyle/>
          <a:p>
            <a:pPr marL="0" indent="0">
              <a:buNone/>
            </a:pPr>
            <a:r>
              <a:rPr lang="en-US" sz="2000" b="1" kern="1200">
                <a:solidFill>
                  <a:srgbClr val="FFFFFF"/>
                </a:solidFill>
                <a:latin typeface="+mn-lt"/>
                <a:ea typeface="+mn-ea"/>
                <a:cs typeface="+mn-cs"/>
              </a:rPr>
              <a:t>Facultad de Ingeniería y Ciencias Exáctas</a:t>
            </a:r>
            <a:endParaRPr lang="en-US" sz="2000" kern="1200">
              <a:solidFill>
                <a:srgbClr val="FFFFFF"/>
              </a:solidFill>
              <a:latin typeface="+mn-lt"/>
              <a:ea typeface="+mn-ea"/>
              <a:cs typeface="+mn-cs"/>
            </a:endParaRPr>
          </a:p>
        </p:txBody>
      </p:sp>
      <p:pic>
        <p:nvPicPr>
          <p:cNvPr id="6" name="Imagen 5">
            <a:extLst>
              <a:ext uri="{FF2B5EF4-FFF2-40B4-BE49-F238E27FC236}">
                <a16:creationId xmlns:a16="http://schemas.microsoft.com/office/drawing/2014/main" id="{4C27FCEF-8396-AB43-80C0-4BEE54B9F418}"/>
              </a:ext>
            </a:extLst>
          </p:cNvPr>
          <p:cNvPicPr>
            <a:picLocks noChangeAspect="1"/>
          </p:cNvPicPr>
          <p:nvPr/>
        </p:nvPicPr>
        <p:blipFill>
          <a:blip r:embed="rId2"/>
          <a:stretch>
            <a:fillRect/>
          </a:stretch>
        </p:blipFill>
        <p:spPr>
          <a:xfrm>
            <a:off x="478535" y="1149489"/>
            <a:ext cx="11327549" cy="3001800"/>
          </a:xfrm>
          <a:prstGeom prst="rect">
            <a:avLst/>
          </a:prstGeom>
        </p:spPr>
      </p:pic>
    </p:spTree>
    <p:extLst>
      <p:ext uri="{BB962C8B-B14F-4D97-AF65-F5344CB8AC3E}">
        <p14:creationId xmlns:p14="http://schemas.microsoft.com/office/powerpoint/2010/main" val="2743387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38">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0">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7" name="Rectangle 46">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244668D-9919-19EB-8B3F-03249BE99C97}"/>
              </a:ext>
            </a:extLst>
          </p:cNvPr>
          <p:cNvSpPr>
            <a:spLocks noGrp="1"/>
          </p:cNvSpPr>
          <p:nvPr>
            <p:ph type="title"/>
          </p:nvPr>
        </p:nvSpPr>
        <p:spPr>
          <a:xfrm>
            <a:off x="806825" y="457201"/>
            <a:ext cx="2844800" cy="3588870"/>
          </a:xfrm>
        </p:spPr>
        <p:txBody>
          <a:bodyPr anchor="b">
            <a:normAutofit/>
          </a:bodyPr>
          <a:lstStyle/>
          <a:p>
            <a:pPr algn="r"/>
            <a:r>
              <a:rPr lang="es-AR" sz="4000" dirty="0">
                <a:solidFill>
                  <a:srgbClr val="FFFFFF"/>
                </a:solidFill>
                <a:latin typeface="Verdana" panose="020B0604030504040204" pitchFamily="34" charset="0"/>
                <a:ea typeface="Verdana" panose="020B0604030504040204" pitchFamily="34" charset="0"/>
              </a:rPr>
              <a:t>Base de Datos Tabulares</a:t>
            </a:r>
          </a:p>
        </p:txBody>
      </p:sp>
      <p:sp>
        <p:nvSpPr>
          <p:cNvPr id="3" name="Marcador de contenido 2">
            <a:extLst>
              <a:ext uri="{FF2B5EF4-FFF2-40B4-BE49-F238E27FC236}">
                <a16:creationId xmlns:a16="http://schemas.microsoft.com/office/drawing/2014/main" id="{F679A91F-3FF7-7F17-35A4-76484F3B6AD4}"/>
              </a:ext>
            </a:extLst>
          </p:cNvPr>
          <p:cNvSpPr>
            <a:spLocks noGrp="1"/>
          </p:cNvSpPr>
          <p:nvPr>
            <p:ph idx="1"/>
          </p:nvPr>
        </p:nvSpPr>
        <p:spPr>
          <a:xfrm>
            <a:off x="4649245" y="669364"/>
            <a:ext cx="6949720" cy="3982150"/>
          </a:xfrm>
        </p:spPr>
        <p:txBody>
          <a:bodyPr anchor="ctr">
            <a:normAutofit/>
          </a:bodyPr>
          <a:lstStyle/>
          <a:p>
            <a:pPr>
              <a:spcBef>
                <a:spcPts val="12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También llamadas familia de columnas, columnas extendidas u orientadas a columnas.</a:t>
            </a:r>
          </a:p>
          <a:p>
            <a:pPr>
              <a:spcBef>
                <a:spcPts val="12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Cada fila puede tener una configuración distinta de columnas.</a:t>
            </a:r>
          </a:p>
          <a:p>
            <a:pPr>
              <a:spcBef>
                <a:spcPts val="12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Tuvieron su origen en la base de datos de Google Big Table.</a:t>
            </a:r>
          </a:p>
        </p:txBody>
      </p:sp>
      <p:pic>
        <p:nvPicPr>
          <p:cNvPr id="7" name="Graphic 6" descr="Tabla">
            <a:extLst>
              <a:ext uri="{FF2B5EF4-FFF2-40B4-BE49-F238E27FC236}">
                <a16:creationId xmlns:a16="http://schemas.microsoft.com/office/drawing/2014/main" id="{CADE2568-A4EE-9124-1A83-AC34044709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0031" y="4470565"/>
            <a:ext cx="2381255" cy="2381255"/>
          </a:xfrm>
          <a:prstGeom prst="rect">
            <a:avLst/>
          </a:prstGeom>
        </p:spPr>
      </p:pic>
      <p:pic>
        <p:nvPicPr>
          <p:cNvPr id="5" name="Imagen 4">
            <a:hlinkClick r:id="rId4"/>
            <a:extLst>
              <a:ext uri="{FF2B5EF4-FFF2-40B4-BE49-F238E27FC236}">
                <a16:creationId xmlns:a16="http://schemas.microsoft.com/office/drawing/2014/main" id="{E734A975-B3D7-0667-AD8B-DC22B7D68FD1}"/>
              </a:ext>
            </a:extLst>
          </p:cNvPr>
          <p:cNvPicPr>
            <a:picLocks noChangeAspect="1"/>
          </p:cNvPicPr>
          <p:nvPr/>
        </p:nvPicPr>
        <p:blipFill>
          <a:blip r:embed="rId5"/>
          <a:stretch>
            <a:fillRect/>
          </a:stretch>
        </p:blipFill>
        <p:spPr>
          <a:xfrm>
            <a:off x="7229434" y="4046071"/>
            <a:ext cx="1770945" cy="2395235"/>
          </a:xfrm>
          <a:prstGeom prst="rect">
            <a:avLst/>
          </a:prstGeom>
        </p:spPr>
      </p:pic>
    </p:spTree>
    <p:extLst>
      <p:ext uri="{BB962C8B-B14F-4D97-AF65-F5344CB8AC3E}">
        <p14:creationId xmlns:p14="http://schemas.microsoft.com/office/powerpoint/2010/main" val="3634457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09A00EB-4F2C-A8B2-65BF-9E9F7A960BB4}"/>
              </a:ext>
            </a:extLst>
          </p:cNvPr>
          <p:cNvSpPr>
            <a:spLocks noGrp="1"/>
          </p:cNvSpPr>
          <p:nvPr>
            <p:ph idx="1"/>
          </p:nvPr>
        </p:nvSpPr>
        <p:spPr>
          <a:xfrm>
            <a:off x="4126449" y="649480"/>
            <a:ext cx="7760751" cy="5546047"/>
          </a:xfrm>
        </p:spPr>
        <p:txBody>
          <a:bodyPr anchor="ctr">
            <a:noAutofit/>
          </a:bodyPr>
          <a:lstStyle/>
          <a:p>
            <a:pPr algn="just">
              <a:lnSpc>
                <a:spcPct val="100000"/>
              </a:lnSpc>
              <a:spcBef>
                <a:spcPts val="18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Similar a una base de datos relacional, pero sin utilizar el modelo relacional tradicional.</a:t>
            </a:r>
          </a:p>
          <a:p>
            <a:pPr algn="just">
              <a:lnSpc>
                <a:spcPct val="100000"/>
              </a:lnSpc>
              <a:spcBef>
                <a:spcPts val="18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No tienen un esquema fijo y predefinido.</a:t>
            </a:r>
          </a:p>
          <a:p>
            <a:pPr algn="just">
              <a:lnSpc>
                <a:spcPct val="100000"/>
              </a:lnSpc>
              <a:spcBef>
                <a:spcPts val="18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Cada fila puede tener diferentes columnas, lo que permite manejar datos con estructuras variables.</a:t>
            </a:r>
          </a:p>
          <a:p>
            <a:pPr algn="just">
              <a:lnSpc>
                <a:spcPct val="100000"/>
              </a:lnSpc>
              <a:spcBef>
                <a:spcPts val="18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Altamente escalables y capaces de manejar grandes volúmenes de datos distribuidos a través de múltiples servidores.</a:t>
            </a:r>
          </a:p>
          <a:p>
            <a:pPr algn="just">
              <a:lnSpc>
                <a:spcPct val="100000"/>
              </a:lnSpc>
              <a:spcBef>
                <a:spcPts val="18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Alto rendimiento en lectura y escritura, especialmente en entornos distribuidas.</a:t>
            </a:r>
          </a:p>
          <a:p>
            <a:pPr algn="just">
              <a:lnSpc>
                <a:spcPct val="100000"/>
              </a:lnSpc>
              <a:spcBef>
                <a:spcPts val="1800"/>
              </a:spcBef>
              <a:spcAft>
                <a:spcPts val="6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Priorizan la disponibilidad y la partición de datos sobre la consistencia fuerte.</a:t>
            </a:r>
          </a:p>
        </p:txBody>
      </p:sp>
      <p:sp>
        <p:nvSpPr>
          <p:cNvPr id="4" name="Título 1">
            <a:extLst>
              <a:ext uri="{FF2B5EF4-FFF2-40B4-BE49-F238E27FC236}">
                <a16:creationId xmlns:a16="http://schemas.microsoft.com/office/drawing/2014/main" id="{E3E8A36C-D86B-1F94-FE3E-76AB11AEBC61}"/>
              </a:ext>
            </a:extLst>
          </p:cNvPr>
          <p:cNvSpPr>
            <a:spLocks noGrp="1"/>
          </p:cNvSpPr>
          <p:nvPr>
            <p:ph type="title"/>
          </p:nvPr>
        </p:nvSpPr>
        <p:spPr>
          <a:xfrm>
            <a:off x="225476" y="564958"/>
            <a:ext cx="3586863" cy="3588870"/>
          </a:xfrm>
        </p:spPr>
        <p:txBody>
          <a:bodyPr anchor="b">
            <a:normAutofit/>
          </a:bodyPr>
          <a:lstStyle/>
          <a:p>
            <a:pPr algn="ctr"/>
            <a:r>
              <a:rPr lang="es-AR" sz="3600" dirty="0">
                <a:solidFill>
                  <a:srgbClr val="FFFFFF"/>
                </a:solidFill>
                <a:latin typeface="Verdana" panose="020B0604030504040204" pitchFamily="34" charset="0"/>
                <a:ea typeface="Verdana" panose="020B0604030504040204" pitchFamily="34" charset="0"/>
              </a:rPr>
              <a:t>Base de Datos Tabulares</a:t>
            </a:r>
            <a:br>
              <a:rPr lang="es-AR" sz="3600" dirty="0">
                <a:solidFill>
                  <a:srgbClr val="FFFFFF"/>
                </a:solidFill>
                <a:latin typeface="Verdana" panose="020B0604030504040204" pitchFamily="34" charset="0"/>
                <a:ea typeface="Verdana" panose="020B0604030504040204" pitchFamily="34" charset="0"/>
              </a:rPr>
            </a:br>
            <a:r>
              <a:rPr lang="es-AR" sz="3600" dirty="0">
                <a:solidFill>
                  <a:srgbClr val="FFFFFF"/>
                </a:solidFill>
                <a:latin typeface="Verdana" panose="020B0604030504040204" pitchFamily="34" charset="0"/>
                <a:ea typeface="Verdana" panose="020B0604030504040204" pitchFamily="34" charset="0"/>
              </a:rPr>
              <a:t>Características</a:t>
            </a:r>
          </a:p>
        </p:txBody>
      </p:sp>
    </p:spTree>
    <p:extLst>
      <p:ext uri="{BB962C8B-B14F-4D97-AF65-F5344CB8AC3E}">
        <p14:creationId xmlns:p14="http://schemas.microsoft.com/office/powerpoint/2010/main" val="1950903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85AF8D-7E1F-B651-2ED1-B4FE02D25042}"/>
              </a:ext>
            </a:extLst>
          </p:cNvPr>
          <p:cNvSpPr>
            <a:spLocks noGrp="1"/>
          </p:cNvSpPr>
          <p:nvPr>
            <p:ph type="title"/>
          </p:nvPr>
        </p:nvSpPr>
        <p:spPr>
          <a:xfrm>
            <a:off x="161925" y="586855"/>
            <a:ext cx="3739048" cy="3387497"/>
          </a:xfrm>
        </p:spPr>
        <p:txBody>
          <a:bodyPr anchor="b">
            <a:normAutofit/>
          </a:bodyPr>
          <a:lstStyle/>
          <a:p>
            <a:pPr algn="ctr"/>
            <a:r>
              <a:rPr lang="es-AR" sz="3600" dirty="0">
                <a:solidFill>
                  <a:srgbClr val="FFFFFF"/>
                </a:solidFill>
                <a:latin typeface="Verdana" panose="020B0604030504040204" pitchFamily="34" charset="0"/>
                <a:ea typeface="Verdana" panose="020B0604030504040204" pitchFamily="34" charset="0"/>
              </a:rPr>
              <a:t>Son Buenas…</a:t>
            </a:r>
          </a:p>
        </p:txBody>
      </p:sp>
      <p:sp>
        <p:nvSpPr>
          <p:cNvPr id="3" name="Marcador de contenido 2">
            <a:extLst>
              <a:ext uri="{FF2B5EF4-FFF2-40B4-BE49-F238E27FC236}">
                <a16:creationId xmlns:a16="http://schemas.microsoft.com/office/drawing/2014/main" id="{AB777484-CBC3-F43A-A228-5FC03EACD2D3}"/>
              </a:ext>
            </a:extLst>
          </p:cNvPr>
          <p:cNvSpPr>
            <a:spLocks noGrp="1"/>
          </p:cNvSpPr>
          <p:nvPr>
            <p:ph idx="1"/>
          </p:nvPr>
        </p:nvSpPr>
        <p:spPr>
          <a:xfrm>
            <a:off x="4810259" y="649480"/>
            <a:ext cx="6555347" cy="5546047"/>
          </a:xfrm>
        </p:spPr>
        <p:txBody>
          <a:bodyPr anchor="ctr">
            <a:noAutofit/>
          </a:bodyPr>
          <a:lstStyle/>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Registrar información de eventos (estado de aplicaciones o errores)</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Datos de blog (aprovechando la capacidad de grabación) </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Log de operaciones.</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Lecturas concurrentes sin consistencias.</a:t>
            </a:r>
          </a:p>
        </p:txBody>
      </p:sp>
    </p:spTree>
    <p:extLst>
      <p:ext uri="{BB962C8B-B14F-4D97-AF65-F5344CB8AC3E}">
        <p14:creationId xmlns:p14="http://schemas.microsoft.com/office/powerpoint/2010/main" val="2535293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85AF8D-7E1F-B651-2ED1-B4FE02D25042}"/>
              </a:ext>
            </a:extLst>
          </p:cNvPr>
          <p:cNvSpPr>
            <a:spLocks noGrp="1"/>
          </p:cNvSpPr>
          <p:nvPr>
            <p:ph type="title"/>
          </p:nvPr>
        </p:nvSpPr>
        <p:spPr>
          <a:xfrm>
            <a:off x="161925" y="586855"/>
            <a:ext cx="3739048" cy="3387497"/>
          </a:xfrm>
        </p:spPr>
        <p:txBody>
          <a:bodyPr anchor="b">
            <a:normAutofit/>
          </a:bodyPr>
          <a:lstStyle/>
          <a:p>
            <a:pPr algn="ctr"/>
            <a:r>
              <a:rPr lang="es-AR" sz="3600" dirty="0">
                <a:solidFill>
                  <a:srgbClr val="FFFFFF"/>
                </a:solidFill>
                <a:latin typeface="Verdana" panose="020B0604030504040204" pitchFamily="34" charset="0"/>
                <a:ea typeface="Verdana" panose="020B0604030504040204" pitchFamily="34" charset="0"/>
              </a:rPr>
              <a:t>No son Buenas…</a:t>
            </a:r>
          </a:p>
        </p:txBody>
      </p:sp>
      <p:sp>
        <p:nvSpPr>
          <p:cNvPr id="3" name="Marcador de contenido 2">
            <a:extLst>
              <a:ext uri="{FF2B5EF4-FFF2-40B4-BE49-F238E27FC236}">
                <a16:creationId xmlns:a16="http://schemas.microsoft.com/office/drawing/2014/main" id="{AB777484-CBC3-F43A-A228-5FC03EACD2D3}"/>
              </a:ext>
            </a:extLst>
          </p:cNvPr>
          <p:cNvSpPr>
            <a:spLocks noGrp="1"/>
          </p:cNvSpPr>
          <p:nvPr>
            <p:ph idx="1"/>
          </p:nvPr>
        </p:nvSpPr>
        <p:spPr>
          <a:xfrm>
            <a:off x="4810259" y="649480"/>
            <a:ext cx="6555347" cy="5546047"/>
          </a:xfrm>
        </p:spPr>
        <p:txBody>
          <a:bodyPr anchor="ctr">
            <a:noAutofit/>
          </a:bodyPr>
          <a:lstStyle/>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Los datos no se ajustan bien a una estructura tabular.</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Consultas con agregación de datos.</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Altos volúmenes de lectura y escritura concurrentes.</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Operaciones transaccionadas.</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Relaciones complejas entre los datos.</a:t>
            </a:r>
          </a:p>
          <a:p>
            <a:pPr algn="just">
              <a:lnSpc>
                <a:spcPct val="100000"/>
              </a:lnSpc>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Prototipos tempranos</a:t>
            </a:r>
          </a:p>
        </p:txBody>
      </p:sp>
    </p:spTree>
    <p:extLst>
      <p:ext uri="{BB962C8B-B14F-4D97-AF65-F5344CB8AC3E}">
        <p14:creationId xmlns:p14="http://schemas.microsoft.com/office/powerpoint/2010/main" val="4151464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85AF8D-7E1F-B651-2ED1-B4FE02D25042}"/>
              </a:ext>
            </a:extLst>
          </p:cNvPr>
          <p:cNvSpPr>
            <a:spLocks noGrp="1"/>
          </p:cNvSpPr>
          <p:nvPr>
            <p:ph type="title"/>
          </p:nvPr>
        </p:nvSpPr>
        <p:spPr>
          <a:xfrm>
            <a:off x="161925" y="586855"/>
            <a:ext cx="3739048" cy="3387497"/>
          </a:xfrm>
        </p:spPr>
        <p:txBody>
          <a:bodyPr anchor="b">
            <a:normAutofit/>
          </a:bodyPr>
          <a:lstStyle/>
          <a:p>
            <a:pPr algn="ctr"/>
            <a:r>
              <a:rPr lang="es-AR" sz="3600" dirty="0">
                <a:solidFill>
                  <a:srgbClr val="FFFFFF"/>
                </a:solidFill>
                <a:latin typeface="Verdana" panose="020B0604030504040204" pitchFamily="34" charset="0"/>
                <a:ea typeface="Verdana" panose="020B0604030504040204" pitchFamily="34" charset="0"/>
              </a:rPr>
              <a:t>Principales</a:t>
            </a:r>
            <a:br>
              <a:rPr lang="es-AR" sz="3600" dirty="0">
                <a:solidFill>
                  <a:srgbClr val="FFFFFF"/>
                </a:solidFill>
                <a:latin typeface="Verdana" panose="020B0604030504040204" pitchFamily="34" charset="0"/>
                <a:ea typeface="Verdana" panose="020B0604030504040204" pitchFamily="34" charset="0"/>
              </a:rPr>
            </a:br>
            <a:r>
              <a:rPr lang="es-AR" sz="3600" dirty="0">
                <a:solidFill>
                  <a:srgbClr val="FFFFFF"/>
                </a:solidFill>
                <a:latin typeface="Verdana" panose="020B0604030504040204" pitchFamily="34" charset="0"/>
                <a:ea typeface="Verdana" panose="020B0604030504040204" pitchFamily="34" charset="0"/>
              </a:rPr>
              <a:t>Clientes</a:t>
            </a:r>
          </a:p>
        </p:txBody>
      </p:sp>
      <p:pic>
        <p:nvPicPr>
          <p:cNvPr id="7" name="Imagen 6">
            <a:extLst>
              <a:ext uri="{FF2B5EF4-FFF2-40B4-BE49-F238E27FC236}">
                <a16:creationId xmlns:a16="http://schemas.microsoft.com/office/drawing/2014/main" id="{5E624E43-A0C4-B053-4252-BA1CA00F25E6}"/>
              </a:ext>
            </a:extLst>
          </p:cNvPr>
          <p:cNvPicPr>
            <a:picLocks noChangeAspect="1"/>
          </p:cNvPicPr>
          <p:nvPr/>
        </p:nvPicPr>
        <p:blipFill>
          <a:blip r:embed="rId2"/>
          <a:stretch>
            <a:fillRect/>
          </a:stretch>
        </p:blipFill>
        <p:spPr>
          <a:xfrm>
            <a:off x="4414448" y="2755817"/>
            <a:ext cx="2829320" cy="962159"/>
          </a:xfrm>
          <a:prstGeom prst="rect">
            <a:avLst/>
          </a:prstGeom>
        </p:spPr>
      </p:pic>
      <p:pic>
        <p:nvPicPr>
          <p:cNvPr id="11" name="Imagen 10">
            <a:extLst>
              <a:ext uri="{FF2B5EF4-FFF2-40B4-BE49-F238E27FC236}">
                <a16:creationId xmlns:a16="http://schemas.microsoft.com/office/drawing/2014/main" id="{C1918315-5877-52BD-B3BD-757E7FD18746}"/>
              </a:ext>
            </a:extLst>
          </p:cNvPr>
          <p:cNvPicPr>
            <a:picLocks noChangeAspect="1"/>
          </p:cNvPicPr>
          <p:nvPr/>
        </p:nvPicPr>
        <p:blipFill>
          <a:blip r:embed="rId3"/>
          <a:stretch>
            <a:fillRect/>
          </a:stretch>
        </p:blipFill>
        <p:spPr>
          <a:xfrm>
            <a:off x="7996078" y="5552891"/>
            <a:ext cx="3343742" cy="885949"/>
          </a:xfrm>
          <a:prstGeom prst="rect">
            <a:avLst/>
          </a:prstGeom>
        </p:spPr>
      </p:pic>
      <p:pic>
        <p:nvPicPr>
          <p:cNvPr id="15" name="Imagen 14">
            <a:extLst>
              <a:ext uri="{FF2B5EF4-FFF2-40B4-BE49-F238E27FC236}">
                <a16:creationId xmlns:a16="http://schemas.microsoft.com/office/drawing/2014/main" id="{4D68C26B-1075-92D4-C59F-230714CD1DBE}"/>
              </a:ext>
            </a:extLst>
          </p:cNvPr>
          <p:cNvPicPr>
            <a:picLocks noChangeAspect="1"/>
          </p:cNvPicPr>
          <p:nvPr/>
        </p:nvPicPr>
        <p:blipFill>
          <a:blip r:embed="rId4"/>
          <a:stretch>
            <a:fillRect/>
          </a:stretch>
        </p:blipFill>
        <p:spPr>
          <a:xfrm>
            <a:off x="8400948" y="874402"/>
            <a:ext cx="2534004" cy="1219370"/>
          </a:xfrm>
          <a:prstGeom prst="rect">
            <a:avLst/>
          </a:prstGeom>
        </p:spPr>
      </p:pic>
      <p:pic>
        <p:nvPicPr>
          <p:cNvPr id="19" name="Imagen 18">
            <a:extLst>
              <a:ext uri="{FF2B5EF4-FFF2-40B4-BE49-F238E27FC236}">
                <a16:creationId xmlns:a16="http://schemas.microsoft.com/office/drawing/2014/main" id="{B9AFC816-8853-0EB8-6C16-F7F94B2ED07F}"/>
              </a:ext>
            </a:extLst>
          </p:cNvPr>
          <p:cNvPicPr>
            <a:picLocks noChangeAspect="1"/>
          </p:cNvPicPr>
          <p:nvPr/>
        </p:nvPicPr>
        <p:blipFill>
          <a:blip r:embed="rId5"/>
          <a:stretch>
            <a:fillRect/>
          </a:stretch>
        </p:blipFill>
        <p:spPr>
          <a:xfrm>
            <a:off x="8129448" y="2331330"/>
            <a:ext cx="3077004" cy="600159"/>
          </a:xfrm>
          <a:prstGeom prst="rect">
            <a:avLst/>
          </a:prstGeom>
        </p:spPr>
      </p:pic>
      <p:pic>
        <p:nvPicPr>
          <p:cNvPr id="22" name="Imagen 21">
            <a:extLst>
              <a:ext uri="{FF2B5EF4-FFF2-40B4-BE49-F238E27FC236}">
                <a16:creationId xmlns:a16="http://schemas.microsoft.com/office/drawing/2014/main" id="{F280970C-6038-417F-BACD-BF7C3FCDEA37}"/>
              </a:ext>
            </a:extLst>
          </p:cNvPr>
          <p:cNvPicPr>
            <a:picLocks noChangeAspect="1"/>
          </p:cNvPicPr>
          <p:nvPr/>
        </p:nvPicPr>
        <p:blipFill>
          <a:blip r:embed="rId6"/>
          <a:stretch>
            <a:fillRect/>
          </a:stretch>
        </p:blipFill>
        <p:spPr>
          <a:xfrm>
            <a:off x="8877264" y="3400392"/>
            <a:ext cx="1581371" cy="523948"/>
          </a:xfrm>
          <a:prstGeom prst="rect">
            <a:avLst/>
          </a:prstGeom>
        </p:spPr>
      </p:pic>
      <p:pic>
        <p:nvPicPr>
          <p:cNvPr id="24" name="Imagen 23">
            <a:extLst>
              <a:ext uri="{FF2B5EF4-FFF2-40B4-BE49-F238E27FC236}">
                <a16:creationId xmlns:a16="http://schemas.microsoft.com/office/drawing/2014/main" id="{C9412A46-BC40-B069-7B63-08F952F5AC9C}"/>
              </a:ext>
            </a:extLst>
          </p:cNvPr>
          <p:cNvPicPr>
            <a:picLocks noChangeAspect="1"/>
          </p:cNvPicPr>
          <p:nvPr/>
        </p:nvPicPr>
        <p:blipFill>
          <a:blip r:embed="rId7"/>
          <a:stretch>
            <a:fillRect/>
          </a:stretch>
        </p:blipFill>
        <p:spPr>
          <a:xfrm>
            <a:off x="5208348" y="3935086"/>
            <a:ext cx="1352739" cy="838317"/>
          </a:xfrm>
          <a:prstGeom prst="rect">
            <a:avLst/>
          </a:prstGeom>
        </p:spPr>
      </p:pic>
      <p:pic>
        <p:nvPicPr>
          <p:cNvPr id="26" name="Imagen 25">
            <a:extLst>
              <a:ext uri="{FF2B5EF4-FFF2-40B4-BE49-F238E27FC236}">
                <a16:creationId xmlns:a16="http://schemas.microsoft.com/office/drawing/2014/main" id="{097E6BDE-04B9-C5E4-04E5-B7C3D80F1713}"/>
              </a:ext>
            </a:extLst>
          </p:cNvPr>
          <p:cNvPicPr>
            <a:picLocks noChangeAspect="1"/>
          </p:cNvPicPr>
          <p:nvPr/>
        </p:nvPicPr>
        <p:blipFill>
          <a:blip r:embed="rId8"/>
          <a:stretch>
            <a:fillRect/>
          </a:stretch>
        </p:blipFill>
        <p:spPr>
          <a:xfrm>
            <a:off x="5418068" y="5270538"/>
            <a:ext cx="924054" cy="924054"/>
          </a:xfrm>
          <a:prstGeom prst="rect">
            <a:avLst/>
          </a:prstGeom>
        </p:spPr>
      </p:pic>
      <p:pic>
        <p:nvPicPr>
          <p:cNvPr id="28" name="Imagen 27">
            <a:extLst>
              <a:ext uri="{FF2B5EF4-FFF2-40B4-BE49-F238E27FC236}">
                <a16:creationId xmlns:a16="http://schemas.microsoft.com/office/drawing/2014/main" id="{6B83BC97-5E64-313D-4C58-C96513A69B39}"/>
              </a:ext>
            </a:extLst>
          </p:cNvPr>
          <p:cNvPicPr>
            <a:picLocks noChangeAspect="1"/>
          </p:cNvPicPr>
          <p:nvPr/>
        </p:nvPicPr>
        <p:blipFill>
          <a:blip r:embed="rId9"/>
          <a:stretch>
            <a:fillRect/>
          </a:stretch>
        </p:blipFill>
        <p:spPr>
          <a:xfrm>
            <a:off x="8896317" y="4356016"/>
            <a:ext cx="2038635" cy="876422"/>
          </a:xfrm>
          <a:prstGeom prst="rect">
            <a:avLst/>
          </a:prstGeom>
        </p:spPr>
      </p:pic>
      <p:pic>
        <p:nvPicPr>
          <p:cNvPr id="30" name="Imagen 29">
            <a:extLst>
              <a:ext uri="{FF2B5EF4-FFF2-40B4-BE49-F238E27FC236}">
                <a16:creationId xmlns:a16="http://schemas.microsoft.com/office/drawing/2014/main" id="{FE6E889C-86BF-86EB-5FD9-2501239FCCD4}"/>
              </a:ext>
            </a:extLst>
          </p:cNvPr>
          <p:cNvPicPr>
            <a:picLocks noChangeAspect="1"/>
          </p:cNvPicPr>
          <p:nvPr/>
        </p:nvPicPr>
        <p:blipFill>
          <a:blip r:embed="rId10"/>
          <a:stretch>
            <a:fillRect/>
          </a:stretch>
        </p:blipFill>
        <p:spPr>
          <a:xfrm>
            <a:off x="5103699" y="1007796"/>
            <a:ext cx="1552792" cy="590632"/>
          </a:xfrm>
          <a:prstGeom prst="rect">
            <a:avLst/>
          </a:prstGeom>
        </p:spPr>
      </p:pic>
      <p:pic>
        <p:nvPicPr>
          <p:cNvPr id="32" name="Imagen 31">
            <a:extLst>
              <a:ext uri="{FF2B5EF4-FFF2-40B4-BE49-F238E27FC236}">
                <a16:creationId xmlns:a16="http://schemas.microsoft.com/office/drawing/2014/main" id="{BF923FAB-32D3-7667-C196-67DE007883C8}"/>
              </a:ext>
            </a:extLst>
          </p:cNvPr>
          <p:cNvPicPr>
            <a:picLocks noChangeAspect="1"/>
          </p:cNvPicPr>
          <p:nvPr/>
        </p:nvPicPr>
        <p:blipFill>
          <a:blip r:embed="rId11"/>
          <a:stretch>
            <a:fillRect/>
          </a:stretch>
        </p:blipFill>
        <p:spPr>
          <a:xfrm>
            <a:off x="5013199" y="1739188"/>
            <a:ext cx="1733792" cy="962159"/>
          </a:xfrm>
          <a:prstGeom prst="rect">
            <a:avLst/>
          </a:prstGeom>
        </p:spPr>
      </p:pic>
    </p:spTree>
    <p:extLst>
      <p:ext uri="{BB962C8B-B14F-4D97-AF65-F5344CB8AC3E}">
        <p14:creationId xmlns:p14="http://schemas.microsoft.com/office/powerpoint/2010/main" val="3341596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1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1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0">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Isosceles Triangle 2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a:hlinkClick r:id="rId2"/>
            <a:extLst>
              <a:ext uri="{FF2B5EF4-FFF2-40B4-BE49-F238E27FC236}">
                <a16:creationId xmlns:a16="http://schemas.microsoft.com/office/drawing/2014/main" id="{9F72ED0A-3860-C4E6-9FB6-3B4549AC9CC2}"/>
              </a:ext>
            </a:extLst>
          </p:cNvPr>
          <p:cNvPicPr>
            <a:picLocks noGrp="1" noChangeAspect="1"/>
          </p:cNvPicPr>
          <p:nvPr>
            <p:ph idx="1"/>
          </p:nvPr>
        </p:nvPicPr>
        <p:blipFill>
          <a:blip r:embed="rId3"/>
          <a:stretch>
            <a:fillRect/>
          </a:stretch>
        </p:blipFill>
        <p:spPr>
          <a:xfrm>
            <a:off x="643467" y="1084410"/>
            <a:ext cx="10905066" cy="4689179"/>
          </a:xfrm>
          <a:prstGeom prst="rect">
            <a:avLst/>
          </a:prstGeom>
          <a:ln>
            <a:noFill/>
          </a:ln>
        </p:spPr>
      </p:pic>
      <p:sp>
        <p:nvSpPr>
          <p:cNvPr id="29" name="Isosceles Triangle 2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5220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DB86462E-FCFA-9A8A-3C80-8ACAC7A53CC1}"/>
              </a:ext>
            </a:extLst>
          </p:cNvPr>
          <p:cNvSpPr>
            <a:spLocks noGrp="1"/>
          </p:cNvSpPr>
          <p:nvPr>
            <p:ph type="title"/>
          </p:nvPr>
        </p:nvSpPr>
        <p:spPr>
          <a:xfrm>
            <a:off x="455066" y="2767106"/>
            <a:ext cx="3145383" cy="3071906"/>
          </a:xfrm>
        </p:spPr>
        <p:txBody>
          <a:bodyPr vert="horz" lIns="91440" tIns="45720" rIns="91440" bIns="45720" rtlCol="0" anchor="t">
            <a:normAutofit/>
          </a:bodyPr>
          <a:lstStyle/>
          <a:p>
            <a:r>
              <a:rPr lang="en-US" sz="3600" kern="1200" dirty="0">
                <a:solidFill>
                  <a:srgbClr val="FFFFFF"/>
                </a:solidFill>
                <a:latin typeface="Verdana" panose="020B0604030504040204" pitchFamily="34" charset="0"/>
                <a:ea typeface="Verdana" panose="020B0604030504040204" pitchFamily="34" charset="0"/>
              </a:rPr>
              <a:t>Un poco de </a:t>
            </a:r>
            <a:r>
              <a:rPr lang="en-US" sz="3600" kern="1200" dirty="0" err="1">
                <a:solidFill>
                  <a:srgbClr val="FFFFFF"/>
                </a:solidFill>
                <a:latin typeface="Verdana" panose="020B0604030504040204" pitchFamily="34" charset="0"/>
                <a:ea typeface="Verdana" panose="020B0604030504040204" pitchFamily="34" charset="0"/>
              </a:rPr>
              <a:t>terminología</a:t>
            </a:r>
            <a:endParaRPr lang="en-US" sz="3600" kern="1200" dirty="0">
              <a:solidFill>
                <a:srgbClr val="FFFFFF"/>
              </a:solidFill>
              <a:latin typeface="Verdana" panose="020B0604030504040204" pitchFamily="34" charset="0"/>
              <a:ea typeface="Verdana" panose="020B0604030504040204" pitchFamily="34" charset="0"/>
            </a:endParaRPr>
          </a:p>
        </p:txBody>
      </p:sp>
      <p:graphicFrame>
        <p:nvGraphicFramePr>
          <p:cNvPr id="4" name="Marcador de contenido 3">
            <a:extLst>
              <a:ext uri="{FF2B5EF4-FFF2-40B4-BE49-F238E27FC236}">
                <a16:creationId xmlns:a16="http://schemas.microsoft.com/office/drawing/2014/main" id="{301F927D-3877-7D60-03DA-D3AD83EFB2A2}"/>
              </a:ext>
            </a:extLst>
          </p:cNvPr>
          <p:cNvGraphicFramePr>
            <a:graphicFrameLocks noGrp="1"/>
          </p:cNvGraphicFramePr>
          <p:nvPr>
            <p:ph idx="1"/>
            <p:extLst>
              <p:ext uri="{D42A27DB-BD31-4B8C-83A1-F6EECF244321}">
                <p14:modId xmlns:p14="http://schemas.microsoft.com/office/powerpoint/2010/main" val="3358776189"/>
              </p:ext>
            </p:extLst>
          </p:nvPr>
        </p:nvGraphicFramePr>
        <p:xfrm>
          <a:off x="4502428" y="991407"/>
          <a:ext cx="7225749" cy="4875190"/>
        </p:xfrm>
        <a:graphic>
          <a:graphicData uri="http://schemas.openxmlformats.org/drawingml/2006/table">
            <a:tbl>
              <a:tblPr firstRow="1" bandRow="1">
                <a:tableStyleId>{8EC20E35-A176-4012-BC5E-935CFFF8708E}</a:tableStyleId>
              </a:tblPr>
              <a:tblGrid>
                <a:gridCol w="3072255">
                  <a:extLst>
                    <a:ext uri="{9D8B030D-6E8A-4147-A177-3AD203B41FA5}">
                      <a16:colId xmlns:a16="http://schemas.microsoft.com/office/drawing/2014/main" val="2058433690"/>
                    </a:ext>
                  </a:extLst>
                </a:gridCol>
                <a:gridCol w="4153494">
                  <a:extLst>
                    <a:ext uri="{9D8B030D-6E8A-4147-A177-3AD203B41FA5}">
                      <a16:colId xmlns:a16="http://schemas.microsoft.com/office/drawing/2014/main" val="1242294591"/>
                    </a:ext>
                  </a:extLst>
                </a:gridCol>
              </a:tblGrid>
              <a:tr h="656149">
                <a:tc>
                  <a:txBody>
                    <a:bodyPr/>
                    <a:lstStyle/>
                    <a:p>
                      <a:pPr algn="ctr"/>
                      <a:r>
                        <a:rPr lang="es-AR" sz="3100"/>
                        <a:t>Relacional</a:t>
                      </a:r>
                      <a:endParaRPr lang="es-AR" sz="3100">
                        <a:latin typeface="Verdana" panose="020B0604030504040204" pitchFamily="34" charset="0"/>
                        <a:ea typeface="Verdana" panose="020B0604030504040204" pitchFamily="34" charset="0"/>
                      </a:endParaRPr>
                    </a:p>
                  </a:txBody>
                  <a:tcPr marL="140085" marR="140085" marT="70043" marB="70043" anchor="ctr"/>
                </a:tc>
                <a:tc>
                  <a:txBody>
                    <a:bodyPr/>
                    <a:lstStyle/>
                    <a:p>
                      <a:pPr algn="ctr"/>
                      <a:r>
                        <a:rPr lang="es-AR" sz="3100"/>
                        <a:t>Tabular</a:t>
                      </a:r>
                      <a:endParaRPr lang="es-AR" sz="3100">
                        <a:latin typeface="Verdana" panose="020B0604030504040204" pitchFamily="34" charset="0"/>
                        <a:ea typeface="Verdana" panose="020B0604030504040204" pitchFamily="34" charset="0"/>
                      </a:endParaRPr>
                    </a:p>
                  </a:txBody>
                  <a:tcPr marL="140085" marR="140085" marT="70043" marB="70043" anchor="ctr"/>
                </a:tc>
                <a:extLst>
                  <a:ext uri="{0D108BD9-81ED-4DB2-BD59-A6C34878D82A}">
                    <a16:rowId xmlns:a16="http://schemas.microsoft.com/office/drawing/2014/main" val="2947590038"/>
                  </a:ext>
                </a:extLst>
              </a:tr>
              <a:tr h="656149">
                <a:tc>
                  <a:txBody>
                    <a:bodyPr/>
                    <a:lstStyle/>
                    <a:p>
                      <a:pPr algn="ctr"/>
                      <a:r>
                        <a:rPr lang="es-AR" sz="3100"/>
                        <a:t>DBMS</a:t>
                      </a:r>
                      <a:endParaRPr lang="es-AR" sz="3100">
                        <a:latin typeface="Verdana" panose="020B0604030504040204" pitchFamily="34" charset="0"/>
                        <a:ea typeface="Verdana" panose="020B0604030504040204" pitchFamily="34" charset="0"/>
                      </a:endParaRPr>
                    </a:p>
                  </a:txBody>
                  <a:tcPr marL="140085" marR="140085" marT="70043" marB="70043" anchor="ctr"/>
                </a:tc>
                <a:tc>
                  <a:txBody>
                    <a:bodyPr/>
                    <a:lstStyle/>
                    <a:p>
                      <a:pPr algn="ctr"/>
                      <a:r>
                        <a:rPr lang="es-AR" sz="3100"/>
                        <a:t>Cluster</a:t>
                      </a:r>
                      <a:endParaRPr lang="es-AR" sz="3100">
                        <a:latin typeface="Verdana" panose="020B0604030504040204" pitchFamily="34" charset="0"/>
                        <a:ea typeface="Verdana" panose="020B0604030504040204" pitchFamily="34" charset="0"/>
                      </a:endParaRPr>
                    </a:p>
                  </a:txBody>
                  <a:tcPr marL="140085" marR="140085" marT="70043" marB="70043" anchor="ctr"/>
                </a:tc>
                <a:extLst>
                  <a:ext uri="{0D108BD9-81ED-4DB2-BD59-A6C34878D82A}">
                    <a16:rowId xmlns:a16="http://schemas.microsoft.com/office/drawing/2014/main" val="109153462"/>
                  </a:ext>
                </a:extLst>
              </a:tr>
              <a:tr h="1125297">
                <a:tc>
                  <a:txBody>
                    <a:bodyPr/>
                    <a:lstStyle/>
                    <a:p>
                      <a:pPr algn="ctr"/>
                      <a:r>
                        <a:rPr lang="es-AR" sz="3100"/>
                        <a:t>Base de Datos</a:t>
                      </a:r>
                      <a:endParaRPr lang="es-AR" sz="3100">
                        <a:latin typeface="Verdana" panose="020B0604030504040204" pitchFamily="34" charset="0"/>
                        <a:ea typeface="Verdana" panose="020B0604030504040204" pitchFamily="34" charset="0"/>
                      </a:endParaRPr>
                    </a:p>
                  </a:txBody>
                  <a:tcPr marL="140085" marR="140085" marT="70043" marB="70043" anchor="ctr"/>
                </a:tc>
                <a:tc>
                  <a:txBody>
                    <a:bodyPr/>
                    <a:lstStyle/>
                    <a:p>
                      <a:pPr algn="ctr"/>
                      <a:r>
                        <a:rPr lang="es-AR" sz="3100"/>
                        <a:t>Espacio de Claves (KeySpace)</a:t>
                      </a:r>
                      <a:endParaRPr lang="es-AR" sz="3100">
                        <a:latin typeface="Verdana" panose="020B0604030504040204" pitchFamily="34" charset="0"/>
                        <a:ea typeface="Verdana" panose="020B0604030504040204" pitchFamily="34" charset="0"/>
                      </a:endParaRPr>
                    </a:p>
                  </a:txBody>
                  <a:tcPr marL="140085" marR="140085" marT="70043" marB="70043" anchor="ctr"/>
                </a:tc>
                <a:extLst>
                  <a:ext uri="{0D108BD9-81ED-4DB2-BD59-A6C34878D82A}">
                    <a16:rowId xmlns:a16="http://schemas.microsoft.com/office/drawing/2014/main" val="2929281020"/>
                  </a:ext>
                </a:extLst>
              </a:tr>
              <a:tr h="1125297">
                <a:tc>
                  <a:txBody>
                    <a:bodyPr/>
                    <a:lstStyle/>
                    <a:p>
                      <a:pPr algn="ctr"/>
                      <a:r>
                        <a:rPr lang="es-AR" sz="3100"/>
                        <a:t>Tabla </a:t>
                      </a:r>
                      <a:endParaRPr lang="es-AR" sz="3100">
                        <a:latin typeface="Verdana" panose="020B0604030504040204" pitchFamily="34" charset="0"/>
                        <a:ea typeface="Verdana" panose="020B0604030504040204" pitchFamily="34" charset="0"/>
                      </a:endParaRPr>
                    </a:p>
                  </a:txBody>
                  <a:tcPr marL="140085" marR="140085" marT="70043" marB="70043" anchor="ctr"/>
                </a:tc>
                <a:tc>
                  <a:txBody>
                    <a:bodyPr/>
                    <a:lstStyle/>
                    <a:p>
                      <a:pPr algn="ctr"/>
                      <a:r>
                        <a:rPr lang="es-AR" sz="3100"/>
                        <a:t>Familia de Columnas (Colunm Family)</a:t>
                      </a:r>
                      <a:endParaRPr lang="es-AR" sz="3100">
                        <a:latin typeface="Verdana" panose="020B0604030504040204" pitchFamily="34" charset="0"/>
                        <a:ea typeface="Verdana" panose="020B0604030504040204" pitchFamily="34" charset="0"/>
                      </a:endParaRPr>
                    </a:p>
                  </a:txBody>
                  <a:tcPr marL="140085" marR="140085" marT="70043" marB="70043" anchor="ctr"/>
                </a:tc>
                <a:extLst>
                  <a:ext uri="{0D108BD9-81ED-4DB2-BD59-A6C34878D82A}">
                    <a16:rowId xmlns:a16="http://schemas.microsoft.com/office/drawing/2014/main" val="1054980403"/>
                  </a:ext>
                </a:extLst>
              </a:tr>
              <a:tr h="656149">
                <a:tc>
                  <a:txBody>
                    <a:bodyPr/>
                    <a:lstStyle/>
                    <a:p>
                      <a:pPr algn="ctr"/>
                      <a:r>
                        <a:rPr lang="es-AR" sz="3100"/>
                        <a:t>Fila</a:t>
                      </a:r>
                      <a:endParaRPr lang="es-AR" sz="3100">
                        <a:latin typeface="Verdana" panose="020B0604030504040204" pitchFamily="34" charset="0"/>
                        <a:ea typeface="Verdana" panose="020B0604030504040204" pitchFamily="34" charset="0"/>
                      </a:endParaRPr>
                    </a:p>
                  </a:txBody>
                  <a:tcPr marL="140085" marR="140085" marT="70043" marB="70043" anchor="ctr"/>
                </a:tc>
                <a:tc>
                  <a:txBody>
                    <a:bodyPr/>
                    <a:lstStyle/>
                    <a:p>
                      <a:pPr algn="ctr"/>
                      <a:r>
                        <a:rPr lang="es-AR" sz="3100"/>
                        <a:t>Fila</a:t>
                      </a:r>
                      <a:endParaRPr lang="es-AR" sz="3100">
                        <a:latin typeface="Verdana" panose="020B0604030504040204" pitchFamily="34" charset="0"/>
                        <a:ea typeface="Verdana" panose="020B0604030504040204" pitchFamily="34" charset="0"/>
                      </a:endParaRPr>
                    </a:p>
                  </a:txBody>
                  <a:tcPr marL="140085" marR="140085" marT="70043" marB="70043" anchor="ctr"/>
                </a:tc>
                <a:extLst>
                  <a:ext uri="{0D108BD9-81ED-4DB2-BD59-A6C34878D82A}">
                    <a16:rowId xmlns:a16="http://schemas.microsoft.com/office/drawing/2014/main" val="913249744"/>
                  </a:ext>
                </a:extLst>
              </a:tr>
              <a:tr h="656149">
                <a:tc>
                  <a:txBody>
                    <a:bodyPr/>
                    <a:lstStyle/>
                    <a:p>
                      <a:pPr algn="ctr"/>
                      <a:r>
                        <a:rPr lang="es-AR" sz="3100"/>
                        <a:t>Columna</a:t>
                      </a:r>
                      <a:endParaRPr lang="es-AR" sz="3100">
                        <a:latin typeface="Verdana" panose="020B0604030504040204" pitchFamily="34" charset="0"/>
                        <a:ea typeface="Verdana" panose="020B0604030504040204" pitchFamily="34" charset="0"/>
                      </a:endParaRPr>
                    </a:p>
                  </a:txBody>
                  <a:tcPr marL="140085" marR="140085" marT="70043" marB="70043" anchor="ctr"/>
                </a:tc>
                <a:tc>
                  <a:txBody>
                    <a:bodyPr/>
                    <a:lstStyle/>
                    <a:p>
                      <a:pPr algn="ctr"/>
                      <a:r>
                        <a:rPr lang="es-AR" sz="3100"/>
                        <a:t>Columna</a:t>
                      </a:r>
                      <a:endParaRPr lang="es-AR" sz="3100">
                        <a:latin typeface="Verdana" panose="020B0604030504040204" pitchFamily="34" charset="0"/>
                        <a:ea typeface="Verdana" panose="020B0604030504040204" pitchFamily="34" charset="0"/>
                      </a:endParaRPr>
                    </a:p>
                  </a:txBody>
                  <a:tcPr marL="140085" marR="140085" marT="70043" marB="70043" anchor="ctr"/>
                </a:tc>
                <a:extLst>
                  <a:ext uri="{0D108BD9-81ED-4DB2-BD59-A6C34878D82A}">
                    <a16:rowId xmlns:a16="http://schemas.microsoft.com/office/drawing/2014/main" val="2591614623"/>
                  </a:ext>
                </a:extLst>
              </a:tr>
            </a:tbl>
          </a:graphicData>
        </a:graphic>
      </p:graphicFrame>
    </p:spTree>
    <p:extLst>
      <p:ext uri="{BB962C8B-B14F-4D97-AF65-F5344CB8AC3E}">
        <p14:creationId xmlns:p14="http://schemas.microsoft.com/office/powerpoint/2010/main" val="3382225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42A5316D-ED2F-4F89-B4B4-8D9240B1A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F8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B1CCF4C-E13A-448B-B7E7-87991D83A0A0}"/>
              </a:ext>
            </a:extLst>
          </p:cNvPr>
          <p:cNvSpPr>
            <a:spLocks noGrp="1"/>
          </p:cNvSpPr>
          <p:nvPr>
            <p:ph type="title"/>
          </p:nvPr>
        </p:nvSpPr>
        <p:spPr>
          <a:xfrm>
            <a:off x="694510" y="1487272"/>
            <a:ext cx="2743200" cy="2743200"/>
          </a:xfrm>
          <a:prstGeom prst="ellipse">
            <a:avLst/>
          </a:prstGeom>
          <a:solidFill>
            <a:srgbClr val="262626"/>
          </a:solidFill>
          <a:ln w="174625" cmpd="thinThick">
            <a:solidFill>
              <a:srgbClr val="262626"/>
            </a:solidFill>
          </a:ln>
        </p:spPr>
        <p:txBody>
          <a:bodyPr>
            <a:normAutofit/>
          </a:bodyPr>
          <a:lstStyle/>
          <a:p>
            <a:pPr algn="ctr"/>
            <a:r>
              <a:rPr lang="es-ES" sz="2600" dirty="0">
                <a:solidFill>
                  <a:srgbClr val="FFFFFF"/>
                </a:solidFill>
              </a:rPr>
              <a:t>Bases de Datos Tabulares</a:t>
            </a:r>
          </a:p>
        </p:txBody>
      </p:sp>
      <p:pic>
        <p:nvPicPr>
          <p:cNvPr id="8" name="Imagen 8" descr="Imagen que contiene dibujo&#10;&#10;Descripción generada con confianza muy alta">
            <a:extLst>
              <a:ext uri="{FF2B5EF4-FFF2-40B4-BE49-F238E27FC236}">
                <a16:creationId xmlns:a16="http://schemas.microsoft.com/office/drawing/2014/main" id="{3ED8EE36-4C34-4B93-9FCF-AC0FA603D63E}"/>
              </a:ext>
            </a:extLst>
          </p:cNvPr>
          <p:cNvPicPr>
            <a:picLocks noChangeAspect="1"/>
          </p:cNvPicPr>
          <p:nvPr/>
        </p:nvPicPr>
        <p:blipFill>
          <a:blip r:embed="rId2"/>
          <a:stretch>
            <a:fillRect/>
          </a:stretch>
        </p:blipFill>
        <p:spPr>
          <a:xfrm>
            <a:off x="4038600" y="1313299"/>
            <a:ext cx="6162850" cy="3091146"/>
          </a:xfrm>
          <a:prstGeom prst="rect">
            <a:avLst/>
          </a:prstGeom>
        </p:spPr>
      </p:pic>
      <p:sp>
        <p:nvSpPr>
          <p:cNvPr id="11" name="Content Placeholder 11">
            <a:extLst>
              <a:ext uri="{FF2B5EF4-FFF2-40B4-BE49-F238E27FC236}">
                <a16:creationId xmlns:a16="http://schemas.microsoft.com/office/drawing/2014/main" id="{8EEF96AC-3C61-43C5-9DA2-43D883B865FE}"/>
              </a:ext>
            </a:extLst>
          </p:cNvPr>
          <p:cNvSpPr>
            <a:spLocks noGrp="1"/>
          </p:cNvSpPr>
          <p:nvPr>
            <p:ph idx="1"/>
          </p:nvPr>
        </p:nvSpPr>
        <p:spPr>
          <a:xfrm>
            <a:off x="2011393" y="6063816"/>
            <a:ext cx="10178688" cy="443826"/>
          </a:xfrm>
        </p:spPr>
        <p:txBody>
          <a:bodyPr vert="horz" lIns="91440" tIns="45720" rIns="91440" bIns="45720" rtlCol="0" anchor="t">
            <a:normAutofit/>
          </a:bodyPr>
          <a:lstStyle/>
          <a:p>
            <a:pPr marL="0" indent="0" algn="ctr">
              <a:buNone/>
            </a:pPr>
            <a:r>
              <a:rPr lang="en-US" sz="2000" b="1" dirty="0" err="1">
                <a:solidFill>
                  <a:schemeClr val="accent1">
                    <a:lumMod val="75000"/>
                  </a:schemeClr>
                </a:solidFill>
                <a:latin typeface="Verdana"/>
                <a:ea typeface="Verdana"/>
                <a:cs typeface="Calibri"/>
              </a:rPr>
              <a:t>Facultad</a:t>
            </a:r>
            <a:r>
              <a:rPr lang="en-US" sz="2000" b="1" dirty="0">
                <a:solidFill>
                  <a:schemeClr val="accent1">
                    <a:lumMod val="75000"/>
                  </a:schemeClr>
                </a:solidFill>
                <a:latin typeface="Verdana"/>
                <a:ea typeface="Verdana"/>
                <a:cs typeface="Calibri"/>
              </a:rPr>
              <a:t> de Ingeniería y </a:t>
            </a:r>
            <a:r>
              <a:rPr lang="en-US" sz="2000" b="1" dirty="0" err="1">
                <a:solidFill>
                  <a:schemeClr val="accent1">
                    <a:lumMod val="75000"/>
                  </a:schemeClr>
                </a:solidFill>
                <a:latin typeface="Verdana"/>
                <a:ea typeface="Verdana"/>
                <a:cs typeface="Calibri"/>
              </a:rPr>
              <a:t>Ciencias</a:t>
            </a:r>
            <a:r>
              <a:rPr lang="en-US" sz="2000" b="1" dirty="0">
                <a:solidFill>
                  <a:schemeClr val="accent1">
                    <a:lumMod val="75000"/>
                  </a:schemeClr>
                </a:solidFill>
                <a:latin typeface="Verdana"/>
                <a:ea typeface="Verdana"/>
                <a:cs typeface="Calibri"/>
              </a:rPr>
              <a:t> </a:t>
            </a:r>
            <a:r>
              <a:rPr lang="en-US" sz="2000" b="1" dirty="0" err="1">
                <a:solidFill>
                  <a:schemeClr val="accent1">
                    <a:lumMod val="75000"/>
                  </a:schemeClr>
                </a:solidFill>
                <a:latin typeface="Verdana"/>
                <a:ea typeface="Verdana"/>
                <a:cs typeface="Calibri"/>
              </a:rPr>
              <a:t>Exáctas</a:t>
            </a:r>
            <a:endParaRPr lang="en-US" sz="2000" dirty="0">
              <a:solidFill>
                <a:schemeClr val="accent1">
                  <a:lumMod val="75000"/>
                </a:schemeClr>
              </a:solidFill>
              <a:latin typeface="Verdana"/>
              <a:ea typeface="Verdana"/>
              <a:cs typeface="Calibri"/>
            </a:endParaRPr>
          </a:p>
        </p:txBody>
      </p:sp>
    </p:spTree>
    <p:extLst>
      <p:ext uri="{BB962C8B-B14F-4D97-AF65-F5344CB8AC3E}">
        <p14:creationId xmlns:p14="http://schemas.microsoft.com/office/powerpoint/2010/main" val="4001130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B99756-B101-45C2-AABA-5332BF648476}"/>
              </a:ext>
            </a:extLst>
          </p:cNvPr>
          <p:cNvSpPr txBox="1">
            <a:spLocks/>
          </p:cNvSpPr>
          <p:nvPr/>
        </p:nvSpPr>
        <p:spPr>
          <a:xfrm>
            <a:off x="466722" y="586855"/>
            <a:ext cx="3201366" cy="338749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n-US" sz="4000" kern="1200">
                <a:solidFill>
                  <a:srgbClr val="FFFFFF"/>
                </a:solidFill>
                <a:latin typeface="+mj-lt"/>
                <a:ea typeface="+mj-ea"/>
                <a:cs typeface="+mj-cs"/>
              </a:rPr>
              <a:t>Historia</a:t>
            </a:r>
          </a:p>
        </p:txBody>
      </p:sp>
      <p:sp>
        <p:nvSpPr>
          <p:cNvPr id="4" name="Rectángulo 3"/>
          <p:cNvSpPr/>
          <p:nvPr/>
        </p:nvSpPr>
        <p:spPr>
          <a:xfrm>
            <a:off x="4037827" y="251928"/>
            <a:ext cx="7830712" cy="6344816"/>
          </a:xfrm>
          <a:prstGeom prst="rect">
            <a:avLst/>
          </a:prstGeom>
        </p:spPr>
        <p:txBody>
          <a:bodyPr vert="horz" lIns="91440" tIns="45720" rIns="91440" bIns="45720" rtlCol="0" anchor="ctr">
            <a:normAutofit/>
          </a:bodyPr>
          <a:lstStyle/>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Facebook (2007-2008):</a:t>
            </a:r>
            <a:r>
              <a:rPr lang="es-AR" sz="2000" dirty="0">
                <a:latin typeface="Verdana" panose="020B0604030504040204" pitchFamily="34" charset="0"/>
                <a:ea typeface="Verdana" panose="020B0604030504040204" pitchFamily="34" charset="0"/>
              </a:rPr>
              <a:t> Desarrollo inicial de Cassandra comenzó en 2007 en Facebook (</a:t>
            </a:r>
            <a:r>
              <a:rPr lang="es-AR" sz="2000" dirty="0" err="1">
                <a:latin typeface="Verdana" panose="020B0604030504040204" pitchFamily="34" charset="0"/>
                <a:ea typeface="Verdana" panose="020B0604030504040204" pitchFamily="34" charset="0"/>
              </a:rPr>
              <a:t>Avinash</a:t>
            </a:r>
            <a:r>
              <a:rPr lang="es-AR" sz="2000" dirty="0">
                <a:latin typeface="Verdana" panose="020B0604030504040204" pitchFamily="34" charset="0"/>
                <a:ea typeface="Verdana" panose="020B0604030504040204" pitchFamily="34" charset="0"/>
              </a:rPr>
              <a:t> </a:t>
            </a:r>
            <a:r>
              <a:rPr lang="es-AR" sz="2000" dirty="0" err="1">
                <a:latin typeface="Verdana" panose="020B0604030504040204" pitchFamily="34" charset="0"/>
                <a:ea typeface="Verdana" panose="020B0604030504040204" pitchFamily="34" charset="0"/>
              </a:rPr>
              <a:t>Lakshman</a:t>
            </a:r>
            <a:r>
              <a:rPr lang="es-AR" sz="2000" dirty="0">
                <a:latin typeface="Verdana" panose="020B0604030504040204" pitchFamily="34" charset="0"/>
                <a:ea typeface="Verdana" panose="020B0604030504040204" pitchFamily="34" charset="0"/>
              </a:rPr>
              <a:t> y </a:t>
            </a:r>
            <a:r>
              <a:rPr lang="es-AR" sz="2000" dirty="0" err="1">
                <a:latin typeface="Verdana" panose="020B0604030504040204" pitchFamily="34" charset="0"/>
                <a:ea typeface="Verdana" panose="020B0604030504040204" pitchFamily="34" charset="0"/>
              </a:rPr>
              <a:t>Prashant</a:t>
            </a:r>
            <a:r>
              <a:rPr lang="es-AR" sz="2000" dirty="0">
                <a:latin typeface="Verdana" panose="020B0604030504040204" pitchFamily="34" charset="0"/>
                <a:ea typeface="Verdana" panose="020B0604030504040204" pitchFamily="34" charset="0"/>
              </a:rPr>
              <a:t> Malik) y se convirtió en un proyecto de código abierto (2008) bajo el nombre Apache Cassandra, convirtiéndose en parte del ecosistema Apache.</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Adopción y crecimiento (2008-2010):</a:t>
            </a:r>
            <a:r>
              <a:rPr lang="es-AR" sz="2000" dirty="0">
                <a:latin typeface="Verdana" panose="020B0604030504040204" pitchFamily="34" charset="0"/>
                <a:ea typeface="Verdana" panose="020B0604030504040204" pitchFamily="34" charset="0"/>
              </a:rPr>
              <a:t> Mejoras significativas en la arquitectura y el rendimiento de Cassandra.</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Desarrollo continuo (2010 en adelante): </a:t>
            </a:r>
            <a:r>
              <a:rPr lang="es-AR" sz="2000" dirty="0">
                <a:latin typeface="Verdana" panose="020B0604030504040204" pitchFamily="34" charset="0"/>
                <a:ea typeface="Verdana" panose="020B0604030504040204" pitchFamily="34" charset="0"/>
              </a:rPr>
              <a:t>Experimento múltiples versiones y actualizaciones adicionando nuevas características, mejoras de rendimiento y correcciones de errores.</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Adopción generalizada (presente): </a:t>
            </a:r>
            <a:r>
              <a:rPr lang="es-AR" sz="2000" dirty="0">
                <a:latin typeface="Verdana" panose="020B0604030504040204" pitchFamily="34" charset="0"/>
                <a:ea typeface="Verdana" panose="020B0604030504040204" pitchFamily="34" charset="0"/>
              </a:rPr>
              <a:t>Ampliamente adoptada por empresas de diversos sectores, incluidas redes sociales, comercio electrónico, finanzas, salud y más.</a:t>
            </a:r>
          </a:p>
        </p:txBody>
      </p:sp>
    </p:spTree>
    <p:extLst>
      <p:ext uri="{BB962C8B-B14F-4D97-AF65-F5344CB8AC3E}">
        <p14:creationId xmlns:p14="http://schemas.microsoft.com/office/powerpoint/2010/main" val="699152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1">
            <a:extLst>
              <a:ext uri="{FF2B5EF4-FFF2-40B4-BE49-F238E27FC236}">
                <a16:creationId xmlns:a16="http://schemas.microsoft.com/office/drawing/2014/main" id="{37B6FD1E-07C0-4B85-B674-BBFEDE4CBDDA}"/>
              </a:ext>
            </a:extLst>
          </p:cNvPr>
          <p:cNvSpPr txBox="1">
            <a:spLocks/>
          </p:cNvSpPr>
          <p:nvPr/>
        </p:nvSpPr>
        <p:spPr>
          <a:xfrm>
            <a:off x="466722" y="586855"/>
            <a:ext cx="3201366" cy="338749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s-AR" sz="4000" kern="1200">
                <a:solidFill>
                  <a:srgbClr val="FFFFFF"/>
                </a:solidFill>
                <a:latin typeface="+mj-lt"/>
                <a:ea typeface="+mj-ea"/>
                <a:cs typeface="+mj-cs"/>
              </a:rPr>
              <a:t>Caracteristicas</a:t>
            </a:r>
            <a:endParaRPr lang="es-AR" sz="4000" kern="1200" dirty="0">
              <a:solidFill>
                <a:srgbClr val="FFFFFF"/>
              </a:solidFill>
              <a:latin typeface="+mj-lt"/>
              <a:ea typeface="+mj-ea"/>
              <a:cs typeface="+mj-cs"/>
            </a:endParaRPr>
          </a:p>
        </p:txBody>
      </p:sp>
      <p:sp>
        <p:nvSpPr>
          <p:cNvPr id="2" name="Rectángulo 1"/>
          <p:cNvSpPr/>
          <p:nvPr/>
        </p:nvSpPr>
        <p:spPr>
          <a:xfrm>
            <a:off x="4134811" y="649480"/>
            <a:ext cx="7590468" cy="5546047"/>
          </a:xfrm>
          <a:prstGeom prst="rect">
            <a:avLst/>
          </a:prstGeom>
        </p:spPr>
        <p:txBody>
          <a:bodyPr vert="horz" lIns="91440" tIns="45720" rIns="91440" bIns="45720" rtlCol="0" anchor="ctr">
            <a:normAutofit/>
          </a:bodyPr>
          <a:lstStyle/>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Esquema dinámico </a:t>
            </a:r>
            <a:r>
              <a:rPr lang="es-AR" sz="2000" dirty="0">
                <a:latin typeface="Verdana" panose="020B0604030504040204" pitchFamily="34" charset="0"/>
                <a:ea typeface="Verdana" panose="020B0604030504040204" pitchFamily="34" charset="0"/>
              </a:rPr>
              <a:t>(</a:t>
            </a:r>
            <a:r>
              <a:rPr lang="es-AR" sz="2000" i="1" dirty="0">
                <a:latin typeface="Verdana" panose="020B0604030504040204" pitchFamily="34" charset="0"/>
                <a:ea typeface="Verdana" panose="020B0604030504040204" pitchFamily="34" charset="0"/>
              </a:rPr>
              <a:t>p</a:t>
            </a:r>
            <a:r>
              <a:rPr lang="es-AR" sz="2000" dirty="0">
                <a:latin typeface="Verdana" panose="020B0604030504040204" pitchFamily="34" charset="0"/>
                <a:ea typeface="Verdana" panose="020B0604030504040204" pitchFamily="34" charset="0"/>
              </a:rPr>
              <a:t>uede cambiar en tiempo de ejecución) </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No hay un único punto de fallo </a:t>
            </a:r>
            <a:r>
              <a:rPr lang="es-AR" sz="2000" dirty="0">
                <a:latin typeface="Verdana" panose="020B0604030504040204" pitchFamily="34" charset="0"/>
                <a:ea typeface="Verdana" panose="020B0604030504040204" pitchFamily="34" charset="0"/>
              </a:rPr>
              <a:t>(varios nodos de datos, perder un nodo no es problema) </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Alta disponibilidad</a:t>
            </a:r>
            <a:r>
              <a:rPr lang="es-AR" dirty="0">
                <a:solidFill>
                  <a:srgbClr val="FF0000"/>
                </a:solidFill>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(gracias a una alta redundancia mediante replicación de datos) </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Particionado de los datos</a:t>
            </a:r>
            <a:r>
              <a:rPr lang="es-AR" sz="2000" dirty="0">
                <a:latin typeface="Verdana" panose="020B0604030504040204" pitchFamily="34" charset="0"/>
                <a:ea typeface="Verdana" panose="020B0604030504040204" pitchFamily="34" charset="0"/>
              </a:rPr>
              <a:t> (la topología de anillo para la </a:t>
            </a:r>
            <a:r>
              <a:rPr lang="es-AR" sz="2000" dirty="0" err="1">
                <a:latin typeface="Verdana" panose="020B0604030504040204" pitchFamily="34" charset="0"/>
                <a:ea typeface="Verdana" panose="020B0604030504040204" pitchFamily="34" charset="0"/>
              </a:rPr>
              <a:t>distribucion</a:t>
            </a:r>
            <a:r>
              <a:rPr lang="es-AR" sz="2000" dirty="0">
                <a:latin typeface="Verdana" panose="020B0604030504040204" pitchFamily="34" charset="0"/>
                <a:ea typeface="Verdana" panose="020B0604030504040204" pitchFamily="34" charset="0"/>
              </a:rPr>
              <a:t> de los datos beneficia el acceso)</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Escalabilidad horizontal</a:t>
            </a:r>
            <a:r>
              <a:rPr lang="es-AR" sz="2000" dirty="0">
                <a:latin typeface="Verdana" panose="020B0604030504040204" pitchFamily="34" charset="0"/>
                <a:ea typeface="Verdana" panose="020B0604030504040204" pitchFamily="34" charset="0"/>
              </a:rPr>
              <a:t> (la capacidad de cómputo aumenta linealmente con el número de máquinas) </a:t>
            </a:r>
          </a:p>
          <a:p>
            <a:pPr marL="457200" indent="-342900" algn="just">
              <a:spcBef>
                <a:spcPts val="1200"/>
              </a:spcBef>
              <a:spcAft>
                <a:spcPts val="1200"/>
              </a:spcAft>
              <a:buFont typeface="Wingdings" panose="05000000000000000000" pitchFamily="2" charset="2"/>
              <a:buChar char="Ø"/>
            </a:pPr>
            <a:r>
              <a:rPr lang="es-AR" b="1" i="1" dirty="0">
                <a:solidFill>
                  <a:srgbClr val="FF0000"/>
                </a:solidFill>
                <a:latin typeface="Verdana" panose="020B0604030504040204" pitchFamily="34" charset="0"/>
                <a:ea typeface="Verdana" panose="020B0604030504040204" pitchFamily="34" charset="0"/>
              </a:rPr>
              <a:t>Capacidad para manejar cientos de terabytes de datos</a:t>
            </a:r>
            <a:r>
              <a:rPr lang="es-AR" sz="2000" dirty="0">
                <a:latin typeface="Verdana" panose="020B0604030504040204" pitchFamily="34" charset="0"/>
                <a:ea typeface="Verdana" panose="020B0604030504040204" pitchFamily="34" charset="0"/>
              </a:rPr>
              <a:t>.</a:t>
            </a:r>
          </a:p>
        </p:txBody>
      </p:sp>
    </p:spTree>
    <p:extLst>
      <p:ext uri="{BB962C8B-B14F-4D97-AF65-F5344CB8AC3E}">
        <p14:creationId xmlns:p14="http://schemas.microsoft.com/office/powerpoint/2010/main" val="91085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Arquitectura de Cassandra</a:t>
            </a:r>
          </a:p>
        </p:txBody>
      </p:sp>
      <p:sp>
        <p:nvSpPr>
          <p:cNvPr id="3" name="CuadroTexto 2"/>
          <p:cNvSpPr txBox="1"/>
          <p:nvPr/>
        </p:nvSpPr>
        <p:spPr>
          <a:xfrm>
            <a:off x="4504549" y="649480"/>
            <a:ext cx="7220730" cy="5546047"/>
          </a:xfrm>
          <a:prstGeom prst="rect">
            <a:avLst/>
          </a:prstGeom>
        </p:spPr>
        <p:txBody>
          <a:bodyPr vert="horz" lIns="91440" tIns="45720" rIns="91440" bIns="45720" rtlCol="0" anchor="ctr">
            <a:normAutofit/>
          </a:bodyPr>
          <a:lstStyle/>
          <a:p>
            <a:pPr>
              <a:lnSpc>
                <a:spcPct val="90000"/>
              </a:lnSpc>
              <a:spcAft>
                <a:spcPts val="600"/>
              </a:spcAft>
            </a:pPr>
            <a:r>
              <a:rPr lang="es-AR" sz="2000" dirty="0"/>
              <a:t>Varios nodos independientes comunicados mediante un protocolo P2P (peer-</a:t>
            </a:r>
            <a:r>
              <a:rPr lang="es-AR" sz="2000" dirty="0" err="1"/>
              <a:t>to</a:t>
            </a:r>
            <a:r>
              <a:rPr lang="es-AR" sz="2000" dirty="0"/>
              <a:t>-peer):</a:t>
            </a:r>
          </a:p>
          <a:p>
            <a:pPr indent="-228600">
              <a:lnSpc>
                <a:spcPct val="90000"/>
              </a:lnSpc>
              <a:spcAft>
                <a:spcPts val="600"/>
              </a:spcAft>
              <a:buFont typeface="Arial" panose="020B0604020202020204" pitchFamily="34" charset="0"/>
              <a:buChar char="•"/>
            </a:pPr>
            <a:endParaRPr lang="es-AR" sz="2000" dirty="0"/>
          </a:p>
          <a:p>
            <a:pPr marL="342900" indent="-228600">
              <a:lnSpc>
                <a:spcPct val="90000"/>
              </a:lnSpc>
              <a:spcAft>
                <a:spcPts val="600"/>
              </a:spcAft>
              <a:buFont typeface="Arial" panose="020B0604020202020204" pitchFamily="34" charset="0"/>
              <a:buChar char="•"/>
            </a:pPr>
            <a:r>
              <a:rPr lang="es-AR" sz="2000" i="1" dirty="0"/>
              <a:t>Todos los nodos intercambian información con el resto de forma continua.</a:t>
            </a:r>
          </a:p>
          <a:p>
            <a:pPr indent="-228600">
              <a:lnSpc>
                <a:spcPct val="90000"/>
              </a:lnSpc>
              <a:spcAft>
                <a:spcPts val="600"/>
              </a:spcAft>
              <a:buFont typeface="Arial" panose="020B0604020202020204" pitchFamily="34" charset="0"/>
              <a:buChar char="•"/>
            </a:pPr>
            <a:endParaRPr lang="es-AR" sz="2000" dirty="0"/>
          </a:p>
          <a:p>
            <a:pPr algn="just">
              <a:lnSpc>
                <a:spcPct val="90000"/>
              </a:lnSpc>
              <a:spcAft>
                <a:spcPts val="600"/>
              </a:spcAft>
            </a:pPr>
            <a:r>
              <a:rPr lang="es-AR" sz="2000" dirty="0"/>
              <a:t>No hay nodos “principales”. Los clientes pueden conectarse a cualquiera de los nodos para realizar las operaciones de lectura y escritura:</a:t>
            </a:r>
          </a:p>
          <a:p>
            <a:pPr indent="-228600" algn="just">
              <a:lnSpc>
                <a:spcPct val="90000"/>
              </a:lnSpc>
              <a:spcAft>
                <a:spcPts val="600"/>
              </a:spcAft>
              <a:buFont typeface="Arial" panose="020B0604020202020204" pitchFamily="34" charset="0"/>
              <a:buChar char="•"/>
            </a:pPr>
            <a:endParaRPr lang="es-AR" sz="2000" dirty="0"/>
          </a:p>
          <a:p>
            <a:pPr marL="342900" indent="-228600" algn="just">
              <a:lnSpc>
                <a:spcPct val="90000"/>
              </a:lnSpc>
              <a:spcAft>
                <a:spcPts val="600"/>
              </a:spcAft>
              <a:buFont typeface="Arial" panose="020B0604020202020204" pitchFamily="34" charset="0"/>
              <a:buChar char="•"/>
            </a:pPr>
            <a:r>
              <a:rPr lang="es-AR" sz="2000" i="1" dirty="0"/>
              <a:t>El nodo al que se conecta el cliente actúa como coordinador entre éste y el resto de nodos en dónde se encuentran los datos afectados por la consulta</a:t>
            </a:r>
            <a:r>
              <a:rPr lang="es-AR" sz="2000" dirty="0"/>
              <a:t>.</a:t>
            </a:r>
          </a:p>
          <a:p>
            <a:pPr marL="342900" indent="-228600" algn="just">
              <a:lnSpc>
                <a:spcPct val="90000"/>
              </a:lnSpc>
              <a:spcAft>
                <a:spcPts val="600"/>
              </a:spcAft>
              <a:buFont typeface="Arial" panose="020B0604020202020204" pitchFamily="34" charset="0"/>
              <a:buChar char="•"/>
            </a:pPr>
            <a:r>
              <a:rPr lang="es-AR" sz="2000" i="1" dirty="0"/>
              <a:t>El coordinador determina qué nodos deben responder a la consulta.</a:t>
            </a:r>
          </a:p>
        </p:txBody>
      </p:sp>
    </p:spTree>
    <p:extLst>
      <p:ext uri="{BB962C8B-B14F-4D97-AF65-F5344CB8AC3E}">
        <p14:creationId xmlns:p14="http://schemas.microsoft.com/office/powerpoint/2010/main" val="1779563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uadroTexto 3"/>
          <p:cNvSpPr txBox="1"/>
          <p:nvPr/>
        </p:nvSpPr>
        <p:spPr>
          <a:xfrm>
            <a:off x="660041" y="2767106"/>
            <a:ext cx="2880828" cy="307190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b="1" kern="1200">
                <a:solidFill>
                  <a:srgbClr val="FFFFFF"/>
                </a:solidFill>
                <a:latin typeface="+mj-lt"/>
                <a:ea typeface="+mj-ea"/>
                <a:cs typeface="+mj-cs"/>
              </a:rPr>
              <a:t>Arquitectura de Cassandra</a:t>
            </a:r>
          </a:p>
        </p:txBody>
      </p:sp>
      <p:pic>
        <p:nvPicPr>
          <p:cNvPr id="2" name="Imagen 1"/>
          <p:cNvPicPr>
            <a:picLocks noChangeAspect="1"/>
          </p:cNvPicPr>
          <p:nvPr/>
        </p:nvPicPr>
        <p:blipFill>
          <a:blip r:embed="rId2"/>
          <a:stretch>
            <a:fillRect/>
          </a:stretch>
        </p:blipFill>
        <p:spPr>
          <a:xfrm>
            <a:off x="4601043" y="476117"/>
            <a:ext cx="6996908" cy="5923584"/>
          </a:xfrm>
          <a:prstGeom prst="rect">
            <a:avLst/>
          </a:prstGeom>
        </p:spPr>
      </p:pic>
    </p:spTree>
    <p:extLst>
      <p:ext uri="{BB962C8B-B14F-4D97-AF65-F5344CB8AC3E}">
        <p14:creationId xmlns:p14="http://schemas.microsoft.com/office/powerpoint/2010/main" val="2924283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Replicación  de datos en Cassandra</a:t>
            </a:r>
          </a:p>
        </p:txBody>
      </p:sp>
      <p:sp>
        <p:nvSpPr>
          <p:cNvPr id="3" name="CuadroTexto 2"/>
          <p:cNvSpPr txBox="1"/>
          <p:nvPr/>
        </p:nvSpPr>
        <p:spPr>
          <a:xfrm>
            <a:off x="4698858" y="645836"/>
            <a:ext cx="6796456" cy="5773625"/>
          </a:xfrm>
          <a:prstGeom prst="rect">
            <a:avLst/>
          </a:prstGeom>
        </p:spPr>
        <p:txBody>
          <a:bodyPr vert="horz" lIns="91440" tIns="45720" rIns="91440" bIns="45720" rtlCol="0" anchor="ctr">
            <a:normAutofit/>
          </a:bodyPr>
          <a:lstStyle/>
          <a:p>
            <a:pPr marL="3429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En Cassandra, uno o más nodos de un clúster actúan como réplicas de un dato dado. Si se detecta que algunos de los nodos respondieron con un valor desactualizado, Cassandra devolverá el valor más reciente al cliente. </a:t>
            </a:r>
          </a:p>
          <a:p>
            <a:pPr marL="3429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Después de devolver el valor más reciente, Cassandra realiza una reparación de lectura en segundo plano para actualizar los valores obsoletos.</a:t>
            </a:r>
          </a:p>
          <a:p>
            <a:pPr algn="just">
              <a:lnSpc>
                <a:spcPct val="90000"/>
              </a:lnSpc>
              <a:spcAft>
                <a:spcPts val="600"/>
              </a:spcAft>
            </a:pPr>
            <a:endParaRPr lang="es-AR" sz="2000" dirty="0">
              <a:latin typeface="Verdana" panose="020B0604030504040204" pitchFamily="34" charset="0"/>
              <a:ea typeface="Verdana" panose="020B0604030504040204" pitchFamily="34" charset="0"/>
            </a:endParaRPr>
          </a:p>
          <a:p>
            <a:pPr algn="just">
              <a:lnSpc>
                <a:spcPct val="90000"/>
              </a:lnSpc>
              <a:spcAft>
                <a:spcPts val="600"/>
              </a:spcAft>
            </a:pPr>
            <a:br>
              <a:rPr lang="es-AR" sz="2000" dirty="0">
                <a:latin typeface="Verdana" panose="020B0604030504040204" pitchFamily="34" charset="0"/>
                <a:ea typeface="Verdana" panose="020B0604030504040204" pitchFamily="34" charset="0"/>
              </a:rPr>
            </a:br>
            <a:r>
              <a:rPr lang="es-AR" b="1" i="1" dirty="0">
                <a:solidFill>
                  <a:srgbClr val="FF0000"/>
                </a:solidFill>
                <a:latin typeface="Verdana" panose="020B0604030504040204" pitchFamily="34" charset="0"/>
                <a:ea typeface="Verdana" panose="020B0604030504040204" pitchFamily="34" charset="0"/>
              </a:rPr>
              <a:t>Nota: </a:t>
            </a:r>
            <a:r>
              <a:rPr lang="es-AR" sz="2000" i="1" dirty="0">
                <a:latin typeface="Verdana" panose="020B0604030504040204" pitchFamily="34" charset="0"/>
                <a:ea typeface="Verdana" panose="020B0604030504040204" pitchFamily="34" charset="0"/>
              </a:rPr>
              <a:t>si bien la comunicación es a través del protocola p2p, usa el </a:t>
            </a:r>
            <a:r>
              <a:rPr lang="es-AR" sz="2000" i="1" dirty="0">
                <a:latin typeface="Verdana" panose="020B0604030504040204" pitchFamily="34" charset="0"/>
                <a:ea typeface="Verdana" panose="020B0604030504040204" pitchFamily="34" charset="0"/>
                <a:hlinkClick r:id="rId2"/>
              </a:rPr>
              <a:t>protocolo </a:t>
            </a:r>
            <a:r>
              <a:rPr lang="es-AR" sz="2000" i="1" dirty="0" err="1">
                <a:latin typeface="Verdana" panose="020B0604030504040204" pitchFamily="34" charset="0"/>
                <a:ea typeface="Verdana" panose="020B0604030504040204" pitchFamily="34" charset="0"/>
                <a:hlinkClick r:id="rId2"/>
              </a:rPr>
              <a:t>Gossip</a:t>
            </a:r>
            <a:r>
              <a:rPr lang="es-AR" sz="2000" i="1" dirty="0">
                <a:latin typeface="Verdana" panose="020B0604030504040204" pitchFamily="34" charset="0"/>
                <a:ea typeface="Verdana" panose="020B0604030504040204" pitchFamily="34" charset="0"/>
                <a:hlinkClick r:id="rId2"/>
              </a:rPr>
              <a:t> </a:t>
            </a:r>
            <a:r>
              <a:rPr lang="es-AR" sz="2000" i="1" dirty="0">
                <a:latin typeface="Verdana" panose="020B0604030504040204" pitchFamily="34" charset="0"/>
                <a:ea typeface="Verdana" panose="020B0604030504040204" pitchFamily="34" charset="0"/>
              </a:rPr>
              <a:t>en segundo plano para permitir que los nodos se comuniquen entre ellos y detecten cualquier nodo defectuoso en el clúster.</a:t>
            </a:r>
          </a:p>
        </p:txBody>
      </p:sp>
    </p:spTree>
    <p:extLst>
      <p:ext uri="{BB962C8B-B14F-4D97-AF65-F5344CB8AC3E}">
        <p14:creationId xmlns:p14="http://schemas.microsoft.com/office/powerpoint/2010/main" val="1518233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CuadroTexto 3"/>
          <p:cNvSpPr txBox="1"/>
          <p:nvPr/>
        </p:nvSpPr>
        <p:spPr>
          <a:xfrm>
            <a:off x="660041" y="2767106"/>
            <a:ext cx="2880828" cy="3071906"/>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b="1" kern="1200">
                <a:solidFill>
                  <a:srgbClr val="FFFFFF"/>
                </a:solidFill>
                <a:latin typeface="+mj-lt"/>
                <a:ea typeface="+mj-ea"/>
                <a:cs typeface="+mj-cs"/>
              </a:rPr>
              <a:t>Replicación  de datos en Cassandra</a:t>
            </a:r>
          </a:p>
        </p:txBody>
      </p:sp>
      <p:pic>
        <p:nvPicPr>
          <p:cNvPr id="2" name="Imagen 1"/>
          <p:cNvPicPr>
            <a:picLocks noChangeAspect="1"/>
          </p:cNvPicPr>
          <p:nvPr/>
        </p:nvPicPr>
        <p:blipFill>
          <a:blip r:embed="rId2"/>
          <a:stretch>
            <a:fillRect/>
          </a:stretch>
        </p:blipFill>
        <p:spPr>
          <a:xfrm>
            <a:off x="4913365" y="467208"/>
            <a:ext cx="6403874" cy="5923584"/>
          </a:xfrm>
          <a:prstGeom prst="rect">
            <a:avLst/>
          </a:prstGeom>
        </p:spPr>
      </p:pic>
    </p:spTree>
    <p:extLst>
      <p:ext uri="{BB962C8B-B14F-4D97-AF65-F5344CB8AC3E}">
        <p14:creationId xmlns:p14="http://schemas.microsoft.com/office/powerpoint/2010/main" val="4132957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ítulo 1">
            <a:extLst>
              <a:ext uri="{FF2B5EF4-FFF2-40B4-BE49-F238E27FC236}">
                <a16:creationId xmlns:a16="http://schemas.microsoft.com/office/drawing/2014/main" id="{37B6FD1E-07C0-4B85-B674-BBFEDE4CBDDA}"/>
              </a:ext>
            </a:extLst>
          </p:cNvPr>
          <p:cNvSpPr txBox="1">
            <a:spLocks/>
          </p:cNvSpPr>
          <p:nvPr/>
        </p:nvSpPr>
        <p:spPr>
          <a:xfrm>
            <a:off x="466722" y="586855"/>
            <a:ext cx="3201366" cy="387317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spcAft>
                <a:spcPts val="600"/>
              </a:spcAft>
            </a:pPr>
            <a:r>
              <a:rPr lang="es-AR" sz="3600" dirty="0">
                <a:solidFill>
                  <a:schemeClr val="bg1"/>
                </a:solidFill>
                <a:latin typeface="Verdana" panose="020B0604030504040204" pitchFamily="34" charset="0"/>
                <a:ea typeface="Verdana" panose="020B0604030504040204" pitchFamily="34" charset="0"/>
              </a:rPr>
              <a:t>Glosario</a:t>
            </a:r>
          </a:p>
          <a:p>
            <a:pPr algn="r">
              <a:spcAft>
                <a:spcPts val="600"/>
              </a:spcAft>
            </a:pPr>
            <a:endParaRPr lang="es-AR" sz="3600" dirty="0">
              <a:solidFill>
                <a:schemeClr val="bg1"/>
              </a:solidFill>
              <a:latin typeface="Verdana" panose="020B0604030504040204" pitchFamily="34" charset="0"/>
              <a:ea typeface="Verdana" panose="020B0604030504040204" pitchFamily="34" charset="0"/>
            </a:endParaRPr>
          </a:p>
          <a:p>
            <a:pPr algn="r">
              <a:spcAft>
                <a:spcPts val="600"/>
              </a:spcAft>
            </a:pPr>
            <a:endParaRPr lang="es-AR" sz="4000" kern="1200" dirty="0">
              <a:solidFill>
                <a:srgbClr val="FFFFFF"/>
              </a:solidFill>
              <a:latin typeface="+mj-lt"/>
              <a:ea typeface="+mj-ea"/>
              <a:cs typeface="+mj-cs"/>
            </a:endParaRPr>
          </a:p>
        </p:txBody>
      </p:sp>
      <p:sp>
        <p:nvSpPr>
          <p:cNvPr id="2" name="Rectángulo 1"/>
          <p:cNvSpPr/>
          <p:nvPr/>
        </p:nvSpPr>
        <p:spPr>
          <a:xfrm>
            <a:off x="4134811" y="649480"/>
            <a:ext cx="7590468" cy="5546047"/>
          </a:xfrm>
          <a:prstGeom prst="rect">
            <a:avLst/>
          </a:prstGeom>
        </p:spPr>
        <p:txBody>
          <a:bodyPr vert="horz" lIns="91440" tIns="45720" rIns="91440" bIns="45720" rtlCol="0" anchor="ctr">
            <a:normAutofit lnSpcReduction="10000"/>
          </a:bodyPr>
          <a:lstStyle/>
          <a:p>
            <a:pPr marL="342900" indent="-342900" algn="just">
              <a:buFont typeface="Wingdings" panose="05000000000000000000" pitchFamily="2" charset="2"/>
              <a:buChar char="Ø"/>
            </a:pPr>
            <a:r>
              <a:rPr lang="es-MX" b="1" i="1" dirty="0">
                <a:solidFill>
                  <a:srgbClr val="FF0000"/>
                </a:solidFill>
                <a:latin typeface="Verdana" panose="020B0604030504040204" pitchFamily="34" charset="0"/>
                <a:ea typeface="Verdana" panose="020B0604030504040204" pitchFamily="34" charset="0"/>
                <a:cs typeface="Verdana" panose="020B0604030504040204" pitchFamily="34" charset="0"/>
              </a:rPr>
              <a:t>Nodo</a:t>
            </a:r>
            <a:r>
              <a:rPr lang="es-MX" dirty="0">
                <a:solidFill>
                  <a:srgbClr val="FF0000"/>
                </a:solidFill>
                <a:latin typeface="Verdana" panose="020B0604030504040204" pitchFamily="34" charset="0"/>
                <a:ea typeface="Verdana" panose="020B0604030504040204" pitchFamily="34" charset="0"/>
                <a:cs typeface="Verdana" panose="020B0604030504040204" pitchFamily="34" charset="0"/>
              </a:rPr>
              <a:t>:</a:t>
            </a:r>
            <a:r>
              <a:rPr lang="es-MX" sz="2000" dirty="0">
                <a:latin typeface="Verdana" panose="020B0604030504040204" pitchFamily="34" charset="0"/>
                <a:ea typeface="Verdana" panose="020B0604030504040204" pitchFamily="34" charset="0"/>
                <a:cs typeface="Verdana" panose="020B0604030504040204" pitchFamily="34" charset="0"/>
              </a:rPr>
              <a:t> es el lugar donde se almacenan los datos.</a:t>
            </a:r>
          </a:p>
          <a:p>
            <a:pPr marL="342900" indent="-342900" algn="just">
              <a:buFont typeface="Wingdings" panose="05000000000000000000" pitchFamily="2" charset="2"/>
              <a:buChar char="Ø"/>
            </a:pPr>
            <a:endParaRPr lang="es-MX" sz="2000" dirty="0">
              <a:latin typeface="Verdana" panose="020B0604030504040204" pitchFamily="34" charset="0"/>
              <a:ea typeface="Verdana" panose="020B0604030504040204" pitchFamily="34" charset="0"/>
              <a:cs typeface="Verdana" panose="020B0604030504040204" pitchFamily="34" charset="0"/>
            </a:endParaRPr>
          </a:p>
          <a:p>
            <a:pPr marL="342900" indent="-342900" algn="just">
              <a:buFont typeface="Wingdings" panose="05000000000000000000" pitchFamily="2" charset="2"/>
              <a:buChar char="Ø"/>
            </a:pPr>
            <a:r>
              <a:rPr lang="es-MX" b="1" i="1" dirty="0">
                <a:solidFill>
                  <a:srgbClr val="FF0000"/>
                </a:solidFill>
                <a:latin typeface="Verdana" panose="020B0604030504040204" pitchFamily="34" charset="0"/>
                <a:ea typeface="Verdana" panose="020B0604030504040204" pitchFamily="34" charset="0"/>
                <a:cs typeface="Verdana" panose="020B0604030504040204" pitchFamily="34" charset="0"/>
              </a:rPr>
              <a:t>Data Center: </a:t>
            </a:r>
            <a:r>
              <a:rPr lang="es-MX" sz="2000" dirty="0">
                <a:latin typeface="Verdana" panose="020B0604030504040204" pitchFamily="34" charset="0"/>
                <a:ea typeface="Verdana" panose="020B0604030504040204" pitchFamily="34" charset="0"/>
                <a:cs typeface="Verdana" panose="020B0604030504040204" pitchFamily="34" charset="0"/>
              </a:rPr>
              <a:t>es una colección de nodos relacionados.</a:t>
            </a:r>
          </a:p>
          <a:p>
            <a:pPr marL="342900" indent="-342900" algn="just">
              <a:buFont typeface="Wingdings" panose="05000000000000000000" pitchFamily="2" charset="2"/>
              <a:buChar char="Ø"/>
            </a:pPr>
            <a:endParaRPr lang="es-MX" sz="2000" dirty="0">
              <a:latin typeface="Verdana" panose="020B0604030504040204" pitchFamily="34" charset="0"/>
              <a:ea typeface="Verdana" panose="020B0604030504040204" pitchFamily="34" charset="0"/>
              <a:cs typeface="Verdana" panose="020B0604030504040204" pitchFamily="34" charset="0"/>
            </a:endParaRPr>
          </a:p>
          <a:p>
            <a:pPr marL="342900" indent="-342900" algn="just">
              <a:buFont typeface="Wingdings" panose="05000000000000000000" pitchFamily="2" charset="2"/>
              <a:buChar char="Ø"/>
            </a:pPr>
            <a:r>
              <a:rPr lang="es-MX" b="1" i="1" dirty="0">
                <a:solidFill>
                  <a:srgbClr val="FF0000"/>
                </a:solidFill>
                <a:latin typeface="Verdana" panose="020B0604030504040204" pitchFamily="34" charset="0"/>
                <a:ea typeface="Verdana" panose="020B0604030504040204" pitchFamily="34" charset="0"/>
                <a:cs typeface="Verdana" panose="020B0604030504040204" pitchFamily="34" charset="0"/>
              </a:rPr>
              <a:t>Clúster: </a:t>
            </a:r>
            <a:r>
              <a:rPr lang="es-MX" sz="2000" dirty="0">
                <a:latin typeface="Verdana" panose="020B0604030504040204" pitchFamily="34" charset="0"/>
                <a:ea typeface="Verdana" panose="020B0604030504040204" pitchFamily="34" charset="0"/>
                <a:cs typeface="Verdana" panose="020B0604030504040204" pitchFamily="34" charset="0"/>
              </a:rPr>
              <a:t>componente que contiene uno o más Data Center.</a:t>
            </a:r>
          </a:p>
          <a:p>
            <a:pPr marL="342900" indent="-342900" algn="just">
              <a:buFont typeface="Wingdings" panose="05000000000000000000" pitchFamily="2" charset="2"/>
              <a:buChar char="Ø"/>
            </a:pPr>
            <a:endParaRPr lang="es-MX" sz="2000" dirty="0">
              <a:latin typeface="Verdana" panose="020B0604030504040204" pitchFamily="34" charset="0"/>
              <a:ea typeface="Verdana" panose="020B0604030504040204" pitchFamily="34" charset="0"/>
              <a:cs typeface="Verdana" panose="020B0604030504040204" pitchFamily="34" charset="0"/>
            </a:endParaRPr>
          </a:p>
          <a:p>
            <a:pPr marL="342900" indent="-342900" algn="just">
              <a:buFont typeface="Wingdings" panose="05000000000000000000" pitchFamily="2" charset="2"/>
              <a:buChar char="Ø"/>
            </a:pPr>
            <a:r>
              <a:rPr lang="es-AR" b="1" i="1" dirty="0" err="1">
                <a:solidFill>
                  <a:srgbClr val="FF0000"/>
                </a:solidFill>
                <a:latin typeface="Verdana" panose="020B0604030504040204" pitchFamily="34" charset="0"/>
                <a:ea typeface="Verdana" panose="020B0604030504040204" pitchFamily="34" charset="0"/>
                <a:cs typeface="Verdana" panose="020B0604030504040204" pitchFamily="34" charset="0"/>
              </a:rPr>
              <a:t>Commit</a:t>
            </a:r>
            <a:r>
              <a:rPr lang="es-AR" b="1" i="1" dirty="0">
                <a:solidFill>
                  <a:srgbClr val="FF0000"/>
                </a:solidFill>
                <a:latin typeface="Verdana" panose="020B0604030504040204" pitchFamily="34" charset="0"/>
                <a:ea typeface="Verdana" panose="020B0604030504040204" pitchFamily="34" charset="0"/>
                <a:cs typeface="Verdana" panose="020B0604030504040204" pitchFamily="34" charset="0"/>
              </a:rPr>
              <a:t> log </a:t>
            </a:r>
            <a:r>
              <a:rPr lang="es-MX" b="1" i="1" dirty="0">
                <a:solidFill>
                  <a:srgbClr val="FF0000"/>
                </a:solidFill>
                <a:latin typeface="Verdana" panose="020B0604030504040204" pitchFamily="34" charset="0"/>
                <a:ea typeface="Verdana" panose="020B0604030504040204" pitchFamily="34" charset="0"/>
                <a:cs typeface="Verdana" panose="020B0604030504040204" pitchFamily="34" charset="0"/>
              </a:rPr>
              <a:t>: </a:t>
            </a:r>
            <a:r>
              <a:rPr lang="es-MX" sz="2000" dirty="0">
                <a:latin typeface="Verdana" panose="020B0604030504040204" pitchFamily="34" charset="0"/>
                <a:ea typeface="Verdana" panose="020B0604030504040204" pitchFamily="34" charset="0"/>
                <a:cs typeface="Verdana" panose="020B0604030504040204" pitchFamily="34" charset="0"/>
              </a:rPr>
              <a:t>Registro de confirmación para recuperación de fallas, cada escritura se escribe en el registro de confirmación.</a:t>
            </a:r>
          </a:p>
          <a:p>
            <a:pPr marL="342900" indent="-342900" algn="just">
              <a:buFont typeface="Wingdings" panose="05000000000000000000" pitchFamily="2" charset="2"/>
              <a:buChar char="Ø"/>
            </a:pPr>
            <a:endParaRPr lang="es-MX" sz="2000" dirty="0">
              <a:latin typeface="Verdana" panose="020B0604030504040204" pitchFamily="34" charset="0"/>
              <a:ea typeface="Verdana" panose="020B0604030504040204" pitchFamily="34" charset="0"/>
              <a:cs typeface="Verdana" panose="020B0604030504040204" pitchFamily="34" charset="0"/>
            </a:endParaRPr>
          </a:p>
          <a:p>
            <a:pPr marL="342900" indent="-342900" algn="just">
              <a:buFont typeface="Wingdings" panose="05000000000000000000" pitchFamily="2" charset="2"/>
              <a:buChar char="Ø"/>
            </a:pPr>
            <a:r>
              <a:rPr lang="es-MX" b="1" i="1" dirty="0" err="1">
                <a:solidFill>
                  <a:srgbClr val="FF0000"/>
                </a:solidFill>
                <a:latin typeface="Verdana" panose="020B0604030504040204" pitchFamily="34" charset="0"/>
                <a:ea typeface="Verdana" panose="020B0604030504040204" pitchFamily="34" charset="0"/>
                <a:cs typeface="Verdana" panose="020B0604030504040204" pitchFamily="34" charset="0"/>
              </a:rPr>
              <a:t>MemTable</a:t>
            </a:r>
            <a:r>
              <a:rPr lang="es-MX" b="1" i="1" dirty="0">
                <a:solidFill>
                  <a:srgbClr val="FF0000"/>
                </a:solidFill>
                <a:latin typeface="Verdana" panose="020B0604030504040204" pitchFamily="34" charset="0"/>
                <a:ea typeface="Verdana" panose="020B0604030504040204" pitchFamily="34" charset="0"/>
                <a:cs typeface="Verdana" panose="020B0604030504040204" pitchFamily="34" charset="0"/>
              </a:rPr>
              <a:t>: </a:t>
            </a:r>
            <a:r>
              <a:rPr lang="es-MX" sz="2000" dirty="0">
                <a:latin typeface="Verdana" panose="020B0604030504040204" pitchFamily="34" charset="0"/>
                <a:ea typeface="Verdana" panose="020B0604030504040204" pitchFamily="34" charset="0"/>
                <a:cs typeface="Verdana" panose="020B0604030504040204" pitchFamily="34" charset="0"/>
              </a:rPr>
              <a:t>Estructura de datos residente en la memoria. Después del registro de confirmación los datos se escribirán en la </a:t>
            </a:r>
            <a:r>
              <a:rPr lang="es-MX" sz="2000" i="1" dirty="0" err="1">
                <a:latin typeface="Verdana" panose="020B0604030504040204" pitchFamily="34" charset="0"/>
                <a:ea typeface="Verdana" panose="020B0604030504040204" pitchFamily="34" charset="0"/>
                <a:cs typeface="Verdana" panose="020B0604030504040204" pitchFamily="34" charset="0"/>
              </a:rPr>
              <a:t>SStable</a:t>
            </a:r>
            <a:r>
              <a:rPr lang="es-MX" sz="2000" dirty="0">
                <a:latin typeface="Verdana" panose="020B0604030504040204" pitchFamily="34" charset="0"/>
                <a:ea typeface="Verdana" panose="020B0604030504040204" pitchFamily="34" charset="0"/>
                <a:cs typeface="Verdana" panose="020B0604030504040204" pitchFamily="34" charset="0"/>
              </a:rPr>
              <a:t> desde </a:t>
            </a:r>
            <a:r>
              <a:rPr lang="es-MX" sz="2000" dirty="0" err="1">
                <a:latin typeface="Verdana" panose="020B0604030504040204" pitchFamily="34" charset="0"/>
                <a:ea typeface="Verdana" panose="020B0604030504040204" pitchFamily="34" charset="0"/>
                <a:cs typeface="Verdana" panose="020B0604030504040204" pitchFamily="34" charset="0"/>
              </a:rPr>
              <a:t>MemTable</a:t>
            </a:r>
            <a:r>
              <a:rPr lang="es-MX" sz="2000" dirty="0">
                <a:latin typeface="Verdana" panose="020B0604030504040204" pitchFamily="34" charset="0"/>
                <a:ea typeface="Verdana" panose="020B0604030504040204" pitchFamily="34" charset="0"/>
                <a:cs typeface="Verdana" panose="020B0604030504040204" pitchFamily="34" charset="0"/>
              </a:rPr>
              <a:t>. </a:t>
            </a:r>
          </a:p>
          <a:p>
            <a:pPr marL="342900" indent="-342900" algn="just">
              <a:buFont typeface="Wingdings" panose="05000000000000000000" pitchFamily="2" charset="2"/>
              <a:buChar char="Ø"/>
            </a:pPr>
            <a:endParaRPr lang="es-MX" sz="2000" dirty="0">
              <a:latin typeface="Verdana" panose="020B0604030504040204" pitchFamily="34" charset="0"/>
              <a:ea typeface="Verdana" panose="020B0604030504040204" pitchFamily="34" charset="0"/>
              <a:cs typeface="Verdana" panose="020B0604030504040204" pitchFamily="34" charset="0"/>
            </a:endParaRPr>
          </a:p>
          <a:p>
            <a:pPr marL="342900" indent="-342900" algn="just">
              <a:buFont typeface="Wingdings" panose="05000000000000000000" pitchFamily="2" charset="2"/>
              <a:buChar char="Ø"/>
            </a:pPr>
            <a:r>
              <a:rPr lang="es-MX" b="1" i="1" dirty="0" err="1">
                <a:solidFill>
                  <a:srgbClr val="FF0000"/>
                </a:solidFill>
                <a:latin typeface="Verdana" panose="020B0604030504040204" pitchFamily="34" charset="0"/>
                <a:ea typeface="Verdana" panose="020B0604030504040204" pitchFamily="34" charset="0"/>
                <a:cs typeface="Verdana" panose="020B0604030504040204" pitchFamily="34" charset="0"/>
              </a:rPr>
              <a:t>SSTable</a:t>
            </a:r>
            <a:r>
              <a:rPr lang="es-MX" b="1" i="1" dirty="0">
                <a:solidFill>
                  <a:srgbClr val="FF0000"/>
                </a:solidFill>
                <a:latin typeface="Verdana" panose="020B0604030504040204" pitchFamily="34" charset="0"/>
                <a:ea typeface="Verdana" panose="020B0604030504040204" pitchFamily="34" charset="0"/>
                <a:cs typeface="Verdana" panose="020B0604030504040204" pitchFamily="34" charset="0"/>
              </a:rPr>
              <a:t>: </a:t>
            </a:r>
            <a:r>
              <a:rPr lang="es-MX" sz="2000" dirty="0">
                <a:latin typeface="Verdana" panose="020B0604030504040204" pitchFamily="34" charset="0"/>
                <a:ea typeface="Verdana" panose="020B0604030504040204" pitchFamily="34" charset="0"/>
                <a:cs typeface="Verdana" panose="020B0604030504040204" pitchFamily="34" charset="0"/>
              </a:rPr>
              <a:t>es un archivo de disco en donde se guarda el contenido de la </a:t>
            </a:r>
            <a:r>
              <a:rPr lang="es-MX" sz="2000" i="1" dirty="0" err="1">
                <a:latin typeface="Verdana" panose="020B0604030504040204" pitchFamily="34" charset="0"/>
                <a:ea typeface="Verdana" panose="020B0604030504040204" pitchFamily="34" charset="0"/>
                <a:cs typeface="Verdana" panose="020B0604030504040204" pitchFamily="34" charset="0"/>
              </a:rPr>
              <a:t>MemTable</a:t>
            </a:r>
            <a:r>
              <a:rPr lang="es-MX" sz="2000" dirty="0">
                <a:latin typeface="Verdana" panose="020B0604030504040204" pitchFamily="34" charset="0"/>
                <a:ea typeface="Verdana" panose="020B0604030504040204" pitchFamily="34" charset="0"/>
                <a:cs typeface="Verdana" panose="020B0604030504040204" pitchFamily="34" charset="0"/>
              </a:rPr>
              <a:t> cuando alcanza un valor determinado. Cada fichero </a:t>
            </a:r>
            <a:r>
              <a:rPr lang="es-MX" sz="2000" i="1" dirty="0" err="1">
                <a:latin typeface="Verdana" panose="020B0604030504040204" pitchFamily="34" charset="0"/>
                <a:ea typeface="Verdana" panose="020B0604030504040204" pitchFamily="34" charset="0"/>
                <a:cs typeface="Verdana" panose="020B0604030504040204" pitchFamily="34" charset="0"/>
              </a:rPr>
              <a:t>SSTable</a:t>
            </a:r>
            <a:r>
              <a:rPr lang="es-MX" sz="2000" dirty="0">
                <a:latin typeface="Verdana" panose="020B0604030504040204" pitchFamily="34" charset="0"/>
                <a:ea typeface="Verdana" panose="020B0604030504040204" pitchFamily="34" charset="0"/>
                <a:cs typeface="Verdana" panose="020B0604030504040204" pitchFamily="34" charset="0"/>
              </a:rPr>
              <a:t> es inmutable una vez creado.</a:t>
            </a:r>
          </a:p>
          <a:p>
            <a:endParaRPr lang="es-MX"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9147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1000"/>
                                        <p:tgtEl>
                                          <p:spTgt spid="2">
                                            <p:txEl>
                                              <p:pRg st="8" end="8"/>
                                            </p:txEl>
                                          </p:spTgt>
                                        </p:tgtEl>
                                      </p:cBhvr>
                                    </p:animEffect>
                                    <p:anim calcmode="lin" valueType="num">
                                      <p:cBhvr>
                                        <p:cTn id="36"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10" end="10"/>
                                            </p:txEl>
                                          </p:spTgt>
                                        </p:tgtEl>
                                        <p:attrNameLst>
                                          <p:attrName>style.visibility</p:attrName>
                                        </p:attrNameLst>
                                      </p:cBhvr>
                                      <p:to>
                                        <p:strVal val="visible"/>
                                      </p:to>
                                    </p:set>
                                    <p:animEffect transition="in" filter="fade">
                                      <p:cBhvr>
                                        <p:cTn id="42" dur="1000"/>
                                        <p:tgtEl>
                                          <p:spTgt spid="2">
                                            <p:txEl>
                                              <p:pRg st="10" end="10"/>
                                            </p:txEl>
                                          </p:spTgt>
                                        </p:tgtEl>
                                      </p:cBhvr>
                                    </p:animEffect>
                                    <p:anim calcmode="lin" valueType="num">
                                      <p:cBhvr>
                                        <p:cTn id="43"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dirty="0" err="1">
                <a:solidFill>
                  <a:srgbClr val="FFFFFF"/>
                </a:solidFill>
                <a:latin typeface="+mj-lt"/>
                <a:ea typeface="+mj-ea"/>
                <a:cs typeface="+mj-cs"/>
              </a:rPr>
              <a:t>Actividad</a:t>
            </a:r>
            <a:r>
              <a:rPr lang="en-US" sz="4000" b="1" kern="1200" dirty="0">
                <a:solidFill>
                  <a:srgbClr val="FFFFFF"/>
                </a:solidFill>
                <a:latin typeface="+mj-lt"/>
                <a:ea typeface="+mj-ea"/>
                <a:cs typeface="+mj-cs"/>
              </a:rPr>
              <a:t> de </a:t>
            </a:r>
            <a:r>
              <a:rPr lang="en-US" sz="4000" b="1" kern="1200" dirty="0" err="1">
                <a:solidFill>
                  <a:srgbClr val="FFFFFF"/>
                </a:solidFill>
                <a:latin typeface="+mj-lt"/>
                <a:ea typeface="+mj-ea"/>
                <a:cs typeface="+mj-cs"/>
              </a:rPr>
              <a:t>Escritura</a:t>
            </a:r>
            <a:endParaRPr lang="en-US" sz="4000" kern="1200" dirty="0">
              <a:solidFill>
                <a:srgbClr val="FFFFFF"/>
              </a:solidFill>
              <a:latin typeface="+mj-lt"/>
              <a:ea typeface="+mj-ea"/>
              <a:cs typeface="+mj-cs"/>
            </a:endParaRPr>
          </a:p>
        </p:txBody>
      </p:sp>
      <p:sp>
        <p:nvSpPr>
          <p:cNvPr id="2" name="CuadroTexto 1"/>
          <p:cNvSpPr txBox="1"/>
          <p:nvPr/>
        </p:nvSpPr>
        <p:spPr>
          <a:xfrm>
            <a:off x="4504548" y="649480"/>
            <a:ext cx="7220729" cy="5546047"/>
          </a:xfrm>
          <a:prstGeom prst="rect">
            <a:avLst/>
          </a:prstGeom>
        </p:spPr>
        <p:txBody>
          <a:bodyPr vert="horz" lIns="91440" tIns="45720" rIns="91440" bIns="45720" rtlCol="0" anchor="ctr">
            <a:normAutofit/>
          </a:bodyPr>
          <a:lstStyle/>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Cada actividad de escritura de nodos es capturada por los </a:t>
            </a:r>
            <a:r>
              <a:rPr lang="es-AR" sz="2000" b="1" i="1" dirty="0" err="1">
                <a:latin typeface="Verdana" panose="020B0604030504040204" pitchFamily="34" charset="0"/>
                <a:ea typeface="Verdana" panose="020B0604030504040204" pitchFamily="34" charset="0"/>
              </a:rPr>
              <a:t>Commit</a:t>
            </a:r>
            <a:r>
              <a:rPr lang="es-AR" sz="2000" b="1" i="1" dirty="0">
                <a:latin typeface="Verdana" panose="020B0604030504040204" pitchFamily="34" charset="0"/>
                <a:ea typeface="Verdana" panose="020B0604030504040204" pitchFamily="34" charset="0"/>
              </a:rPr>
              <a:t> log</a:t>
            </a:r>
            <a:r>
              <a:rPr lang="es-AR" sz="2000" dirty="0">
                <a:latin typeface="Verdana" panose="020B0604030504040204" pitchFamily="34" charset="0"/>
                <a:ea typeface="Verdana" panose="020B0604030504040204" pitchFamily="34" charset="0"/>
              </a:rPr>
              <a:t> escritos en los nodos. </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Más tarde, los datos serán capturados y almacenados en la </a:t>
            </a:r>
            <a:r>
              <a:rPr lang="es-AR" sz="2000" b="1" i="1" dirty="0" err="1">
                <a:latin typeface="Verdana" panose="020B0604030504040204" pitchFamily="34" charset="0"/>
                <a:ea typeface="Verdana" panose="020B0604030504040204" pitchFamily="34" charset="0"/>
              </a:rPr>
              <a:t>MemTable</a:t>
            </a:r>
            <a:r>
              <a:rPr lang="es-AR" sz="2000" dirty="0">
                <a:latin typeface="Verdana" panose="020B0604030504040204" pitchFamily="34" charset="0"/>
                <a:ea typeface="Verdana" panose="020B0604030504040204" pitchFamily="34" charset="0"/>
              </a:rPr>
              <a:t>. </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Siempre que la </a:t>
            </a:r>
            <a:r>
              <a:rPr lang="es-AR" sz="2000" b="1" i="1" dirty="0" err="1">
                <a:latin typeface="Verdana" panose="020B0604030504040204" pitchFamily="34" charset="0"/>
                <a:ea typeface="Verdana" panose="020B0604030504040204" pitchFamily="34" charset="0"/>
              </a:rPr>
              <a:t>MemTable</a:t>
            </a:r>
            <a:r>
              <a:rPr lang="es-AR" sz="2000" dirty="0">
                <a:latin typeface="Verdana" panose="020B0604030504040204" pitchFamily="34" charset="0"/>
                <a:ea typeface="Verdana" panose="020B0604030504040204" pitchFamily="34" charset="0"/>
              </a:rPr>
              <a:t> esté llena, los datos se escribirán en el archivo de datos de </a:t>
            </a:r>
            <a:r>
              <a:rPr lang="es-AR" sz="2000"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 </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Todas las escrituras se parten automáticamente y se replican en todo el </a:t>
            </a:r>
            <a:r>
              <a:rPr lang="es-AR" sz="2000" b="1" i="1" dirty="0">
                <a:latin typeface="Verdana" panose="020B0604030504040204" pitchFamily="34" charset="0"/>
                <a:ea typeface="Verdana" panose="020B0604030504040204" pitchFamily="34" charset="0"/>
              </a:rPr>
              <a:t>Clúster</a:t>
            </a:r>
            <a:r>
              <a:rPr lang="es-AR" sz="2000" dirty="0">
                <a:latin typeface="Verdana" panose="020B0604030504040204" pitchFamily="34" charset="0"/>
                <a:ea typeface="Verdana" panose="020B0604030504040204" pitchFamily="34" charset="0"/>
              </a:rPr>
              <a:t>. </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Cassandra consolida periódicamente los </a:t>
            </a:r>
            <a:r>
              <a:rPr lang="es-AR" sz="2000" b="1" i="1" dirty="0" err="1">
                <a:latin typeface="Verdana" panose="020B0604030504040204" pitchFamily="34" charset="0"/>
                <a:ea typeface="Verdana" panose="020B0604030504040204" pitchFamily="34" charset="0"/>
              </a:rPr>
              <a:t>SSTables</a:t>
            </a:r>
            <a:r>
              <a:rPr lang="es-AR" sz="2000" dirty="0">
                <a:latin typeface="Verdana" panose="020B0604030504040204" pitchFamily="34" charset="0"/>
                <a:ea typeface="Verdana" panose="020B0604030504040204" pitchFamily="34" charset="0"/>
              </a:rPr>
              <a:t>, descartando datos innecesarios.</a:t>
            </a:r>
          </a:p>
        </p:txBody>
      </p:sp>
    </p:spTree>
    <p:extLst>
      <p:ext uri="{BB962C8B-B14F-4D97-AF65-F5344CB8AC3E}">
        <p14:creationId xmlns:p14="http://schemas.microsoft.com/office/powerpoint/2010/main" val="509623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p:cNvSpPr txBox="1"/>
          <p:nvPr/>
        </p:nvSpPr>
        <p:spPr>
          <a:xfrm>
            <a:off x="4581727" y="649480"/>
            <a:ext cx="3025303"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endParaRPr lang="en-US" sz="2000" dirty="0"/>
          </a:p>
        </p:txBody>
      </p:sp>
      <p:pic>
        <p:nvPicPr>
          <p:cNvPr id="3" name="Imagen 2" descr="Diagrama&#10;&#10;Descripción generada automáticamente"/>
          <p:cNvPicPr>
            <a:picLocks noChangeAspect="1"/>
          </p:cNvPicPr>
          <p:nvPr/>
        </p:nvPicPr>
        <p:blipFill>
          <a:blip r:embed="rId2"/>
          <a:stretch>
            <a:fillRect/>
          </a:stretch>
        </p:blipFill>
        <p:spPr>
          <a:xfrm>
            <a:off x="4806464" y="511388"/>
            <a:ext cx="6502237" cy="6005882"/>
          </a:xfrm>
          <a:prstGeom prst="rect">
            <a:avLst/>
          </a:prstGeom>
        </p:spPr>
      </p:pic>
      <p:sp>
        <p:nvSpPr>
          <p:cNvPr id="22" name="CuadroTexto 21">
            <a:extLst>
              <a:ext uri="{FF2B5EF4-FFF2-40B4-BE49-F238E27FC236}">
                <a16:creationId xmlns:a16="http://schemas.microsoft.com/office/drawing/2014/main" id="{4F081339-1D28-90B7-B3FA-56644EACBB99}"/>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dirty="0" err="1">
                <a:solidFill>
                  <a:srgbClr val="FFFFFF"/>
                </a:solidFill>
                <a:latin typeface="+mj-lt"/>
                <a:ea typeface="+mj-ea"/>
                <a:cs typeface="+mj-cs"/>
              </a:rPr>
              <a:t>Actividad</a:t>
            </a:r>
            <a:r>
              <a:rPr lang="en-US" sz="4000" b="1" kern="1200" dirty="0">
                <a:solidFill>
                  <a:srgbClr val="FFFFFF"/>
                </a:solidFill>
                <a:latin typeface="+mj-lt"/>
                <a:ea typeface="+mj-ea"/>
                <a:cs typeface="+mj-cs"/>
              </a:rPr>
              <a:t> de </a:t>
            </a:r>
            <a:r>
              <a:rPr lang="en-US" sz="4000" b="1" kern="1200" dirty="0" err="1">
                <a:solidFill>
                  <a:srgbClr val="FFFFFF"/>
                </a:solidFill>
                <a:latin typeface="+mj-lt"/>
                <a:ea typeface="+mj-ea"/>
                <a:cs typeface="+mj-cs"/>
              </a:rPr>
              <a:t>Escritura</a:t>
            </a:r>
            <a:endParaRPr lang="en-US" sz="4000" kern="1200" dirty="0">
              <a:solidFill>
                <a:srgbClr val="FFFFFF"/>
              </a:solidFill>
              <a:latin typeface="+mj-lt"/>
              <a:ea typeface="+mj-ea"/>
              <a:cs typeface="+mj-cs"/>
            </a:endParaRPr>
          </a:p>
        </p:txBody>
      </p:sp>
    </p:spTree>
    <p:extLst>
      <p:ext uri="{BB962C8B-B14F-4D97-AF65-F5344CB8AC3E}">
        <p14:creationId xmlns:p14="http://schemas.microsoft.com/office/powerpoint/2010/main" val="298261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p:cNvSpPr/>
          <p:nvPr/>
        </p:nvSpPr>
        <p:spPr>
          <a:xfrm>
            <a:off x="4504549" y="649480"/>
            <a:ext cx="6850806" cy="5546047"/>
          </a:xfrm>
          <a:prstGeom prst="rect">
            <a:avLst/>
          </a:prstGeom>
        </p:spPr>
        <p:txBody>
          <a:bodyPr vert="horz" lIns="91440" tIns="45720" rIns="91440" bIns="45720" rtlCol="0" anchor="ctr">
            <a:normAutofit/>
          </a:bodyPr>
          <a:lstStyle/>
          <a:p>
            <a:pPr marL="5715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Escritura en el </a:t>
            </a:r>
            <a:r>
              <a:rPr lang="es-AR" b="1" i="1" dirty="0" err="1">
                <a:latin typeface="Verdana" panose="020B0604030504040204" pitchFamily="34" charset="0"/>
                <a:ea typeface="Verdana" panose="020B0604030504040204" pitchFamily="34" charset="0"/>
              </a:rPr>
              <a:t>Commit</a:t>
            </a:r>
            <a:r>
              <a:rPr lang="es-AR" sz="2000" b="1" i="1" dirty="0">
                <a:latin typeface="Verdana" panose="020B0604030504040204" pitchFamily="34" charset="0"/>
                <a:ea typeface="Verdana" panose="020B0604030504040204" pitchFamily="34" charset="0"/>
              </a:rPr>
              <a:t> </a:t>
            </a:r>
            <a:r>
              <a:rPr lang="es-AR" b="1" i="1" dirty="0">
                <a:latin typeface="Verdana" panose="020B0604030504040204" pitchFamily="34" charset="0"/>
                <a:ea typeface="Verdana" panose="020B0604030504040204" pitchFamily="34" charset="0"/>
              </a:rPr>
              <a:t>log</a:t>
            </a:r>
            <a:r>
              <a:rPr lang="es-AR" sz="2000" dirty="0">
                <a:latin typeface="Verdana" panose="020B0604030504040204" pitchFamily="34" charset="0"/>
                <a:ea typeface="Verdana" panose="020B0604030504040204" pitchFamily="34" charset="0"/>
              </a:rPr>
              <a:t>: almacena </a:t>
            </a:r>
            <a:r>
              <a:rPr lang="es-AR" b="1" i="1" dirty="0">
                <a:latin typeface="Verdana" panose="020B0604030504040204" pitchFamily="34" charset="0"/>
                <a:ea typeface="Verdana" panose="020B0604030504040204" pitchFamily="34" charset="0"/>
              </a:rPr>
              <a:t>TODA</a:t>
            </a:r>
            <a:r>
              <a:rPr lang="es-AR" sz="2000" dirty="0">
                <a:latin typeface="Verdana" panose="020B0604030504040204" pitchFamily="34" charset="0"/>
                <a:ea typeface="Verdana" panose="020B0604030504040204" pitchFamily="34" charset="0"/>
              </a:rPr>
              <a:t> la actividad de escritura para garantizar la durabilidad de los datos.</a:t>
            </a:r>
          </a:p>
          <a:p>
            <a:pPr marL="5715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Escritura en </a:t>
            </a:r>
            <a:r>
              <a:rPr lang="es-AR" b="1" i="1" dirty="0" err="1">
                <a:latin typeface="Verdana" panose="020B0604030504040204" pitchFamily="34" charset="0"/>
                <a:ea typeface="Verdana" panose="020B0604030504040204" pitchFamily="34" charset="0"/>
              </a:rPr>
              <a:t>MemTable</a:t>
            </a:r>
            <a:r>
              <a:rPr lang="es-AR" sz="2000" dirty="0">
                <a:latin typeface="Verdana" panose="020B0604030504040204" pitchFamily="34" charset="0"/>
                <a:ea typeface="Verdana" panose="020B0604030504040204" pitchFamily="34" charset="0"/>
              </a:rPr>
              <a:t>: almacena las escrituras de cada familia de columnas de forma temporal en memoria.</a:t>
            </a:r>
          </a:p>
          <a:p>
            <a:pPr marL="571500" indent="-342900" algn="just">
              <a:spcBef>
                <a:spcPts val="1200"/>
              </a:spcBef>
              <a:spcAft>
                <a:spcPts val="1200"/>
              </a:spcAft>
              <a:buFont typeface="Wingdings" panose="05000000000000000000" pitchFamily="2" charset="2"/>
              <a:buChar char="Ø"/>
            </a:pPr>
            <a:r>
              <a:rPr lang="es-AR" sz="2000" dirty="0" err="1">
                <a:latin typeface="Verdana" panose="020B0604030504040204" pitchFamily="34" charset="0"/>
                <a:ea typeface="Verdana" panose="020B0604030504040204" pitchFamily="34" charset="0"/>
              </a:rPr>
              <a:t>Flush</a:t>
            </a:r>
            <a:r>
              <a:rPr lang="es-AR" sz="2000" dirty="0">
                <a:latin typeface="Verdana" panose="020B0604030504040204" pitchFamily="34" charset="0"/>
                <a:ea typeface="Verdana" panose="020B0604030504040204" pitchFamily="34" charset="0"/>
              </a:rPr>
              <a:t> de la </a:t>
            </a:r>
            <a:r>
              <a:rPr lang="es-AR" b="1" i="1" dirty="0" err="1">
                <a:latin typeface="Verdana" panose="020B0604030504040204" pitchFamily="34" charset="0"/>
                <a:ea typeface="Verdana" panose="020B0604030504040204" pitchFamily="34" charset="0"/>
              </a:rPr>
              <a:t>MemTable</a:t>
            </a:r>
            <a:r>
              <a:rPr lang="es-AR" sz="2000" dirty="0">
                <a:latin typeface="Verdana" panose="020B0604030504040204" pitchFamily="34" charset="0"/>
                <a:ea typeface="Verdana" panose="020B0604030504040204" pitchFamily="34" charset="0"/>
              </a:rPr>
              <a:t>: cuando se llena se libera la memoria mediante un borrado de los datos después de escribir en la </a:t>
            </a:r>
            <a:r>
              <a:rPr lang="es-AR"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a:t>
            </a:r>
          </a:p>
          <a:p>
            <a:pPr marL="571500" indent="-342900" algn="just">
              <a:lnSpc>
                <a:spcPct val="90000"/>
              </a:lnSpc>
              <a:spcAft>
                <a:spcPts val="600"/>
              </a:spcAft>
              <a:buFont typeface="Wingdings" panose="05000000000000000000" pitchFamily="2" charset="2"/>
              <a:buChar char="Ø"/>
            </a:pPr>
            <a:endParaRPr lang="es-AR" sz="2000" dirty="0">
              <a:latin typeface="Verdana" panose="020B0604030504040204" pitchFamily="34" charset="0"/>
              <a:ea typeface="Verdana" panose="020B0604030504040204" pitchFamily="34" charset="0"/>
            </a:endParaRPr>
          </a:p>
          <a:p>
            <a:pPr marL="114300" algn="just">
              <a:lnSpc>
                <a:spcPct val="90000"/>
              </a:lnSpc>
              <a:spcAft>
                <a:spcPts val="600"/>
              </a:spcAft>
            </a:pPr>
            <a:r>
              <a:rPr lang="es-AR" i="1" dirty="0">
                <a:latin typeface="Verdana" panose="020B0604030504040204" pitchFamily="34" charset="0"/>
                <a:ea typeface="Verdana" panose="020B0604030504040204" pitchFamily="34" charset="0"/>
              </a:rPr>
              <a:t>En Cassandra, las escrituras son “baratas”, si el sistema se apagara podríamos recuperarlo desde el </a:t>
            </a:r>
            <a:r>
              <a:rPr lang="es-AR" sz="1600" b="1" i="1" dirty="0" err="1">
                <a:latin typeface="Verdana" panose="020B0604030504040204" pitchFamily="34" charset="0"/>
                <a:ea typeface="Verdana" panose="020B0604030504040204" pitchFamily="34" charset="0"/>
              </a:rPr>
              <a:t>Commit</a:t>
            </a:r>
            <a:r>
              <a:rPr lang="es-AR" sz="1600" b="1" i="1" dirty="0">
                <a:latin typeface="Verdana" panose="020B0604030504040204" pitchFamily="34" charset="0"/>
                <a:ea typeface="Verdana" panose="020B0604030504040204" pitchFamily="34" charset="0"/>
              </a:rPr>
              <a:t> log</a:t>
            </a:r>
            <a:endParaRPr lang="es-AR" b="1" i="1" dirty="0">
              <a:latin typeface="Verdana" panose="020B0604030504040204" pitchFamily="34" charset="0"/>
              <a:ea typeface="Verdana" panose="020B0604030504040204" pitchFamily="34" charset="0"/>
            </a:endParaRPr>
          </a:p>
          <a:p>
            <a:pPr marL="228600" algn="just">
              <a:lnSpc>
                <a:spcPct val="90000"/>
              </a:lnSpc>
              <a:spcAft>
                <a:spcPts val="600"/>
              </a:spcAft>
            </a:pPr>
            <a:endParaRPr lang="es-AR" sz="2000" dirty="0">
              <a:latin typeface="Verdana" panose="020B0604030504040204" pitchFamily="34" charset="0"/>
              <a:ea typeface="Verdana" panose="020B0604030504040204" pitchFamily="34" charset="0"/>
            </a:endParaRPr>
          </a:p>
        </p:txBody>
      </p:sp>
      <p:sp>
        <p:nvSpPr>
          <p:cNvPr id="3" name="CuadroTexto 2">
            <a:extLst>
              <a:ext uri="{FF2B5EF4-FFF2-40B4-BE49-F238E27FC236}">
                <a16:creationId xmlns:a16="http://schemas.microsoft.com/office/drawing/2014/main" id="{38735E8C-5FC2-BF78-EF99-BC0AA0A11F90}"/>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dirty="0" err="1">
                <a:solidFill>
                  <a:srgbClr val="FFFFFF"/>
                </a:solidFill>
                <a:latin typeface="+mj-lt"/>
                <a:ea typeface="+mj-ea"/>
                <a:cs typeface="+mj-cs"/>
              </a:rPr>
              <a:t>Actividad</a:t>
            </a:r>
            <a:r>
              <a:rPr lang="en-US" sz="4000" b="1" kern="1200" dirty="0">
                <a:solidFill>
                  <a:srgbClr val="FFFFFF"/>
                </a:solidFill>
                <a:latin typeface="+mj-lt"/>
                <a:ea typeface="+mj-ea"/>
                <a:cs typeface="+mj-cs"/>
              </a:rPr>
              <a:t> de </a:t>
            </a:r>
            <a:r>
              <a:rPr lang="en-US" sz="4000" b="1" kern="1200" dirty="0" err="1">
                <a:solidFill>
                  <a:srgbClr val="FFFFFF"/>
                </a:solidFill>
                <a:latin typeface="+mj-lt"/>
                <a:ea typeface="+mj-ea"/>
                <a:cs typeface="+mj-cs"/>
              </a:rPr>
              <a:t>Escritura</a:t>
            </a:r>
            <a:endParaRPr lang="en-US" sz="4000" b="1" kern="1200" dirty="0">
              <a:solidFill>
                <a:srgbClr val="FFFFFF"/>
              </a:solidFill>
              <a:latin typeface="+mj-lt"/>
              <a:ea typeface="+mj-ea"/>
              <a:cs typeface="+mj-cs"/>
            </a:endParaRPr>
          </a:p>
          <a:p>
            <a:pPr algn="r">
              <a:lnSpc>
                <a:spcPct val="90000"/>
              </a:lnSpc>
              <a:spcBef>
                <a:spcPct val="0"/>
              </a:spcBef>
              <a:spcAft>
                <a:spcPts val="600"/>
              </a:spcAft>
            </a:pPr>
            <a:r>
              <a:rPr lang="en-US" sz="4000" b="1" dirty="0" err="1">
                <a:solidFill>
                  <a:srgbClr val="FFFFFF"/>
                </a:solidFill>
                <a:latin typeface="+mj-lt"/>
                <a:ea typeface="+mj-ea"/>
                <a:cs typeface="+mj-cs"/>
              </a:rPr>
              <a:t>MemTable</a:t>
            </a:r>
            <a:endParaRPr lang="en-US" sz="4000" kern="1200" dirty="0">
              <a:solidFill>
                <a:srgbClr val="FFFFFF"/>
              </a:solidFill>
              <a:latin typeface="+mj-lt"/>
              <a:ea typeface="+mj-ea"/>
              <a:cs typeface="+mj-cs"/>
            </a:endParaRPr>
          </a:p>
        </p:txBody>
      </p:sp>
    </p:spTree>
    <p:extLst>
      <p:ext uri="{BB962C8B-B14F-4D97-AF65-F5344CB8AC3E}">
        <p14:creationId xmlns:p14="http://schemas.microsoft.com/office/powerpoint/2010/main" val="2235341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p:cNvSpPr/>
          <p:nvPr/>
        </p:nvSpPr>
        <p:spPr>
          <a:xfrm>
            <a:off x="4301412" y="649480"/>
            <a:ext cx="7423865" cy="5546047"/>
          </a:xfrm>
          <a:prstGeom prst="rect">
            <a:avLst/>
          </a:prstGeom>
        </p:spPr>
        <p:txBody>
          <a:bodyPr vert="horz" lIns="91440" tIns="45720" rIns="91440" bIns="45720" rtlCol="0" anchor="ctr">
            <a:normAutofit/>
          </a:bodyPr>
          <a:lstStyle/>
          <a:p>
            <a:pPr marL="342900" indent="-342900" algn="just">
              <a:spcBef>
                <a:spcPts val="1200"/>
              </a:spcBef>
              <a:spcAft>
                <a:spcPts val="1200"/>
              </a:spcAft>
              <a:buFont typeface="Wingdings" panose="05000000000000000000" pitchFamily="2" charset="2"/>
              <a:buChar char="Ø"/>
            </a:pPr>
            <a:r>
              <a:rPr lang="en-US" sz="2000" dirty="0">
                <a:latin typeface="Verdana" panose="020B0604030504040204" pitchFamily="34" charset="0"/>
                <a:ea typeface="Verdana" panose="020B0604030504040204" pitchFamily="34" charset="0"/>
              </a:rPr>
              <a:t>Los </a:t>
            </a:r>
            <a:r>
              <a:rPr lang="en-US" sz="2000" dirty="0" err="1">
                <a:latin typeface="Verdana" panose="020B0604030504040204" pitchFamily="34" charset="0"/>
                <a:ea typeface="Verdana" panose="020B0604030504040204" pitchFamily="34" charset="0"/>
              </a:rPr>
              <a:t>datos</a:t>
            </a:r>
            <a:r>
              <a:rPr lang="en-US" sz="2000" dirty="0">
                <a:latin typeface="Verdana" panose="020B0604030504040204" pitchFamily="34" charset="0"/>
                <a:ea typeface="Verdana" panose="020B0604030504040204" pitchFamily="34" charset="0"/>
              </a:rPr>
              <a:t> de la </a:t>
            </a:r>
            <a:r>
              <a:rPr lang="en-US" sz="2000" b="1" dirty="0" err="1">
                <a:latin typeface="Verdana" panose="020B0604030504040204" pitchFamily="34" charset="0"/>
                <a:ea typeface="Verdana" panose="020B0604030504040204" pitchFamily="34" charset="0"/>
              </a:rPr>
              <a:t>MemTable</a:t>
            </a:r>
            <a:r>
              <a:rPr lang="en-US" sz="2000" dirty="0">
                <a:latin typeface="Verdana" panose="020B0604030504040204" pitchFamily="34" charset="0"/>
                <a:ea typeface="Verdana" panose="020B0604030504040204" pitchFamily="34" charset="0"/>
              </a:rPr>
              <a:t> se </a:t>
            </a:r>
            <a:r>
              <a:rPr lang="en-US" sz="2000" dirty="0" err="1">
                <a:latin typeface="Verdana" panose="020B0604030504040204" pitchFamily="34" charset="0"/>
                <a:ea typeface="Verdana" panose="020B0604030504040204" pitchFamily="34" charset="0"/>
              </a:rPr>
              <a:t>escriben</a:t>
            </a:r>
            <a:r>
              <a:rPr lang="en-US" sz="2000" dirty="0">
                <a:latin typeface="Verdana" panose="020B0604030504040204" pitchFamily="34" charset="0"/>
                <a:ea typeface="Verdana" panose="020B0604030504040204" pitchFamily="34" charset="0"/>
              </a:rPr>
              <a:t> en </a:t>
            </a:r>
            <a:r>
              <a:rPr lang="en-US" sz="2000" dirty="0" err="1">
                <a:latin typeface="Verdana" panose="020B0604030504040204" pitchFamily="34" charset="0"/>
                <a:ea typeface="Verdana" panose="020B0604030504040204" pitchFamily="34" charset="0"/>
              </a:rPr>
              <a:t>ficheros</a:t>
            </a:r>
            <a:r>
              <a:rPr lang="en-US" sz="2000" dirty="0">
                <a:latin typeface="Verdana" panose="020B0604030504040204" pitchFamily="34" charset="0"/>
                <a:ea typeface="Verdana" panose="020B0604030504040204" pitchFamily="34" charset="0"/>
              </a:rPr>
              <a:t> </a:t>
            </a:r>
            <a:r>
              <a:rPr lang="en-US" sz="2000" b="1" dirty="0" err="1">
                <a:latin typeface="Verdana" panose="020B0604030504040204" pitchFamily="34" charset="0"/>
                <a:ea typeface="Verdana" panose="020B0604030504040204" pitchFamily="34" charset="0"/>
              </a:rPr>
              <a:t>SSTable</a:t>
            </a:r>
            <a:r>
              <a:rPr lang="en-US" sz="2000" dirty="0">
                <a:latin typeface="Verdana" panose="020B0604030504040204" pitchFamily="34" charset="0"/>
                <a:ea typeface="Verdana" panose="020B0604030504040204" pitchFamily="34" charset="0"/>
              </a:rPr>
              <a:t> y se </a:t>
            </a:r>
            <a:r>
              <a:rPr lang="en-US" sz="2000" dirty="0" err="1">
                <a:latin typeface="Verdana" panose="020B0604030504040204" pitchFamily="34" charset="0"/>
                <a:ea typeface="Verdana" panose="020B0604030504040204" pitchFamily="34" charset="0"/>
              </a:rPr>
              <a:t>borran</a:t>
            </a:r>
            <a:r>
              <a:rPr lang="en-US" sz="2000" dirty="0">
                <a:latin typeface="Verdana" panose="020B0604030504040204" pitchFamily="34" charset="0"/>
                <a:ea typeface="Verdana" panose="020B0604030504040204" pitchFamily="34" charset="0"/>
              </a:rPr>
              <a:t> de la </a:t>
            </a:r>
            <a:r>
              <a:rPr lang="en-US" sz="2000" b="1" dirty="0" err="1">
                <a:latin typeface="Verdana" panose="020B0604030504040204" pitchFamily="34" charset="0"/>
                <a:ea typeface="Verdana" panose="020B0604030504040204" pitchFamily="34" charset="0"/>
              </a:rPr>
              <a:t>MenTable</a:t>
            </a:r>
            <a:r>
              <a:rPr lang="en-US" sz="2000" dirty="0">
                <a:latin typeface="Verdana" panose="020B0604030504040204" pitchFamily="34" charset="0"/>
                <a:ea typeface="Verdana" panose="020B0604030504040204" pitchFamily="34" charset="0"/>
              </a:rPr>
              <a:t>. </a:t>
            </a:r>
          </a:p>
          <a:p>
            <a:pPr marL="342900" indent="-342900" algn="just">
              <a:spcBef>
                <a:spcPts val="1200"/>
              </a:spcBef>
              <a:spcAft>
                <a:spcPts val="1200"/>
              </a:spcAft>
              <a:buFont typeface="Wingdings" panose="05000000000000000000" pitchFamily="2" charset="2"/>
              <a:buChar char="Ø"/>
            </a:pPr>
            <a:r>
              <a:rPr lang="en-US" sz="2000" dirty="0">
                <a:latin typeface="Verdana" panose="020B0604030504040204" pitchFamily="34" charset="0"/>
                <a:ea typeface="Verdana" panose="020B0604030504040204" pitchFamily="34" charset="0"/>
              </a:rPr>
              <a:t>Los </a:t>
            </a:r>
            <a:r>
              <a:rPr lang="en-US" sz="2000" dirty="0" err="1">
                <a:latin typeface="Verdana" panose="020B0604030504040204" pitchFamily="34" charset="0"/>
                <a:ea typeface="Verdana" panose="020B0604030504040204" pitchFamily="34" charset="0"/>
              </a:rPr>
              <a:t>ficheros</a:t>
            </a:r>
            <a:r>
              <a:rPr lang="en-US" sz="2000" dirty="0">
                <a:latin typeface="Verdana" panose="020B0604030504040204" pitchFamily="34" charset="0"/>
                <a:ea typeface="Verdana" panose="020B0604030504040204" pitchFamily="34" charset="0"/>
              </a:rPr>
              <a:t> </a:t>
            </a:r>
            <a:r>
              <a:rPr lang="en-US" sz="2000" b="1" dirty="0" err="1">
                <a:latin typeface="Verdana" panose="020B0604030504040204" pitchFamily="34" charset="0"/>
                <a:ea typeface="Verdana" panose="020B0604030504040204" pitchFamily="34" charset="0"/>
              </a:rPr>
              <a:t>SSTable</a:t>
            </a:r>
            <a:r>
              <a:rPr lang="en-US" sz="2000" dirty="0">
                <a:latin typeface="Verdana" panose="020B0604030504040204" pitchFamily="34" charset="0"/>
                <a:ea typeface="Verdana" panose="020B0604030504040204" pitchFamily="34" charset="0"/>
              </a:rPr>
              <a:t> son </a:t>
            </a:r>
            <a:r>
              <a:rPr lang="en-US" sz="2000" dirty="0" err="1">
                <a:latin typeface="Verdana" panose="020B0604030504040204" pitchFamily="34" charset="0"/>
                <a:ea typeface="Verdana" panose="020B0604030504040204" pitchFamily="34" charset="0"/>
              </a:rPr>
              <a:t>inmutables</a:t>
            </a:r>
            <a:r>
              <a:rPr lang="en-US" sz="2000" dirty="0">
                <a:latin typeface="Verdana" panose="020B0604030504040204" pitchFamily="34" charset="0"/>
                <a:ea typeface="Verdana" panose="020B0604030504040204" pitchFamily="34" charset="0"/>
              </a:rPr>
              <a:t> (no se </a:t>
            </a:r>
            <a:r>
              <a:rPr lang="en-US" sz="2000" dirty="0" err="1">
                <a:latin typeface="Verdana" panose="020B0604030504040204" pitchFamily="34" charset="0"/>
                <a:ea typeface="Verdana" panose="020B0604030504040204" pitchFamily="34" charset="0"/>
              </a:rPr>
              <a:t>vuelve</a:t>
            </a:r>
            <a:r>
              <a:rPr lang="en-US" sz="2000" dirty="0">
                <a:latin typeface="Verdana" panose="020B0604030504040204" pitchFamily="34" charset="0"/>
                <a:ea typeface="Verdana" panose="020B0604030504040204" pitchFamily="34" charset="0"/>
              </a:rPr>
              <a:t> a </a:t>
            </a:r>
            <a:r>
              <a:rPr lang="en-US" sz="2000" dirty="0" err="1">
                <a:latin typeface="Verdana" panose="020B0604030504040204" pitchFamily="34" charset="0"/>
                <a:ea typeface="Verdana" panose="020B0604030504040204" pitchFamily="34" charset="0"/>
              </a:rPr>
              <a:t>escribir</a:t>
            </a:r>
            <a:r>
              <a:rPr lang="en-US" sz="2000" dirty="0">
                <a:latin typeface="Verdana" panose="020B0604030504040204" pitchFamily="34" charset="0"/>
                <a:ea typeface="Verdana" panose="020B0604030504040204" pitchFamily="34" charset="0"/>
              </a:rPr>
              <a:t> en </a:t>
            </a:r>
            <a:r>
              <a:rPr lang="en-US" sz="2000" dirty="0" err="1">
                <a:latin typeface="Verdana" panose="020B0604030504040204" pitchFamily="34" charset="0"/>
                <a:ea typeface="Verdana" panose="020B0604030504040204" pitchFamily="34" charset="0"/>
              </a:rPr>
              <a:t>ellos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después</a:t>
            </a:r>
            <a:r>
              <a:rPr lang="en-US" sz="2000" dirty="0">
                <a:latin typeface="Verdana" panose="020B0604030504040204" pitchFamily="34" charset="0"/>
                <a:ea typeface="Verdana" panose="020B0604030504040204" pitchFamily="34" charset="0"/>
              </a:rPr>
              <a:t> de </a:t>
            </a:r>
            <a:r>
              <a:rPr lang="en-US" sz="2000" dirty="0" err="1">
                <a:latin typeface="Verdana" panose="020B0604030504040204" pitchFamily="34" charset="0"/>
                <a:ea typeface="Verdana" panose="020B0604030504040204" pitchFamily="34" charset="0"/>
              </a:rPr>
              <a:t>volcar</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los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datos</a:t>
            </a:r>
            <a:r>
              <a:rPr lang="en-US" sz="2000" dirty="0">
                <a:latin typeface="Verdana" panose="020B0604030504040204" pitchFamily="34" charset="0"/>
                <a:ea typeface="Verdana" panose="020B0604030504040204" pitchFamily="34" charset="0"/>
              </a:rPr>
              <a:t> de la </a:t>
            </a:r>
            <a:r>
              <a:rPr lang="en-US" sz="2000" b="1" dirty="0" err="1">
                <a:latin typeface="Verdana" panose="020B0604030504040204" pitchFamily="34" charset="0"/>
                <a:ea typeface="Verdana" panose="020B0604030504040204" pitchFamily="34" charset="0"/>
              </a:rPr>
              <a:t>MemTable</a:t>
            </a:r>
            <a:r>
              <a:rPr lang="en-US" sz="2000" b="1" dirty="0">
                <a:latin typeface="Verdana" panose="020B0604030504040204" pitchFamily="34" charset="0"/>
                <a:ea typeface="Verdana" panose="020B0604030504040204" pitchFamily="34" charset="0"/>
              </a:rPr>
              <a:t>). </a:t>
            </a:r>
            <a:endParaRPr lang="en-US" sz="2000" dirty="0">
              <a:latin typeface="Verdana" panose="020B0604030504040204" pitchFamily="34" charset="0"/>
              <a:ea typeface="Verdana" panose="020B0604030504040204" pitchFamily="34" charset="0"/>
            </a:endParaRPr>
          </a:p>
          <a:p>
            <a:pPr marL="342900" indent="-342900" algn="just">
              <a:spcBef>
                <a:spcPts val="1200"/>
              </a:spcBef>
              <a:spcAft>
                <a:spcPts val="1200"/>
              </a:spcAft>
              <a:buFont typeface="Wingdings" panose="05000000000000000000" pitchFamily="2" charset="2"/>
              <a:buChar char="Ø"/>
            </a:pPr>
            <a:r>
              <a:rPr lang="en-US" sz="2000" dirty="0">
                <a:latin typeface="Verdana" panose="020B0604030504040204" pitchFamily="34" charset="0"/>
                <a:ea typeface="Verdana" panose="020B0604030504040204" pitchFamily="34" charset="0"/>
              </a:rPr>
              <a:t>Las </a:t>
            </a:r>
            <a:r>
              <a:rPr lang="en-US" sz="2000" dirty="0" err="1">
                <a:latin typeface="Verdana" panose="020B0604030504040204" pitchFamily="34" charset="0"/>
                <a:ea typeface="Verdana" panose="020B0604030504040204" pitchFamily="34" charset="0"/>
              </a:rPr>
              <a:t>lecturas</a:t>
            </a:r>
            <a:r>
              <a:rPr lang="en-US" sz="2000" dirty="0">
                <a:latin typeface="Verdana" panose="020B0604030504040204" pitchFamily="34" charset="0"/>
                <a:ea typeface="Verdana" panose="020B0604030504040204" pitchFamily="34" charset="0"/>
              </a:rPr>
              <a:t> son </a:t>
            </a:r>
            <a:r>
              <a:rPr lang="en-US" sz="2000" dirty="0" err="1">
                <a:latin typeface="Verdana" panose="020B0604030504040204" pitchFamily="34" charset="0"/>
                <a:ea typeface="Verdana" panose="020B0604030504040204" pitchFamily="34" charset="0"/>
              </a:rPr>
              <a:t>más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caras</a:t>
            </a:r>
            <a:r>
              <a:rPr lang="en-US" sz="2000" dirty="0">
                <a:latin typeface="Verdana" panose="020B0604030504040204" pitchFamily="34" charset="0"/>
                <a:ea typeface="Verdana" panose="020B0604030504040204" pitchFamily="34" charset="0"/>
              </a:rPr>
              <a:t>” que las </a:t>
            </a:r>
            <a:r>
              <a:rPr lang="en-US" sz="2000" dirty="0" err="1">
                <a:latin typeface="Verdana" panose="020B0604030504040204" pitchFamily="34" charset="0"/>
                <a:ea typeface="Verdana" panose="020B0604030504040204" pitchFamily="34" charset="0"/>
              </a:rPr>
              <a:t>escrituras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ya</a:t>
            </a:r>
            <a:r>
              <a:rPr lang="en-US" sz="2000" dirty="0">
                <a:latin typeface="Verdana" panose="020B0604030504040204" pitchFamily="34" charset="0"/>
                <a:ea typeface="Verdana" panose="020B0604030504040204" pitchFamily="34" charset="0"/>
              </a:rPr>
              <a:t> que </a:t>
            </a:r>
            <a:r>
              <a:rPr lang="en-US" sz="2000" dirty="0" err="1">
                <a:latin typeface="Verdana" panose="020B0604030504040204" pitchFamily="34" charset="0"/>
                <a:ea typeface="Verdana" panose="020B0604030504040204" pitchFamily="34" charset="0"/>
              </a:rPr>
              <a:t>una</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lectura</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suele</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requerir</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el</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acceso</a:t>
            </a:r>
            <a:r>
              <a:rPr lang="en-US" sz="2000" dirty="0">
                <a:latin typeface="Verdana" panose="020B0604030504040204" pitchFamily="34" charset="0"/>
                <a:ea typeface="Verdana" panose="020B0604030504040204" pitchFamily="34" charset="0"/>
              </a:rPr>
              <a:t> y </a:t>
            </a:r>
            <a:r>
              <a:rPr lang="en-US" sz="2000" dirty="0" err="1">
                <a:latin typeface="Verdana" panose="020B0604030504040204" pitchFamily="34" charset="0"/>
                <a:ea typeface="Verdana" panose="020B0604030504040204" pitchFamily="34" charset="0"/>
              </a:rPr>
              <a:t>búsqueda</a:t>
            </a:r>
            <a:r>
              <a:rPr lang="en-US" sz="2000" dirty="0">
                <a:latin typeface="Verdana" panose="020B0604030504040204" pitchFamily="34" charset="0"/>
                <a:ea typeface="Verdana" panose="020B0604030504040204" pitchFamily="34" charset="0"/>
              </a:rPr>
              <a:t> en </a:t>
            </a:r>
            <a:r>
              <a:rPr lang="en-US" sz="2000" dirty="0" err="1">
                <a:latin typeface="Verdana" panose="020B0604030504040204" pitchFamily="34" charset="0"/>
                <a:ea typeface="Verdana" panose="020B0604030504040204" pitchFamily="34" charset="0"/>
              </a:rPr>
              <a:t>varias</a:t>
            </a:r>
            <a:r>
              <a:rPr lang="en-US" sz="2000" dirty="0">
                <a:latin typeface="Verdana" panose="020B0604030504040204" pitchFamily="34" charset="0"/>
                <a:ea typeface="Verdana" panose="020B0604030504040204" pitchFamily="34" charset="0"/>
              </a:rPr>
              <a:t> </a:t>
            </a:r>
            <a:r>
              <a:rPr lang="en-US" sz="2000" b="1" dirty="0" err="1">
                <a:latin typeface="Verdana" panose="020B0604030504040204" pitchFamily="34" charset="0"/>
                <a:ea typeface="Verdana" panose="020B0604030504040204" pitchFamily="34" charset="0"/>
              </a:rPr>
              <a:t>SSTable</a:t>
            </a:r>
            <a:r>
              <a:rPr lang="en-US" sz="2000" dirty="0">
                <a:latin typeface="Verdana" panose="020B0604030504040204" pitchFamily="34" charset="0"/>
                <a:ea typeface="Verdana" panose="020B0604030504040204" pitchFamily="34" charset="0"/>
              </a:rPr>
              <a:t>.</a:t>
            </a:r>
          </a:p>
          <a:p>
            <a:pPr marL="342900" indent="-342900" algn="just">
              <a:spcBef>
                <a:spcPts val="1200"/>
              </a:spcBef>
              <a:spcAft>
                <a:spcPts val="1200"/>
              </a:spcAft>
              <a:buFont typeface="Wingdings" panose="05000000000000000000" pitchFamily="2" charset="2"/>
              <a:buChar char="Ø"/>
            </a:pPr>
            <a:r>
              <a:rPr lang="en-US" sz="2000" dirty="0" err="1">
                <a:latin typeface="Verdana" panose="020B0604030504040204" pitchFamily="34" charset="0"/>
                <a:ea typeface="Verdana" panose="020B0604030504040204" pitchFamily="34" charset="0"/>
              </a:rPr>
              <a:t>Compactación</a:t>
            </a:r>
            <a:r>
              <a:rPr lang="en-US" sz="2000" dirty="0">
                <a:latin typeface="Verdana" panose="020B0604030504040204" pitchFamily="34" charset="0"/>
                <a:ea typeface="Verdana" panose="020B0604030504040204" pitchFamily="34" charset="0"/>
              </a:rPr>
              <a:t> es un </a:t>
            </a:r>
            <a:r>
              <a:rPr lang="en-US" sz="2000" dirty="0" err="1">
                <a:latin typeface="Verdana" panose="020B0604030504040204" pitchFamily="34" charset="0"/>
                <a:ea typeface="Verdana" panose="020B0604030504040204" pitchFamily="34" charset="0"/>
              </a:rPr>
              <a:t>proceso</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ejecutado</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periódicamente</a:t>
            </a:r>
            <a:r>
              <a:rPr lang="en-US" sz="2000" dirty="0">
                <a:latin typeface="Verdana" panose="020B0604030504040204" pitchFamily="34" charset="0"/>
                <a:ea typeface="Verdana" panose="020B0604030504040204" pitchFamily="34" charset="0"/>
              </a:rPr>
              <a:t> para  </a:t>
            </a:r>
            <a:r>
              <a:rPr lang="en-US" sz="2000" dirty="0" err="1">
                <a:latin typeface="Verdana" panose="020B0604030504040204" pitchFamily="34" charset="0"/>
                <a:ea typeface="Verdana" panose="020B0604030504040204" pitchFamily="34" charset="0"/>
              </a:rPr>
              <a:t>tratar</a:t>
            </a:r>
            <a:r>
              <a:rPr lang="en-US" sz="2000" dirty="0">
                <a:latin typeface="Verdana" panose="020B0604030504040204" pitchFamily="34" charset="0"/>
                <a:ea typeface="Verdana" panose="020B0604030504040204" pitchFamily="34" charset="0"/>
              </a:rPr>
              <a:t> de </a:t>
            </a:r>
            <a:r>
              <a:rPr lang="en-US" sz="2000" dirty="0" err="1">
                <a:latin typeface="Verdana" panose="020B0604030504040204" pitchFamily="34" charset="0"/>
                <a:ea typeface="Verdana" panose="020B0604030504040204" pitchFamily="34" charset="0"/>
              </a:rPr>
              <a:t>reducir</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el</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número</a:t>
            </a:r>
            <a:r>
              <a:rPr lang="en-US" sz="2000" dirty="0">
                <a:latin typeface="Verdana" panose="020B0604030504040204" pitchFamily="34" charset="0"/>
                <a:ea typeface="Verdana" panose="020B0604030504040204" pitchFamily="34" charset="0"/>
              </a:rPr>
              <a:t> de </a:t>
            </a:r>
            <a:r>
              <a:rPr lang="en-US" sz="2000" dirty="0" err="1">
                <a:latin typeface="Verdana" panose="020B0604030504040204" pitchFamily="34" charset="0"/>
                <a:ea typeface="Verdana" panose="020B0604030504040204" pitchFamily="34" charset="0"/>
              </a:rPr>
              <a:t>ficheros</a:t>
            </a:r>
            <a:r>
              <a:rPr lang="en-US" sz="2000" dirty="0">
                <a:latin typeface="Verdana" panose="020B0604030504040204" pitchFamily="34" charset="0"/>
                <a:ea typeface="Verdana" panose="020B0604030504040204" pitchFamily="34" charset="0"/>
              </a:rPr>
              <a:t> </a:t>
            </a:r>
            <a:r>
              <a:rPr lang="en-US" sz="2000" b="1" dirty="0" err="1">
                <a:latin typeface="Verdana" panose="020B0604030504040204" pitchFamily="34" charset="0"/>
                <a:ea typeface="Verdana" panose="020B0604030504040204" pitchFamily="34" charset="0"/>
              </a:rPr>
              <a:t>SSTable</a:t>
            </a:r>
            <a:r>
              <a:rPr lang="en-US" sz="2000" b="1"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por</a:t>
            </a:r>
            <a:r>
              <a:rPr lang="en-US" sz="2000" dirty="0">
                <a:latin typeface="Verdana" panose="020B0604030504040204" pitchFamily="34" charset="0"/>
                <a:ea typeface="Verdana" panose="020B0604030504040204" pitchFamily="34" charset="0"/>
              </a:rPr>
              <a:t> , </a:t>
            </a:r>
            <a:r>
              <a:rPr lang="en-US" sz="2000" dirty="0" err="1">
                <a:latin typeface="Verdana" panose="020B0604030504040204" pitchFamily="34" charset="0"/>
                <a:ea typeface="Verdana" panose="020B0604030504040204" pitchFamily="34" charset="0"/>
              </a:rPr>
              <a:t>eliminando</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los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datos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antiguos</a:t>
            </a:r>
            <a:r>
              <a:rPr lang="en-US" sz="2000" dirty="0">
                <a:latin typeface="Verdana" panose="020B0604030504040204" pitchFamily="34" charset="0"/>
                <a:ea typeface="Verdana" panose="020B0604030504040204" pitchFamily="34" charset="0"/>
              </a:rPr>
              <a:t> y </a:t>
            </a:r>
            <a:r>
              <a:rPr lang="en-US" sz="2000" dirty="0" err="1">
                <a:latin typeface="Verdana" panose="020B0604030504040204" pitchFamily="34" charset="0"/>
                <a:ea typeface="Verdana" panose="020B0604030504040204" pitchFamily="34" charset="0"/>
              </a:rPr>
              <a:t>hacer</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más</a:t>
            </a:r>
            <a:r>
              <a:rPr lang="en-US" sz="2000" dirty="0">
                <a:latin typeface="Verdana" panose="020B0604030504040204" pitchFamily="34" charset="0"/>
                <a:ea typeface="Verdana" panose="020B0604030504040204" pitchFamily="34" charset="0"/>
              </a:rPr>
              <a:t> </a:t>
            </a:r>
            <a:r>
              <a:rPr lang="en-US" sz="2000" dirty="0" err="1">
                <a:latin typeface="Verdana" panose="020B0604030504040204" pitchFamily="34" charset="0"/>
                <a:ea typeface="Verdana" panose="020B0604030504040204" pitchFamily="34" charset="0"/>
              </a:rPr>
              <a:t>eficientes</a:t>
            </a:r>
            <a:r>
              <a:rPr lang="en-US" sz="2000" dirty="0">
                <a:latin typeface="Verdana" panose="020B0604030504040204" pitchFamily="34" charset="0"/>
                <a:ea typeface="Verdana" panose="020B0604030504040204" pitchFamily="34" charset="0"/>
              </a:rPr>
              <a:t> las </a:t>
            </a:r>
            <a:r>
              <a:rPr lang="en-US" sz="2000" dirty="0" err="1">
                <a:latin typeface="Verdana" panose="020B0604030504040204" pitchFamily="34" charset="0"/>
                <a:ea typeface="Verdana" panose="020B0604030504040204" pitchFamily="34" charset="0"/>
              </a:rPr>
              <a:t>lecturas</a:t>
            </a:r>
            <a:r>
              <a:rPr lang="en-US" sz="2000" dirty="0">
                <a:latin typeface="Verdana" panose="020B0604030504040204" pitchFamily="34" charset="0"/>
                <a:ea typeface="Verdana" panose="020B0604030504040204" pitchFamily="34" charset="0"/>
              </a:rPr>
              <a:t>.</a:t>
            </a:r>
          </a:p>
        </p:txBody>
      </p:sp>
      <p:sp>
        <p:nvSpPr>
          <p:cNvPr id="3" name="CuadroTexto 2">
            <a:extLst>
              <a:ext uri="{FF2B5EF4-FFF2-40B4-BE49-F238E27FC236}">
                <a16:creationId xmlns:a16="http://schemas.microsoft.com/office/drawing/2014/main" id="{5E8F0B20-1C07-7D2D-5682-8020F867F105}"/>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dirty="0" err="1">
                <a:solidFill>
                  <a:srgbClr val="FFFFFF"/>
                </a:solidFill>
                <a:latin typeface="+mj-lt"/>
                <a:ea typeface="+mj-ea"/>
                <a:cs typeface="+mj-cs"/>
              </a:rPr>
              <a:t>Actividad</a:t>
            </a:r>
            <a:r>
              <a:rPr lang="en-US" sz="4000" b="1" kern="1200" dirty="0">
                <a:solidFill>
                  <a:srgbClr val="FFFFFF"/>
                </a:solidFill>
                <a:latin typeface="+mj-lt"/>
                <a:ea typeface="+mj-ea"/>
                <a:cs typeface="+mj-cs"/>
              </a:rPr>
              <a:t> de </a:t>
            </a:r>
            <a:r>
              <a:rPr lang="en-US" sz="4000" b="1" kern="1200" dirty="0" err="1">
                <a:solidFill>
                  <a:srgbClr val="FFFFFF"/>
                </a:solidFill>
                <a:latin typeface="+mj-lt"/>
                <a:ea typeface="+mj-ea"/>
                <a:cs typeface="+mj-cs"/>
              </a:rPr>
              <a:t>Escritura</a:t>
            </a:r>
            <a:endParaRPr lang="en-US" sz="4000" b="1" kern="1200" dirty="0">
              <a:solidFill>
                <a:srgbClr val="FFFFFF"/>
              </a:solidFill>
              <a:latin typeface="+mj-lt"/>
              <a:ea typeface="+mj-ea"/>
              <a:cs typeface="+mj-cs"/>
            </a:endParaRPr>
          </a:p>
          <a:p>
            <a:pPr algn="r">
              <a:lnSpc>
                <a:spcPct val="90000"/>
              </a:lnSpc>
              <a:spcBef>
                <a:spcPct val="0"/>
              </a:spcBef>
              <a:spcAft>
                <a:spcPts val="600"/>
              </a:spcAft>
            </a:pPr>
            <a:r>
              <a:rPr lang="en-US" sz="4000" b="1" dirty="0" err="1">
                <a:solidFill>
                  <a:srgbClr val="FFFFFF"/>
                </a:solidFill>
                <a:latin typeface="+mj-lt"/>
                <a:ea typeface="+mj-ea"/>
                <a:cs typeface="+mj-cs"/>
              </a:rPr>
              <a:t>SSTable</a:t>
            </a:r>
            <a:endParaRPr lang="en-US" sz="4000" kern="1200" dirty="0">
              <a:solidFill>
                <a:srgbClr val="FFFFFF"/>
              </a:solidFill>
              <a:latin typeface="+mj-lt"/>
              <a:ea typeface="+mj-ea"/>
              <a:cs typeface="+mj-cs"/>
            </a:endParaRPr>
          </a:p>
        </p:txBody>
      </p:sp>
    </p:spTree>
    <p:extLst>
      <p:ext uri="{BB962C8B-B14F-4D97-AF65-F5344CB8AC3E}">
        <p14:creationId xmlns:p14="http://schemas.microsoft.com/office/powerpoint/2010/main" val="3303872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s-AR" sz="4000" b="1" kern="1200">
                <a:solidFill>
                  <a:srgbClr val="FFFFFF"/>
                </a:solidFill>
                <a:latin typeface="+mj-lt"/>
                <a:ea typeface="+mj-ea"/>
                <a:cs typeface="+mj-cs"/>
              </a:rPr>
              <a:t>Escritura a nivel de clúster de nodos</a:t>
            </a:r>
          </a:p>
        </p:txBody>
      </p:sp>
      <p:sp>
        <p:nvSpPr>
          <p:cNvPr id="3" name="CuadroTexto 2"/>
          <p:cNvSpPr txBox="1"/>
          <p:nvPr/>
        </p:nvSpPr>
        <p:spPr>
          <a:xfrm>
            <a:off x="4264091" y="511388"/>
            <a:ext cx="7101516" cy="5909940"/>
          </a:xfrm>
          <a:prstGeom prst="rect">
            <a:avLst/>
          </a:prstGeom>
        </p:spPr>
        <p:txBody>
          <a:bodyPr vert="horz" lIns="91440" tIns="45720" rIns="91440" bIns="45720" rtlCol="0" anchor="ctr">
            <a:normAutofit/>
          </a:bodyPr>
          <a:lstStyle/>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El nodo coordinador envía una petición de escritura a todas las réplicas que contengan la fila a ser escrita.</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Los datos se escriben en todos los nodos disponibles que reciben la petición.</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El nivel definido de consistencia determina cuántos nodos han de responder a la petición para determinar que la escritura se ha realizado con éxito.</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El éxito de la escritura significa que el dato ha sido escrito en el </a:t>
            </a:r>
            <a:r>
              <a:rPr lang="es-AR" b="1" i="1" dirty="0" err="1">
                <a:latin typeface="Verdana" panose="020B0604030504040204" pitchFamily="34" charset="0"/>
                <a:ea typeface="Verdana" panose="020B0604030504040204" pitchFamily="34" charset="0"/>
              </a:rPr>
              <a:t>Commit</a:t>
            </a:r>
            <a:r>
              <a:rPr lang="es-AR" b="1" i="1" dirty="0">
                <a:latin typeface="Verdana" panose="020B0604030504040204" pitchFamily="34" charset="0"/>
                <a:ea typeface="Verdana" panose="020B0604030504040204" pitchFamily="34" charset="0"/>
              </a:rPr>
              <a:t> log</a:t>
            </a:r>
            <a:r>
              <a:rPr lang="es-AR" sz="2000" dirty="0">
                <a:latin typeface="Verdana" panose="020B0604030504040204" pitchFamily="34" charset="0"/>
                <a:ea typeface="Verdana" panose="020B0604030504040204" pitchFamily="34" charset="0"/>
              </a:rPr>
              <a:t> y el </a:t>
            </a:r>
            <a:r>
              <a:rPr lang="es-AR" b="1" i="1" dirty="0" err="1">
                <a:latin typeface="Verdana" panose="020B0604030504040204" pitchFamily="34" charset="0"/>
                <a:ea typeface="Verdana" panose="020B0604030504040204" pitchFamily="34" charset="0"/>
              </a:rPr>
              <a:t>MemTable</a:t>
            </a:r>
            <a:r>
              <a:rPr lang="es-AR" sz="2000" dirty="0">
                <a:latin typeface="Verdana" panose="020B0604030504040204" pitchFamily="34" charset="0"/>
                <a:ea typeface="Verdana" panose="020B0604030504040204" pitchFamily="34" charset="0"/>
              </a:rPr>
              <a:t>.</a:t>
            </a:r>
          </a:p>
          <a:p>
            <a:pPr marL="4572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Cualquier nodo puede ser coordinador en una petición. </a:t>
            </a:r>
          </a:p>
        </p:txBody>
      </p:sp>
    </p:spTree>
    <p:extLst>
      <p:ext uri="{BB962C8B-B14F-4D97-AF65-F5344CB8AC3E}">
        <p14:creationId xmlns:p14="http://schemas.microsoft.com/office/powerpoint/2010/main" val="2122429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 name="Imagen 1"/>
          <p:cNvPicPr>
            <a:picLocks noChangeAspect="1"/>
          </p:cNvPicPr>
          <p:nvPr/>
        </p:nvPicPr>
        <p:blipFill>
          <a:blip r:embed="rId2"/>
          <a:stretch>
            <a:fillRect/>
          </a:stretch>
        </p:blipFill>
        <p:spPr>
          <a:xfrm>
            <a:off x="4637410" y="179938"/>
            <a:ext cx="7087868" cy="6515942"/>
          </a:xfrm>
          <a:prstGeom prst="rect">
            <a:avLst/>
          </a:prstGeom>
        </p:spPr>
      </p:pic>
      <p:sp>
        <p:nvSpPr>
          <p:cNvPr id="5" name="CuadroTexto 4">
            <a:extLst>
              <a:ext uri="{FF2B5EF4-FFF2-40B4-BE49-F238E27FC236}">
                <a16:creationId xmlns:a16="http://schemas.microsoft.com/office/drawing/2014/main" id="{9533FC0B-AD2B-3087-D8C6-593D35F4966F}"/>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s-AR" sz="4000" b="1" kern="1200">
                <a:solidFill>
                  <a:srgbClr val="FFFFFF"/>
                </a:solidFill>
                <a:latin typeface="+mj-lt"/>
                <a:ea typeface="+mj-ea"/>
                <a:cs typeface="+mj-cs"/>
              </a:rPr>
              <a:t>Escritura a nivel de clúster de nodos</a:t>
            </a:r>
          </a:p>
        </p:txBody>
      </p:sp>
    </p:spTree>
    <p:extLst>
      <p:ext uri="{BB962C8B-B14F-4D97-AF65-F5344CB8AC3E}">
        <p14:creationId xmlns:p14="http://schemas.microsoft.com/office/powerpoint/2010/main" val="2872218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a:solidFill>
                  <a:srgbClr val="FFFFFF"/>
                </a:solidFill>
                <a:latin typeface="+mj-lt"/>
                <a:ea typeface="+mj-ea"/>
                <a:cs typeface="+mj-cs"/>
              </a:rPr>
              <a:t>Peticiones de Borrado de Datos</a:t>
            </a:r>
          </a:p>
        </p:txBody>
      </p:sp>
      <p:sp>
        <p:nvSpPr>
          <p:cNvPr id="2" name="Rectángulo 1"/>
          <p:cNvSpPr/>
          <p:nvPr/>
        </p:nvSpPr>
        <p:spPr>
          <a:xfrm>
            <a:off x="4037826" y="511388"/>
            <a:ext cx="7801749" cy="5870362"/>
          </a:xfrm>
          <a:prstGeom prst="rect">
            <a:avLst/>
          </a:prstGeom>
        </p:spPr>
        <p:txBody>
          <a:bodyPr vert="horz" lIns="91440" tIns="45720" rIns="91440" bIns="45720" rtlCol="0" anchor="ctr">
            <a:normAutofit/>
          </a:bodyPr>
          <a:lstStyle/>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Al eliminar una fila, no se borra del disco, sino que se marca como eliminada (</a:t>
            </a:r>
            <a:r>
              <a:rPr lang="es-AR" sz="2000" dirty="0" err="1">
                <a:latin typeface="Verdana" panose="020B0604030504040204" pitchFamily="34" charset="0"/>
                <a:ea typeface="Verdana" panose="020B0604030504040204" pitchFamily="34" charset="0"/>
                <a:hlinkClick r:id="rId2"/>
              </a:rPr>
              <a:t>tombstone</a:t>
            </a:r>
            <a:r>
              <a:rPr lang="es-AR" sz="2000" dirty="0">
                <a:latin typeface="Verdana" panose="020B0604030504040204" pitchFamily="34" charset="0"/>
                <a:ea typeface="Verdana" panose="020B0604030504040204" pitchFamily="34" charset="0"/>
              </a:rPr>
              <a:t>).</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Durante el proceso de compactación, las filas marcadas son eliminadas definitivamente del disco (se genera un nuevo </a:t>
            </a:r>
            <a:r>
              <a:rPr lang="es-AR"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 sin esos datos).</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Tiempo de gracia: si un nodo que contiene la fila a ser eliminada se encuentra caído en ese momento, aún tiene la posibilidad de recibir la orden de eliminación si se recupera en un intervalo de tiempo predefinido.</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Si no se recupera en ese tiempo, pueden existir inconsistencias en las réplicas. </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TTL: los datos pueden tener una “fecha de caducidad”, a partir de la cual son marcados por </a:t>
            </a:r>
            <a:r>
              <a:rPr lang="es-AR" b="1" i="1" dirty="0" err="1">
                <a:latin typeface="Verdana" panose="020B0604030504040204" pitchFamily="34" charset="0"/>
                <a:ea typeface="Verdana" panose="020B0604030504040204" pitchFamily="34" charset="0"/>
              </a:rPr>
              <a:t>Cassandra</a:t>
            </a:r>
            <a:r>
              <a:rPr lang="es-AR" sz="2000" dirty="0">
                <a:latin typeface="Verdana" panose="020B0604030504040204" pitchFamily="34" charset="0"/>
                <a:ea typeface="Verdana" panose="020B0604030504040204" pitchFamily="34" charset="0"/>
              </a:rPr>
              <a:t> como eliminados.</a:t>
            </a:r>
          </a:p>
        </p:txBody>
      </p:sp>
    </p:spTree>
    <p:extLst>
      <p:ext uri="{BB962C8B-B14F-4D97-AF65-F5344CB8AC3E}">
        <p14:creationId xmlns:p14="http://schemas.microsoft.com/office/powerpoint/2010/main" val="193237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b="1" kern="1200" dirty="0" err="1">
                <a:solidFill>
                  <a:srgbClr val="FFFFFF"/>
                </a:solidFill>
                <a:latin typeface="+mj-lt"/>
                <a:ea typeface="+mj-ea"/>
                <a:cs typeface="+mj-cs"/>
              </a:rPr>
              <a:t>Peticiones</a:t>
            </a:r>
            <a:r>
              <a:rPr lang="en-US" sz="4000" b="1" kern="1200" dirty="0">
                <a:solidFill>
                  <a:srgbClr val="FFFFFF"/>
                </a:solidFill>
                <a:latin typeface="+mj-lt"/>
                <a:ea typeface="+mj-ea"/>
                <a:cs typeface="+mj-cs"/>
              </a:rPr>
              <a:t> de </a:t>
            </a:r>
            <a:r>
              <a:rPr lang="en-US" sz="4000" b="1" dirty="0" err="1">
                <a:solidFill>
                  <a:srgbClr val="FFFFFF"/>
                </a:solidFill>
                <a:latin typeface="+mj-lt"/>
                <a:ea typeface="+mj-ea"/>
                <a:cs typeface="+mj-cs"/>
              </a:rPr>
              <a:t>L</a:t>
            </a:r>
            <a:r>
              <a:rPr lang="en-US" sz="4000" b="1" kern="1200" dirty="0" err="1">
                <a:solidFill>
                  <a:srgbClr val="FFFFFF"/>
                </a:solidFill>
                <a:latin typeface="+mj-lt"/>
                <a:ea typeface="+mj-ea"/>
                <a:cs typeface="+mj-cs"/>
              </a:rPr>
              <a:t>ectura</a:t>
            </a:r>
            <a:r>
              <a:rPr lang="en-US" sz="4000" b="1" kern="1200" dirty="0">
                <a:solidFill>
                  <a:srgbClr val="FFFFFF"/>
                </a:solidFill>
                <a:latin typeface="+mj-lt"/>
                <a:ea typeface="+mj-ea"/>
                <a:cs typeface="+mj-cs"/>
              </a:rPr>
              <a:t> de </a:t>
            </a:r>
            <a:r>
              <a:rPr lang="en-US" sz="4000" b="1" dirty="0" err="1">
                <a:solidFill>
                  <a:srgbClr val="FFFFFF"/>
                </a:solidFill>
                <a:latin typeface="+mj-lt"/>
                <a:ea typeface="+mj-ea"/>
                <a:cs typeface="+mj-cs"/>
              </a:rPr>
              <a:t>D</a:t>
            </a:r>
            <a:r>
              <a:rPr lang="en-US" sz="4000" b="1" kern="1200" dirty="0" err="1">
                <a:solidFill>
                  <a:srgbClr val="FFFFFF"/>
                </a:solidFill>
                <a:latin typeface="+mj-lt"/>
                <a:ea typeface="+mj-ea"/>
                <a:cs typeface="+mj-cs"/>
              </a:rPr>
              <a:t>atos</a:t>
            </a:r>
            <a:endParaRPr lang="en-US" sz="4000" b="1" kern="1200" dirty="0">
              <a:solidFill>
                <a:srgbClr val="FFFFFF"/>
              </a:solidFill>
              <a:latin typeface="+mj-lt"/>
              <a:ea typeface="+mj-ea"/>
              <a:cs typeface="+mj-cs"/>
            </a:endParaRPr>
          </a:p>
        </p:txBody>
      </p:sp>
      <p:sp>
        <p:nvSpPr>
          <p:cNvPr id="2" name="Rectángulo 1"/>
          <p:cNvSpPr/>
          <p:nvPr/>
        </p:nvSpPr>
        <p:spPr>
          <a:xfrm>
            <a:off x="4367695" y="649480"/>
            <a:ext cx="7357583" cy="5546047"/>
          </a:xfrm>
          <a:prstGeom prst="rect">
            <a:avLst/>
          </a:prstGeom>
        </p:spPr>
        <p:txBody>
          <a:bodyPr vert="horz" lIns="91440" tIns="45720" rIns="91440" bIns="45720" rtlCol="0" anchor="ctr">
            <a:normAutofit/>
          </a:bodyPr>
          <a:lstStyle/>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En cada lectura, se inspecciona mediante la </a:t>
            </a:r>
            <a:r>
              <a:rPr lang="es-AR" sz="2000" b="1" i="1" dirty="0" err="1">
                <a:latin typeface="Verdana" panose="020B0604030504040204" pitchFamily="34" charset="0"/>
                <a:ea typeface="Verdana" panose="020B0604030504040204" pitchFamily="34" charset="0"/>
              </a:rPr>
              <a:t>key</a:t>
            </a:r>
            <a:r>
              <a:rPr lang="es-AR" sz="2000" dirty="0">
                <a:latin typeface="Verdana" panose="020B0604030504040204" pitchFamily="34" charset="0"/>
                <a:ea typeface="Verdana" panose="020B0604030504040204" pitchFamily="34" charset="0"/>
              </a:rPr>
              <a:t> a la </a:t>
            </a:r>
            <a:r>
              <a:rPr lang="es-AR" sz="2000" b="1" i="1" dirty="0" err="1">
                <a:latin typeface="Verdana" panose="020B0604030504040204" pitchFamily="34" charset="0"/>
                <a:ea typeface="Verdana" panose="020B0604030504040204" pitchFamily="34" charset="0"/>
              </a:rPr>
              <a:t>MemTable</a:t>
            </a:r>
            <a:r>
              <a:rPr lang="es-AR" sz="2000" dirty="0">
                <a:latin typeface="Verdana" panose="020B0604030504040204" pitchFamily="34" charset="0"/>
                <a:ea typeface="Verdana" panose="020B0604030504040204" pitchFamily="34" charset="0"/>
              </a:rPr>
              <a:t>  para ver si tiene los datos.</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Si no están en la </a:t>
            </a:r>
            <a:r>
              <a:rPr lang="es-AR" sz="2000" b="1" i="1" dirty="0" err="1">
                <a:latin typeface="Verdana" panose="020B0604030504040204" pitchFamily="34" charset="0"/>
                <a:ea typeface="Verdana" panose="020B0604030504040204" pitchFamily="34" charset="0"/>
              </a:rPr>
              <a:t>MemTable</a:t>
            </a:r>
            <a:r>
              <a:rPr lang="es-AR" sz="2000"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se buscará a las </a:t>
            </a:r>
            <a:r>
              <a:rPr lang="es-AR" sz="2000"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Se acede a las copias de las </a:t>
            </a:r>
            <a:r>
              <a:rPr lang="es-AR" sz="2000"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 con la </a:t>
            </a:r>
            <a:r>
              <a:rPr lang="es-AR" sz="2000" b="1" i="1" dirty="0" err="1">
                <a:latin typeface="Verdana" panose="020B0604030504040204" pitchFamily="34" charset="0"/>
                <a:ea typeface="Verdana" panose="020B0604030504040204" pitchFamily="34" charset="0"/>
              </a:rPr>
              <a:t>key</a:t>
            </a:r>
            <a:r>
              <a:rPr lang="es-AR" sz="2000" dirty="0">
                <a:latin typeface="Verdana" panose="020B0604030504040204" pitchFamily="34" charset="0"/>
                <a:ea typeface="Verdana" panose="020B0604030504040204" pitchFamily="34" charset="0"/>
              </a:rPr>
              <a:t>.</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Si no están compactados recientemente los </a:t>
            </a:r>
            <a:r>
              <a:rPr lang="es-AR" sz="2000"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 es probable que haya que leer varios para recuperar todas las filas (más lento)</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Se define un nivel de consistencia (</a:t>
            </a:r>
            <a:r>
              <a:rPr lang="es-AR" sz="2000" b="1" i="1" dirty="0" err="1">
                <a:latin typeface="Verdana" panose="020B0604030504040204" pitchFamily="34" charset="0"/>
                <a:ea typeface="Verdana" panose="020B0604030504040204" pitchFamily="34" charset="0"/>
              </a:rPr>
              <a:t>Consistency</a:t>
            </a:r>
            <a:r>
              <a:rPr lang="es-AR" sz="2000" b="1" i="1" dirty="0">
                <a:latin typeface="Verdana" panose="020B0604030504040204" pitchFamily="34" charset="0"/>
                <a:ea typeface="Verdana" panose="020B0604030504040204" pitchFamily="34" charset="0"/>
              </a:rPr>
              <a:t> </a:t>
            </a:r>
            <a:r>
              <a:rPr lang="es-AR" sz="2000" b="1" i="1" dirty="0" err="1">
                <a:latin typeface="Verdana" panose="020B0604030504040204" pitchFamily="34" charset="0"/>
                <a:ea typeface="Verdana" panose="020B0604030504040204" pitchFamily="34" charset="0"/>
              </a:rPr>
              <a:t>Level</a:t>
            </a:r>
            <a:r>
              <a:rPr lang="es-AR" sz="2000" dirty="0">
                <a:latin typeface="Verdana" panose="020B0604030504040204" pitchFamily="34" charset="0"/>
                <a:ea typeface="Verdana" panose="020B0604030504040204" pitchFamily="34" charset="0"/>
              </a:rPr>
              <a:t>) en la recuperación, es decir cuántos nodos son necesarios que respondan para asumir que la respuesta es consistente.</a:t>
            </a:r>
          </a:p>
        </p:txBody>
      </p:sp>
    </p:spTree>
    <p:extLst>
      <p:ext uri="{BB962C8B-B14F-4D97-AF65-F5344CB8AC3E}">
        <p14:creationId xmlns:p14="http://schemas.microsoft.com/office/powerpoint/2010/main" val="1098573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p:cNvSpPr/>
          <p:nvPr/>
        </p:nvSpPr>
        <p:spPr>
          <a:xfrm>
            <a:off x="4094996" y="162042"/>
            <a:ext cx="7978815" cy="6537338"/>
          </a:xfrm>
          <a:prstGeom prst="rect">
            <a:avLst/>
          </a:prstGeom>
        </p:spPr>
        <p:txBody>
          <a:bodyPr vert="horz" lIns="91440" tIns="45720" rIns="91440" bIns="45720" rtlCol="0" anchor="ctr">
            <a:normAutofit fontScale="70000" lnSpcReduction="20000"/>
          </a:bodyPr>
          <a:lstStyle/>
          <a:p>
            <a:pPr>
              <a:lnSpc>
                <a:spcPct val="120000"/>
              </a:lnSpc>
              <a:spcBef>
                <a:spcPts val="600"/>
              </a:spcBef>
              <a:spcAft>
                <a:spcPts val="600"/>
              </a:spcAft>
            </a:pPr>
            <a:r>
              <a:rPr lang="es-AR" sz="2600" b="1" i="1" dirty="0">
                <a:latin typeface="Verdana" panose="020B0604030504040204" pitchFamily="34" charset="0"/>
                <a:ea typeface="Verdana" panose="020B0604030504040204" pitchFamily="34" charset="0"/>
              </a:rPr>
              <a:t>Direct </a:t>
            </a:r>
            <a:r>
              <a:rPr lang="es-AR" sz="2600" b="1" i="1" dirty="0" err="1">
                <a:latin typeface="Verdana" panose="020B0604030504040204" pitchFamily="34" charset="0"/>
                <a:ea typeface="Verdana" panose="020B0604030504040204" pitchFamily="34" charset="0"/>
              </a:rPr>
              <a:t>read</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request</a:t>
            </a:r>
            <a:r>
              <a:rPr lang="es-AR" sz="2600" b="1" i="1" dirty="0">
                <a:latin typeface="Verdana" panose="020B0604030504040204" pitchFamily="34" charset="0"/>
                <a:ea typeface="Verdana" panose="020B0604030504040204" pitchFamily="34" charset="0"/>
              </a:rPr>
              <a:t>: </a:t>
            </a:r>
            <a:r>
              <a:rPr lang="es-AR" sz="2900" dirty="0">
                <a:latin typeface="Verdana" panose="020B0604030504040204" pitchFamily="34" charset="0"/>
                <a:ea typeface="Verdana" panose="020B0604030504040204" pitchFamily="34" charset="0"/>
              </a:rPr>
              <a:t>el nodo coordinador contacta con un nodo que contenga la réplica requerida y la recupera.</a:t>
            </a:r>
          </a:p>
          <a:p>
            <a:pPr>
              <a:lnSpc>
                <a:spcPct val="120000"/>
              </a:lnSpc>
              <a:spcBef>
                <a:spcPts val="600"/>
              </a:spcBef>
              <a:spcAft>
                <a:spcPts val="600"/>
              </a:spcAft>
            </a:pPr>
            <a:r>
              <a:rPr lang="es-AR" sz="2600" b="1" i="1" dirty="0" err="1">
                <a:latin typeface="Verdana" panose="020B0604030504040204" pitchFamily="34" charset="0"/>
                <a:ea typeface="Verdana" panose="020B0604030504040204" pitchFamily="34" charset="0"/>
              </a:rPr>
              <a:t>Digest</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request</a:t>
            </a:r>
            <a:r>
              <a:rPr lang="es-AR" sz="2600" b="1" i="1" dirty="0">
                <a:latin typeface="Verdana" panose="020B0604030504040204" pitchFamily="34" charset="0"/>
                <a:ea typeface="Verdana" panose="020B0604030504040204" pitchFamily="34" charset="0"/>
              </a:rPr>
              <a:t>: </a:t>
            </a:r>
            <a:r>
              <a:rPr lang="es-AR" sz="2900" dirty="0">
                <a:latin typeface="Verdana" panose="020B0604030504040204" pitchFamily="34" charset="0"/>
                <a:ea typeface="Verdana" panose="020B0604030504040204" pitchFamily="34" charset="0"/>
              </a:rPr>
              <a:t>contacta con tantos nodos réplicas como se determine en el nivel de consistencia. Los datos de cada nodo se obtienen mediante </a:t>
            </a:r>
            <a:r>
              <a:rPr lang="es-AR" sz="2600" b="1" i="1" dirty="0">
                <a:latin typeface="Verdana" panose="020B0604030504040204" pitchFamily="34" charset="0"/>
                <a:ea typeface="Verdana" panose="020B0604030504040204" pitchFamily="34" charset="0"/>
              </a:rPr>
              <a:t>Direct </a:t>
            </a:r>
            <a:r>
              <a:rPr lang="es-AR" sz="2600" b="1" i="1" dirty="0" err="1">
                <a:latin typeface="Verdana" panose="020B0604030504040204" pitchFamily="34" charset="0"/>
                <a:ea typeface="Verdana" panose="020B0604030504040204" pitchFamily="34" charset="0"/>
              </a:rPr>
              <a:t>read</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request</a:t>
            </a:r>
            <a:r>
              <a:rPr lang="es-AR" sz="2600" dirty="0">
                <a:latin typeface="Verdana" panose="020B0604030504040204" pitchFamily="34" charset="0"/>
                <a:ea typeface="Verdana" panose="020B0604030504040204" pitchFamily="34" charset="0"/>
              </a:rPr>
              <a:t>.</a:t>
            </a:r>
          </a:p>
          <a:p>
            <a:pPr marL="457200" indent="-457200">
              <a:lnSpc>
                <a:spcPct val="120000"/>
              </a:lnSpc>
              <a:spcBef>
                <a:spcPts val="600"/>
              </a:spcBef>
              <a:spcAft>
                <a:spcPts val="600"/>
              </a:spcAft>
              <a:buFont typeface="Wingdings" panose="05000000000000000000" pitchFamily="2" charset="2"/>
              <a:buChar char="Ø"/>
            </a:pPr>
            <a:r>
              <a:rPr lang="es-AR" sz="2900" dirty="0">
                <a:latin typeface="Verdana" panose="020B0604030504040204" pitchFamily="34" charset="0"/>
                <a:ea typeface="Verdana" panose="020B0604030504040204" pitchFamily="34" charset="0"/>
              </a:rPr>
              <a:t>Se envía la consulta primero aquellos nodos que estén respondiendo “más rápido”.</a:t>
            </a:r>
          </a:p>
          <a:p>
            <a:pPr marL="457200" indent="-457200" algn="just">
              <a:lnSpc>
                <a:spcPct val="120000"/>
              </a:lnSpc>
              <a:spcBef>
                <a:spcPts val="600"/>
              </a:spcBef>
              <a:spcAft>
                <a:spcPts val="600"/>
              </a:spcAft>
              <a:buFont typeface="Wingdings" panose="05000000000000000000" pitchFamily="2" charset="2"/>
              <a:buChar char="Ø"/>
            </a:pPr>
            <a:r>
              <a:rPr lang="es-AR" sz="2900" dirty="0">
                <a:latin typeface="Verdana" panose="020B0604030504040204" pitchFamily="34" charset="0"/>
                <a:ea typeface="Verdana" panose="020B0604030504040204" pitchFamily="34" charset="0"/>
              </a:rPr>
              <a:t>Si existen varias inconsistencias, se consideran como válidos las réplicas con un </a:t>
            </a:r>
            <a:r>
              <a:rPr lang="es-AR" sz="2600" b="1" i="1" dirty="0" err="1">
                <a:latin typeface="Verdana" panose="020B0604030504040204" pitchFamily="34" charset="0"/>
                <a:ea typeface="Verdana" panose="020B0604030504040204" pitchFamily="34" charset="0"/>
              </a:rPr>
              <a:t>timestamp</a:t>
            </a:r>
            <a:r>
              <a:rPr lang="es-AR" sz="2900" dirty="0">
                <a:latin typeface="Verdana" panose="020B0604030504040204" pitchFamily="34" charset="0"/>
                <a:ea typeface="Verdana" panose="020B0604030504040204" pitchFamily="34" charset="0"/>
              </a:rPr>
              <a:t> más reciente. </a:t>
            </a:r>
          </a:p>
          <a:p>
            <a:pPr marL="457200" indent="-457200">
              <a:lnSpc>
                <a:spcPct val="120000"/>
              </a:lnSpc>
              <a:spcBef>
                <a:spcPts val="600"/>
              </a:spcBef>
              <a:spcAft>
                <a:spcPts val="600"/>
              </a:spcAft>
              <a:buFont typeface="Wingdings" panose="05000000000000000000" pitchFamily="2" charset="2"/>
              <a:buChar char="Ø"/>
            </a:pPr>
            <a:r>
              <a:rPr lang="es-AR" sz="2900" dirty="0">
                <a:latin typeface="Verdana" panose="020B0604030504040204" pitchFamily="34" charset="0"/>
                <a:ea typeface="Verdana" panose="020B0604030504040204" pitchFamily="34" charset="0"/>
              </a:rPr>
              <a:t>Una vez contactados los nodos determinados por el nivel de consistencia, se envía un </a:t>
            </a:r>
            <a:r>
              <a:rPr lang="es-AR" sz="2600" b="1" i="1" dirty="0" err="1">
                <a:latin typeface="Verdana" panose="020B0604030504040204" pitchFamily="34" charset="0"/>
                <a:ea typeface="Verdana" panose="020B0604030504040204" pitchFamily="34" charset="0"/>
              </a:rPr>
              <a:t>Digest</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request</a:t>
            </a:r>
            <a:r>
              <a:rPr lang="es-AR" sz="2600" b="1" i="1" dirty="0">
                <a:latin typeface="Verdana" panose="020B0604030504040204" pitchFamily="34" charset="0"/>
                <a:ea typeface="Verdana" panose="020B0604030504040204" pitchFamily="34" charset="0"/>
              </a:rPr>
              <a:t> </a:t>
            </a:r>
            <a:r>
              <a:rPr lang="es-AR" sz="2900" dirty="0">
                <a:latin typeface="Verdana" panose="020B0604030504040204" pitchFamily="34" charset="0"/>
                <a:ea typeface="Verdana" panose="020B0604030504040204" pitchFamily="34" charset="0"/>
              </a:rPr>
              <a:t>al resto de réplicas, para determinar si son también consistentes.</a:t>
            </a:r>
          </a:p>
          <a:p>
            <a:pPr marL="457200" indent="-457200">
              <a:lnSpc>
                <a:spcPct val="120000"/>
              </a:lnSpc>
              <a:spcBef>
                <a:spcPts val="600"/>
              </a:spcBef>
              <a:spcAft>
                <a:spcPts val="600"/>
              </a:spcAft>
              <a:buFont typeface="Wingdings" panose="05000000000000000000" pitchFamily="2" charset="2"/>
              <a:buChar char="Ø"/>
            </a:pPr>
            <a:r>
              <a:rPr lang="es-AR" sz="2600" b="1" i="1" dirty="0" err="1">
                <a:latin typeface="Verdana" panose="020B0604030504040204" pitchFamily="34" charset="0"/>
                <a:ea typeface="Verdana" panose="020B0604030504040204" pitchFamily="34" charset="0"/>
              </a:rPr>
              <a:t>Background</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read</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repair</a:t>
            </a:r>
            <a:r>
              <a:rPr lang="es-AR" sz="2600" b="1" i="1" dirty="0">
                <a:latin typeface="Verdana" panose="020B0604030504040204" pitchFamily="34" charset="0"/>
                <a:ea typeface="Verdana" panose="020B0604030504040204" pitchFamily="34" charset="0"/>
              </a:rPr>
              <a:t> </a:t>
            </a:r>
            <a:r>
              <a:rPr lang="es-AR" sz="2600" b="1" i="1" dirty="0" err="1">
                <a:latin typeface="Verdana" panose="020B0604030504040204" pitchFamily="34" charset="0"/>
                <a:ea typeface="Verdana" panose="020B0604030504040204" pitchFamily="34" charset="0"/>
              </a:rPr>
              <a:t>request</a:t>
            </a:r>
            <a:r>
              <a:rPr lang="es-AR" sz="2600" b="1" i="1" dirty="0">
                <a:latin typeface="Verdana" panose="020B0604030504040204" pitchFamily="34" charset="0"/>
                <a:ea typeface="Verdana" panose="020B0604030504040204" pitchFamily="34" charset="0"/>
              </a:rPr>
              <a:t>: </a:t>
            </a:r>
            <a:r>
              <a:rPr lang="es-AR" sz="2900" dirty="0">
                <a:latin typeface="Verdana" panose="020B0604030504040204" pitchFamily="34" charset="0"/>
                <a:ea typeface="Verdana" panose="020B0604030504040204" pitchFamily="34" charset="0"/>
              </a:rPr>
              <a:t>en caso de existir inconsistencias las réplicas con un </a:t>
            </a:r>
            <a:r>
              <a:rPr lang="es-AR" sz="2600" b="1" i="1" dirty="0" err="1">
                <a:latin typeface="Verdana" panose="020B0604030504040204" pitchFamily="34" charset="0"/>
                <a:ea typeface="Verdana" panose="020B0604030504040204" pitchFamily="34" charset="0"/>
              </a:rPr>
              <a:t>timestamp</a:t>
            </a:r>
            <a:r>
              <a:rPr lang="es-AR" sz="2900" dirty="0">
                <a:latin typeface="Verdana" panose="020B0604030504040204" pitchFamily="34" charset="0"/>
                <a:ea typeface="Verdana" panose="020B0604030504040204" pitchFamily="34" charset="0"/>
              </a:rPr>
              <a:t> más antiguo son sobrescritas con la réplica “más actual”</a:t>
            </a:r>
          </a:p>
        </p:txBody>
      </p:sp>
      <p:sp>
        <p:nvSpPr>
          <p:cNvPr id="3" name="CuadroTexto 2">
            <a:extLst>
              <a:ext uri="{FF2B5EF4-FFF2-40B4-BE49-F238E27FC236}">
                <a16:creationId xmlns:a16="http://schemas.microsoft.com/office/drawing/2014/main" id="{7AE8A09E-5995-6755-96B5-67E43785D477}"/>
              </a:ext>
            </a:extLst>
          </p:cNvPr>
          <p:cNvSpPr txBox="1"/>
          <p:nvPr/>
        </p:nvSpPr>
        <p:spPr>
          <a:xfrm>
            <a:off x="466722" y="586855"/>
            <a:ext cx="3201366" cy="4246402"/>
          </a:xfrm>
          <a:prstGeom prst="rect">
            <a:avLst/>
          </a:prstGeom>
        </p:spPr>
        <p:txBody>
          <a:bodyPr vert="horz" lIns="91440" tIns="45720" rIns="91440" bIns="45720" rtlCol="0" anchor="b">
            <a:normAutofit/>
          </a:bodyPr>
          <a:lstStyle/>
          <a:p>
            <a:pPr algn="r">
              <a:lnSpc>
                <a:spcPct val="90000"/>
              </a:lnSpc>
              <a:spcAft>
                <a:spcPts val="600"/>
              </a:spcAft>
            </a:pPr>
            <a:r>
              <a:rPr lang="es-AR" sz="4000" dirty="0">
                <a:solidFill>
                  <a:schemeClr val="bg1"/>
                </a:solidFill>
              </a:rPr>
              <a:t>Mecanismos para la obtención del resultado</a:t>
            </a:r>
          </a:p>
        </p:txBody>
      </p:sp>
    </p:spTree>
    <p:extLst>
      <p:ext uri="{BB962C8B-B14F-4D97-AF65-F5344CB8AC3E}">
        <p14:creationId xmlns:p14="http://schemas.microsoft.com/office/powerpoint/2010/main" val="3140237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3600" b="1" kern="1200" dirty="0" err="1">
                <a:solidFill>
                  <a:srgbClr val="FFFFFF"/>
                </a:solidFill>
                <a:latin typeface="+mj-lt"/>
                <a:ea typeface="+mj-ea"/>
                <a:cs typeface="+mj-cs"/>
              </a:rPr>
              <a:t>Seguridad</a:t>
            </a:r>
            <a:endParaRPr lang="en-US" sz="3600" b="1" kern="1200" dirty="0">
              <a:solidFill>
                <a:srgbClr val="FFFFFF"/>
              </a:solidFill>
              <a:latin typeface="+mj-lt"/>
              <a:ea typeface="+mj-ea"/>
              <a:cs typeface="+mj-cs"/>
            </a:endParaRPr>
          </a:p>
        </p:txBody>
      </p:sp>
      <p:sp>
        <p:nvSpPr>
          <p:cNvPr id="2" name="Rectángulo 1"/>
          <p:cNvSpPr/>
          <p:nvPr/>
        </p:nvSpPr>
        <p:spPr>
          <a:xfrm>
            <a:off x="4264091" y="649480"/>
            <a:ext cx="7101516" cy="5546047"/>
          </a:xfrm>
          <a:prstGeom prst="rect">
            <a:avLst/>
          </a:prstGeom>
        </p:spPr>
        <p:txBody>
          <a:bodyPr vert="horz" lIns="91440" tIns="45720" rIns="91440" bIns="45720" rtlCol="0" anchor="ctr">
            <a:normAutofit/>
          </a:bodyPr>
          <a:lstStyle/>
          <a:p>
            <a:pPr marL="400050" indent="-285750" algn="just">
              <a:spcBef>
                <a:spcPts val="1200"/>
              </a:spcBef>
              <a:spcAft>
                <a:spcPts val="1200"/>
              </a:spcAft>
              <a:buFont typeface="Wingdings" panose="05000000000000000000" pitchFamily="2" charset="2"/>
              <a:buChar char="Ø"/>
            </a:pPr>
            <a:r>
              <a:rPr lang="es-AR" b="1" i="1" dirty="0">
                <a:latin typeface="Verdana" panose="020B0604030504040204" pitchFamily="34" charset="0"/>
                <a:ea typeface="Verdana" panose="020B0604030504040204" pitchFamily="34" charset="0"/>
              </a:rPr>
              <a:t>Seguridad a nivel de usuarios: </a:t>
            </a:r>
            <a:r>
              <a:rPr lang="es-AR" sz="2000" i="1" dirty="0" err="1">
                <a:latin typeface="Verdana" panose="020B0604030504040204" pitchFamily="34" charset="0"/>
                <a:ea typeface="Verdana" panose="020B0604030504040204" pitchFamily="34" charset="0"/>
              </a:rPr>
              <a:t>logins</a:t>
            </a:r>
            <a:r>
              <a:rPr lang="es-AR" sz="2000" dirty="0">
                <a:latin typeface="Verdana" panose="020B0604030504040204" pitchFamily="34" charset="0"/>
                <a:ea typeface="Verdana" panose="020B0604030504040204" pitchFamily="34" charset="0"/>
              </a:rPr>
              <a:t> con </a:t>
            </a:r>
            <a:r>
              <a:rPr lang="es-AR" sz="2000" i="1" dirty="0" err="1">
                <a:latin typeface="Verdana" panose="020B0604030504040204" pitchFamily="34" charset="0"/>
                <a:ea typeface="Verdana" panose="020B0604030504040204" pitchFamily="34" charset="0"/>
              </a:rPr>
              <a:t>passwords</a:t>
            </a:r>
            <a:r>
              <a:rPr lang="es-AR" sz="2000" dirty="0">
                <a:latin typeface="Verdana" panose="020B0604030504040204" pitchFamily="34" charset="0"/>
                <a:ea typeface="Verdana" panose="020B0604030504040204" pitchFamily="34" charset="0"/>
              </a:rPr>
              <a:t> y permisos de gestión y administración vía </a:t>
            </a:r>
            <a:r>
              <a:rPr lang="es-AR" b="1" i="1" dirty="0">
                <a:latin typeface="Verdana" panose="020B0604030504040204" pitchFamily="34" charset="0"/>
                <a:ea typeface="Verdana" panose="020B0604030504040204" pitchFamily="34" charset="0"/>
              </a:rPr>
              <a:t>GRANT/REVOKE</a:t>
            </a:r>
            <a:r>
              <a:rPr lang="es-AR" sz="2000" dirty="0">
                <a:latin typeface="Verdana" panose="020B0604030504040204" pitchFamily="34" charset="0"/>
                <a:ea typeface="Verdana" panose="020B0604030504040204" pitchFamily="34" charset="0"/>
              </a:rPr>
              <a:t>.</a:t>
            </a:r>
          </a:p>
          <a:p>
            <a:pPr marL="400050" indent="-285750" algn="just">
              <a:spcBef>
                <a:spcPts val="1200"/>
              </a:spcBef>
              <a:spcAft>
                <a:spcPts val="1200"/>
              </a:spcAft>
              <a:buFont typeface="Wingdings" panose="05000000000000000000" pitchFamily="2" charset="2"/>
              <a:buChar char="Ø"/>
            </a:pPr>
            <a:r>
              <a:rPr lang="es-AR" b="1" i="1" dirty="0">
                <a:latin typeface="Verdana" panose="020B0604030504040204" pitchFamily="34" charset="0"/>
                <a:ea typeface="Verdana" panose="020B0604030504040204" pitchFamily="34" charset="0"/>
              </a:rPr>
              <a:t>Encriptación:</a:t>
            </a:r>
            <a:r>
              <a:rPr lang="es-AR" sz="2000" dirty="0">
                <a:latin typeface="Verdana" panose="020B0604030504040204" pitchFamily="34" charset="0"/>
                <a:ea typeface="Verdana" panose="020B0604030504040204" pitchFamily="34" charset="0"/>
              </a:rPr>
              <a:t> tanto entre clientes y clústeres como entre nodos.</a:t>
            </a:r>
          </a:p>
          <a:p>
            <a:pPr marL="400050" indent="-285750" algn="just">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BackUp</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Ofrece varias opciones de </a:t>
            </a:r>
            <a:r>
              <a:rPr lang="es-AR" sz="2000" i="1" dirty="0" err="1">
                <a:latin typeface="Verdana" panose="020B0604030504040204" pitchFamily="34" charset="0"/>
                <a:ea typeface="Verdana" panose="020B0604030504040204" pitchFamily="34" charset="0"/>
              </a:rPr>
              <a:t>backup</a:t>
            </a:r>
            <a:r>
              <a:rPr lang="es-AR" sz="2000" dirty="0">
                <a:latin typeface="Verdana" panose="020B0604030504040204" pitchFamily="34" charset="0"/>
                <a:ea typeface="Verdana" panose="020B0604030504040204" pitchFamily="34" charset="0"/>
              </a:rPr>
              <a:t> para  realizarlos de forma regular ante errores como borrados accidentales.</a:t>
            </a:r>
          </a:p>
          <a:p>
            <a:pPr marL="400050" indent="-285750" algn="just">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DataStax</a:t>
            </a:r>
            <a:r>
              <a:rPr lang="es-AR" b="1" i="1" dirty="0">
                <a:latin typeface="Verdana" panose="020B0604030504040204" pitchFamily="34" charset="0"/>
                <a:ea typeface="Verdana" panose="020B0604030504040204" pitchFamily="34" charset="0"/>
              </a:rPr>
              <a:t> Enterprise: </a:t>
            </a:r>
            <a:r>
              <a:rPr lang="es-AR" sz="2000" dirty="0">
                <a:latin typeface="Verdana" panose="020B0604030504040204" pitchFamily="34" charset="0"/>
                <a:ea typeface="Verdana" panose="020B0604030504040204" pitchFamily="34" charset="0"/>
              </a:rPr>
              <a:t>Ofrece herramientas externas para opciones avanzadas de seguridad, encriptación de tablas, y auditoría de datos.</a:t>
            </a:r>
          </a:p>
        </p:txBody>
      </p:sp>
    </p:spTree>
    <p:extLst>
      <p:ext uri="{BB962C8B-B14F-4D97-AF65-F5344CB8AC3E}">
        <p14:creationId xmlns:p14="http://schemas.microsoft.com/office/powerpoint/2010/main" val="345935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s-AR" sz="3600" b="1" kern="1200" dirty="0">
                <a:solidFill>
                  <a:srgbClr val="FFFFFF"/>
                </a:solidFill>
                <a:latin typeface="+mj-lt"/>
                <a:ea typeface="+mj-ea"/>
                <a:cs typeface="+mj-cs"/>
              </a:rPr>
              <a:t>Consistencia</a:t>
            </a:r>
          </a:p>
        </p:txBody>
      </p:sp>
      <p:sp>
        <p:nvSpPr>
          <p:cNvPr id="2" name="Rectángulo 1"/>
          <p:cNvSpPr/>
          <p:nvPr/>
        </p:nvSpPr>
        <p:spPr>
          <a:xfrm>
            <a:off x="4367695" y="649480"/>
            <a:ext cx="6997911" cy="5546047"/>
          </a:xfrm>
          <a:prstGeom prst="rect">
            <a:avLst/>
          </a:prstGeom>
        </p:spPr>
        <p:txBody>
          <a:bodyPr vert="horz" lIns="91440" tIns="45720" rIns="91440" bIns="45720" rtlCol="0" anchor="ctr">
            <a:normAutofit/>
          </a:bodyPr>
          <a:lstStyle/>
          <a:p>
            <a:pPr marL="457200" indent="-342900" algn="just">
              <a:lnSpc>
                <a:spcPct val="90000"/>
              </a:lnSpc>
              <a:spcAft>
                <a:spcPts val="600"/>
              </a:spcAft>
              <a:buFont typeface="Wingdings" panose="05000000000000000000" pitchFamily="2" charset="2"/>
              <a:buChar char="Ø"/>
            </a:pPr>
            <a:endParaRPr lang="es-AR" sz="1900" dirty="0">
              <a:latin typeface="Verdana" panose="020B0604030504040204" pitchFamily="34" charset="0"/>
              <a:ea typeface="Verdana" panose="020B0604030504040204" pitchFamily="34" charset="0"/>
            </a:endParaRPr>
          </a:p>
          <a:p>
            <a:pPr marL="342900" indent="-342900" algn="just">
              <a:lnSpc>
                <a:spcPct val="90000"/>
              </a:lnSpc>
              <a:spcAft>
                <a:spcPts val="600"/>
              </a:spcAft>
              <a:buFont typeface="Wingdings" panose="05000000000000000000" pitchFamily="2" charset="2"/>
              <a:buChar char="Ø"/>
            </a:pPr>
            <a:endParaRPr lang="es-AR" sz="1900" dirty="0">
              <a:latin typeface="Verdana" panose="020B0604030504040204" pitchFamily="34" charset="0"/>
              <a:ea typeface="Verdana" panose="020B0604030504040204" pitchFamily="34" charset="0"/>
            </a:endParaRPr>
          </a:p>
          <a:p>
            <a:pPr marL="457200" indent="-342900" algn="just">
              <a:lnSpc>
                <a:spcPct val="90000"/>
              </a:lnSpc>
              <a:spcAft>
                <a:spcPts val="600"/>
              </a:spcAft>
              <a:buFont typeface="Wingdings" panose="05000000000000000000" pitchFamily="2" charset="2"/>
              <a:buChar char="Ø"/>
            </a:pPr>
            <a:r>
              <a:rPr lang="es-AR" sz="1900" dirty="0">
                <a:latin typeface="Verdana" panose="020B0604030504040204" pitchFamily="34" charset="0"/>
                <a:ea typeface="Verdana" panose="020B0604030504040204" pitchFamily="34" charset="0"/>
              </a:rPr>
              <a:t>Se recomienda realizar tareas rutinarias de mantenimiento con la operación </a:t>
            </a:r>
            <a:r>
              <a:rPr lang="es-AR" sz="1900" b="1" i="1" dirty="0" err="1">
                <a:latin typeface="Verdana" panose="020B0604030504040204" pitchFamily="34" charset="0"/>
                <a:ea typeface="Verdana" panose="020B0604030504040204" pitchFamily="34" charset="0"/>
              </a:rPr>
              <a:t>repair</a:t>
            </a:r>
            <a:r>
              <a:rPr lang="es-AR" sz="1900" dirty="0">
                <a:latin typeface="Verdana" panose="020B0604030504040204" pitchFamily="34" charset="0"/>
                <a:ea typeface="Verdana" panose="020B0604030504040204" pitchFamily="34" charset="0"/>
              </a:rPr>
              <a:t>, que permite asegurar que todos los nodos son consistentes</a:t>
            </a:r>
          </a:p>
        </p:txBody>
      </p:sp>
    </p:spTree>
    <p:extLst>
      <p:ext uri="{BB962C8B-B14F-4D97-AF65-F5344CB8AC3E}">
        <p14:creationId xmlns:p14="http://schemas.microsoft.com/office/powerpoint/2010/main" val="2930817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uadroTexto 1"/>
          <p:cNvSpPr txBox="1"/>
          <p:nvPr/>
        </p:nvSpPr>
        <p:spPr>
          <a:xfrm>
            <a:off x="466722" y="586855"/>
            <a:ext cx="3201366" cy="3851795"/>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s-AR" sz="3600" kern="1200" dirty="0">
                <a:solidFill>
                  <a:srgbClr val="FFFFFF"/>
                </a:solidFill>
                <a:latin typeface="Verdana" panose="020B0604030504040204" pitchFamily="34" charset="0"/>
                <a:ea typeface="Verdana" panose="020B0604030504040204" pitchFamily="34" charset="0"/>
                <a:cs typeface="+mj-cs"/>
              </a:rPr>
              <a:t>Estructura de la Base de Datos</a:t>
            </a:r>
          </a:p>
        </p:txBody>
      </p:sp>
      <p:sp>
        <p:nvSpPr>
          <p:cNvPr id="3" name="Rectángulo 2"/>
          <p:cNvSpPr/>
          <p:nvPr/>
        </p:nvSpPr>
        <p:spPr>
          <a:xfrm>
            <a:off x="4810259" y="649480"/>
            <a:ext cx="6555347" cy="5546047"/>
          </a:xfrm>
          <a:prstGeom prst="rect">
            <a:avLst/>
          </a:prstGeom>
        </p:spPr>
        <p:txBody>
          <a:bodyPr vert="horz" lIns="91440" tIns="45720" rIns="91440" bIns="45720" rtlCol="0" anchor="ctr">
            <a:normAutofit lnSpcReduction="10000"/>
          </a:bodyPr>
          <a:lstStyle/>
          <a:p>
            <a:pPr marL="400050" indent="-285750">
              <a:spcBef>
                <a:spcPts val="1200"/>
              </a:spcBef>
              <a:spcAft>
                <a:spcPts val="1200"/>
              </a:spcAft>
              <a:buFont typeface="Wingdings" panose="05000000000000000000" pitchFamily="2" charset="2"/>
              <a:buChar char="Ø"/>
            </a:pPr>
            <a:r>
              <a:rPr lang="es-AR" b="1" i="1" dirty="0">
                <a:latin typeface="Verdana" panose="020B0604030504040204" pitchFamily="34" charset="0"/>
                <a:ea typeface="Verdana" panose="020B0604030504040204" pitchFamily="34" charset="0"/>
              </a:rPr>
              <a:t>Clúster</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Todos los equipos de una instancia de </a:t>
            </a:r>
            <a:r>
              <a:rPr lang="es-AR" sz="2000" dirty="0" err="1">
                <a:latin typeface="Verdana" panose="020B0604030504040204" pitchFamily="34" charset="0"/>
                <a:ea typeface="Verdana" panose="020B0604030504040204" pitchFamily="34" charset="0"/>
              </a:rPr>
              <a:t>Cassandra</a:t>
            </a:r>
            <a:r>
              <a:rPr lang="es-AR" sz="2000" dirty="0">
                <a:latin typeface="Verdana" panose="020B0604030504040204" pitchFamily="34" charset="0"/>
                <a:ea typeface="Verdana" panose="020B0604030504040204" pitchFamily="34" charset="0"/>
              </a:rPr>
              <a:t>. Pueden contener múltiples </a:t>
            </a:r>
            <a:r>
              <a:rPr lang="es-AR" sz="2000" i="1" dirty="0" err="1">
                <a:latin typeface="Verdana" panose="020B0604030504040204" pitchFamily="34" charset="0"/>
                <a:ea typeface="Verdana" panose="020B0604030504040204" pitchFamily="34" charset="0"/>
              </a:rPr>
              <a:t>keyspaces</a:t>
            </a:r>
            <a:r>
              <a:rPr lang="es-AR" sz="2000" dirty="0">
                <a:latin typeface="Verdana" panose="020B0604030504040204" pitchFamily="34" charset="0"/>
                <a:ea typeface="Verdana" panose="020B0604030504040204" pitchFamily="34" charset="0"/>
              </a:rPr>
              <a:t>.</a:t>
            </a:r>
          </a:p>
          <a:p>
            <a:pPr marL="400050" indent="-285750">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Keyspace</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es la agrupación de </a:t>
            </a:r>
            <a:r>
              <a:rPr lang="es-AR" sz="2000" i="1" dirty="0">
                <a:latin typeface="Verdana" panose="020B0604030504040204" pitchFamily="34" charset="0"/>
                <a:ea typeface="Verdana" panose="020B0604030504040204" pitchFamily="34" charset="0"/>
              </a:rPr>
              <a:t>Familias de Columnas</a:t>
            </a:r>
            <a:r>
              <a:rPr lang="es-AR" sz="2000" dirty="0">
                <a:latin typeface="Verdana" panose="020B0604030504040204" pitchFamily="34" charset="0"/>
                <a:ea typeface="Verdana" panose="020B0604030504040204" pitchFamily="34" charset="0"/>
              </a:rPr>
              <a:t>, normalmente hay un </a:t>
            </a:r>
            <a:r>
              <a:rPr lang="es-AR" sz="2000" i="1" dirty="0" err="1">
                <a:latin typeface="Verdana" panose="020B0604030504040204" pitchFamily="34" charset="0"/>
                <a:ea typeface="Verdana" panose="020B0604030504040204" pitchFamily="34" charset="0"/>
              </a:rPr>
              <a:t>keyspace</a:t>
            </a:r>
            <a:r>
              <a:rPr lang="es-AR" sz="2000" dirty="0">
                <a:latin typeface="Verdana" panose="020B0604030504040204" pitchFamily="34" charset="0"/>
                <a:ea typeface="Verdana" panose="020B0604030504040204" pitchFamily="34" charset="0"/>
              </a:rPr>
              <a:t> por aplicación.</a:t>
            </a:r>
          </a:p>
          <a:p>
            <a:pPr marL="400050" indent="-285750">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Column</a:t>
            </a:r>
            <a:r>
              <a:rPr lang="es-AR" b="1" i="1" dirty="0">
                <a:latin typeface="Verdana" panose="020B0604030504040204" pitchFamily="34" charset="0"/>
                <a:ea typeface="Verdana" panose="020B0604030504040204" pitchFamily="34" charset="0"/>
              </a:rPr>
              <a:t> </a:t>
            </a:r>
            <a:r>
              <a:rPr lang="es-AR" b="1" i="1" dirty="0" err="1">
                <a:latin typeface="Verdana" panose="020B0604030504040204" pitchFamily="34" charset="0"/>
                <a:ea typeface="Verdana" panose="020B0604030504040204" pitchFamily="34" charset="0"/>
              </a:rPr>
              <a:t>Families</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Contenedor de múltiples columnas. Cada </a:t>
            </a:r>
            <a:r>
              <a:rPr lang="es-AR" sz="2000" i="1" dirty="0">
                <a:latin typeface="Verdana" panose="020B0604030504040204" pitchFamily="34" charset="0"/>
                <a:ea typeface="Verdana" panose="020B0604030504040204" pitchFamily="34" charset="0"/>
              </a:rPr>
              <a:t>fila</a:t>
            </a:r>
            <a:r>
              <a:rPr lang="es-AR" sz="2000" dirty="0">
                <a:latin typeface="Verdana" panose="020B0604030504040204" pitchFamily="34" charset="0"/>
                <a:ea typeface="Verdana" panose="020B0604030504040204" pitchFamily="34" charset="0"/>
              </a:rPr>
              <a:t> se identifica y accede a ella mediante una </a:t>
            </a:r>
            <a:r>
              <a:rPr lang="es-AR" b="1" i="1" dirty="0" err="1">
                <a:latin typeface="Verdana" panose="020B0604030504040204" pitchFamily="34" charset="0"/>
                <a:ea typeface="Verdana" panose="020B0604030504040204" pitchFamily="34" charset="0"/>
              </a:rPr>
              <a:t>ClaveDeFila</a:t>
            </a:r>
            <a:endParaRPr lang="es-AR" b="1" i="1" dirty="0">
              <a:latin typeface="Verdana" panose="020B0604030504040204" pitchFamily="34" charset="0"/>
              <a:ea typeface="Verdana" panose="020B0604030504040204" pitchFamily="34" charset="0"/>
            </a:endParaRPr>
          </a:p>
          <a:p>
            <a:pPr marL="400050" indent="-285750">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Columns</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unidad básica de almacenamiento. Consistente en una estructura de tres valores: </a:t>
            </a:r>
            <a:r>
              <a:rPr lang="es-AR" b="1" i="1" dirty="0" err="1">
                <a:latin typeface="Verdana" panose="020B0604030504040204" pitchFamily="34" charset="0"/>
                <a:ea typeface="Verdana" panose="020B0604030504040204" pitchFamily="34" charset="0"/>
              </a:rPr>
              <a:t>name</a:t>
            </a:r>
            <a:r>
              <a:rPr lang="es-AR" dirty="0">
                <a:latin typeface="Verdana" panose="020B0604030504040204" pitchFamily="34" charset="0"/>
                <a:ea typeface="Verdana" panose="020B0604030504040204" pitchFamily="34" charset="0"/>
              </a:rPr>
              <a:t>,</a:t>
            </a:r>
            <a:r>
              <a:rPr lang="es-AR" b="1" i="1" dirty="0">
                <a:latin typeface="Verdana" panose="020B0604030504040204" pitchFamily="34" charset="0"/>
                <a:ea typeface="Verdana" panose="020B0604030504040204" pitchFamily="34" charset="0"/>
              </a:rPr>
              <a:t> </a:t>
            </a:r>
            <a:r>
              <a:rPr lang="es-AR" b="1" i="1" dirty="0" err="1">
                <a:latin typeface="Verdana" panose="020B0604030504040204" pitchFamily="34" charset="0"/>
                <a:ea typeface="Verdana" panose="020B0604030504040204" pitchFamily="34" charset="0"/>
              </a:rPr>
              <a:t>value</a:t>
            </a:r>
            <a:r>
              <a:rPr lang="es-AR" b="1" i="1" dirty="0">
                <a:latin typeface="Verdana" panose="020B0604030504040204" pitchFamily="34" charset="0"/>
                <a:ea typeface="Verdana" panose="020B0604030504040204" pitchFamily="34" charset="0"/>
              </a:rPr>
              <a:t> </a:t>
            </a:r>
            <a:r>
              <a:rPr lang="es-AR" dirty="0">
                <a:latin typeface="Verdana" panose="020B0604030504040204" pitchFamily="34" charset="0"/>
                <a:ea typeface="Verdana" panose="020B0604030504040204" pitchFamily="34" charset="0"/>
              </a:rPr>
              <a:t>y</a:t>
            </a:r>
            <a:r>
              <a:rPr lang="es-AR" b="1" i="1" dirty="0">
                <a:latin typeface="Verdana" panose="020B0604030504040204" pitchFamily="34" charset="0"/>
                <a:ea typeface="Verdana" panose="020B0604030504040204" pitchFamily="34" charset="0"/>
              </a:rPr>
              <a:t> </a:t>
            </a:r>
            <a:r>
              <a:rPr lang="es-AR" b="1" i="1" dirty="0" err="1">
                <a:latin typeface="Verdana" panose="020B0604030504040204" pitchFamily="34" charset="0"/>
                <a:ea typeface="Verdana" panose="020B0604030504040204" pitchFamily="34" charset="0"/>
              </a:rPr>
              <a:t>timestamp</a:t>
            </a:r>
            <a:r>
              <a:rPr lang="es-AR" dirty="0">
                <a:latin typeface="Verdana" panose="020B0604030504040204" pitchFamily="34" charset="0"/>
                <a:ea typeface="Verdana" panose="020B0604030504040204" pitchFamily="34" charset="0"/>
              </a:rPr>
              <a:t>.</a:t>
            </a:r>
          </a:p>
          <a:p>
            <a:pPr marL="400050" indent="-285750">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Rows</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Conjunto de valores asignado a las columnas de una familia de columnas.</a:t>
            </a:r>
          </a:p>
        </p:txBody>
      </p:sp>
    </p:spTree>
    <p:extLst>
      <p:ext uri="{BB962C8B-B14F-4D97-AF65-F5344CB8AC3E}">
        <p14:creationId xmlns:p14="http://schemas.microsoft.com/office/powerpoint/2010/main" val="4137089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57494" y="1028676"/>
            <a:ext cx="11020698" cy="3093154"/>
          </a:xfrm>
          <a:prstGeom prst="rect">
            <a:avLst/>
          </a:prstGeom>
        </p:spPr>
        <p:txBody>
          <a:bodyPr wrap="square">
            <a:spAutoFit/>
          </a:bodyPr>
          <a:lstStyle/>
          <a:p>
            <a:pPr>
              <a:spcBef>
                <a:spcPts val="600"/>
              </a:spcBef>
              <a:spcAft>
                <a:spcPts val="600"/>
              </a:spcAft>
            </a:pPr>
            <a:r>
              <a:rPr lang="es-MX" sz="2000" dirty="0">
                <a:latin typeface="Verdana" panose="020B0604030504040204" pitchFamily="34" charset="0"/>
                <a:ea typeface="Verdana" panose="020B0604030504040204" pitchFamily="34" charset="0"/>
                <a:cs typeface="Verdana" panose="020B0604030504040204" pitchFamily="34" charset="0"/>
              </a:rPr>
              <a:t>Estructura de la columna:</a:t>
            </a:r>
          </a:p>
          <a:p>
            <a:pPr marL="342900" indent="-342900">
              <a:spcBef>
                <a:spcPts val="600"/>
              </a:spcBef>
              <a:spcAft>
                <a:spcPts val="600"/>
              </a:spcAft>
              <a:buFont typeface="Wingdings" panose="05000000000000000000" pitchFamily="2" charset="2"/>
              <a:buChar char="Ø"/>
            </a:pPr>
            <a:r>
              <a:rPr lang="es-MX" b="1" i="1" dirty="0" err="1">
                <a:latin typeface="Verdana" panose="020B0604030504040204" pitchFamily="34" charset="0"/>
                <a:ea typeface="Verdana" panose="020B0604030504040204" pitchFamily="34" charset="0"/>
                <a:cs typeface="Verdana" panose="020B0604030504040204" pitchFamily="34" charset="0"/>
              </a:rPr>
              <a:t>Name</a:t>
            </a:r>
            <a:r>
              <a:rPr lang="es-MX" dirty="0">
                <a:latin typeface="Verdana" panose="020B0604030504040204" pitchFamily="34" charset="0"/>
                <a:ea typeface="Verdana" panose="020B0604030504040204" pitchFamily="34" charset="0"/>
                <a:cs typeface="Verdana" panose="020B0604030504040204" pitchFamily="34" charset="0"/>
              </a:rPr>
              <a:t>:</a:t>
            </a:r>
            <a:r>
              <a:rPr lang="es-MX" sz="2000" dirty="0">
                <a:latin typeface="Verdana" panose="020B0604030504040204" pitchFamily="34" charset="0"/>
                <a:ea typeface="Verdana" panose="020B0604030504040204" pitchFamily="34" charset="0"/>
                <a:cs typeface="Verdana" panose="020B0604030504040204" pitchFamily="34" charset="0"/>
              </a:rPr>
              <a:t> nombre de la columna</a:t>
            </a:r>
          </a:p>
          <a:p>
            <a:pPr marL="342900" indent="-342900">
              <a:spcBef>
                <a:spcPts val="600"/>
              </a:spcBef>
              <a:spcAft>
                <a:spcPts val="600"/>
              </a:spcAft>
              <a:buFont typeface="Wingdings" panose="05000000000000000000" pitchFamily="2" charset="2"/>
              <a:buChar char="Ø"/>
            </a:pPr>
            <a:r>
              <a:rPr lang="es-MX" b="1" i="1" dirty="0" err="1">
                <a:latin typeface="Verdana" panose="020B0604030504040204" pitchFamily="34" charset="0"/>
                <a:ea typeface="Verdana" panose="020B0604030504040204" pitchFamily="34" charset="0"/>
                <a:cs typeface="Verdana" panose="020B0604030504040204" pitchFamily="34" charset="0"/>
              </a:rPr>
              <a:t>Value</a:t>
            </a:r>
            <a:r>
              <a:rPr lang="es-MX" dirty="0">
                <a:latin typeface="Verdana" panose="020B0604030504040204" pitchFamily="34" charset="0"/>
                <a:ea typeface="Verdana" panose="020B0604030504040204" pitchFamily="34" charset="0"/>
                <a:cs typeface="Verdana" panose="020B0604030504040204" pitchFamily="34" charset="0"/>
              </a:rPr>
              <a:t>: </a:t>
            </a:r>
            <a:r>
              <a:rPr lang="es-MX" sz="2000" dirty="0">
                <a:latin typeface="Verdana" panose="020B0604030504040204" pitchFamily="34" charset="0"/>
                <a:ea typeface="Verdana" panose="020B0604030504040204" pitchFamily="34" charset="0"/>
                <a:cs typeface="Verdana" panose="020B0604030504040204" pitchFamily="34" charset="0"/>
              </a:rPr>
              <a:t>valor almacenado en la columna</a:t>
            </a:r>
          </a:p>
          <a:p>
            <a:pPr marL="342900" indent="-342900">
              <a:spcBef>
                <a:spcPts val="600"/>
              </a:spcBef>
              <a:spcAft>
                <a:spcPts val="600"/>
              </a:spcAft>
              <a:buFont typeface="Wingdings" panose="05000000000000000000" pitchFamily="2" charset="2"/>
              <a:buChar char="Ø"/>
            </a:pPr>
            <a:r>
              <a:rPr lang="es-MX" b="1" i="1" dirty="0">
                <a:latin typeface="Verdana" panose="020B0604030504040204" pitchFamily="34" charset="0"/>
                <a:ea typeface="Verdana" panose="020B0604030504040204" pitchFamily="34" charset="0"/>
                <a:cs typeface="Verdana" panose="020B0604030504040204" pitchFamily="34" charset="0"/>
              </a:rPr>
              <a:t>Timestamp</a:t>
            </a:r>
            <a:r>
              <a:rPr lang="es-MX" dirty="0">
                <a:latin typeface="Verdana" panose="020B0604030504040204" pitchFamily="34" charset="0"/>
                <a:ea typeface="Verdana" panose="020B0604030504040204" pitchFamily="34" charset="0"/>
                <a:cs typeface="Verdana" panose="020B0604030504040204" pitchFamily="34" charset="0"/>
              </a:rPr>
              <a:t>: </a:t>
            </a:r>
            <a:r>
              <a:rPr lang="es-MX" sz="2000" dirty="0">
                <a:latin typeface="Verdana" panose="020B0604030504040204" pitchFamily="34" charset="0"/>
                <a:ea typeface="Verdana" panose="020B0604030504040204" pitchFamily="34" charset="0"/>
                <a:cs typeface="Verdana" panose="020B0604030504040204" pitchFamily="34" charset="0"/>
              </a:rPr>
              <a:t>fecha y hora de escritura</a:t>
            </a:r>
          </a:p>
          <a:p>
            <a:endParaRPr lang="es-MX" sz="2000" dirty="0">
              <a:latin typeface="Verdana" panose="020B0604030504040204" pitchFamily="34" charset="0"/>
              <a:ea typeface="Verdana" panose="020B0604030504040204" pitchFamily="34" charset="0"/>
              <a:cs typeface="Verdana" panose="020B0604030504040204" pitchFamily="34" charset="0"/>
            </a:endParaRPr>
          </a:p>
          <a:p>
            <a:r>
              <a:rPr lang="es-MX" sz="2000" dirty="0">
                <a:solidFill>
                  <a:schemeClr val="accent1">
                    <a:lumMod val="50000"/>
                  </a:schemeClr>
                </a:solidFill>
                <a:latin typeface="Verdana" panose="020B0604030504040204" pitchFamily="34" charset="0"/>
                <a:ea typeface="Verdana" panose="020B0604030504040204" pitchFamily="34" charset="0"/>
                <a:cs typeface="Verdana" panose="020B0604030504040204" pitchFamily="34" charset="0"/>
              </a:rPr>
              <a:t>								Ejemplo de Columna</a:t>
            </a:r>
          </a:p>
          <a:p>
            <a:pPr marL="342900" indent="-342900">
              <a:buFont typeface="Wingdings" panose="05000000000000000000" pitchFamily="2" charset="2"/>
              <a:buChar char="Ø"/>
            </a:pPr>
            <a:endParaRPr lang="es-MX"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Wingdings" panose="05000000000000000000" pitchFamily="2" charset="2"/>
              <a:buChar char="Ø"/>
            </a:pPr>
            <a:endParaRPr lang="es-AR" sz="2000" dirty="0">
              <a:latin typeface="Verdana" panose="020B0604030504040204" pitchFamily="34" charset="0"/>
              <a:ea typeface="Verdana" panose="020B0604030504040204" pitchFamily="34" charset="0"/>
              <a:cs typeface="Verdana" panose="020B0604030504040204" pitchFamily="34" charset="0"/>
            </a:endParaRPr>
          </a:p>
        </p:txBody>
      </p:sp>
      <p:pic>
        <p:nvPicPr>
          <p:cNvPr id="3" name="Imagen 2"/>
          <p:cNvPicPr>
            <a:picLocks noChangeAspect="1"/>
          </p:cNvPicPr>
          <p:nvPr/>
        </p:nvPicPr>
        <p:blipFill>
          <a:blip r:embed="rId2"/>
          <a:stretch>
            <a:fillRect/>
          </a:stretch>
        </p:blipFill>
        <p:spPr>
          <a:xfrm>
            <a:off x="7899627" y="1171849"/>
            <a:ext cx="3838575" cy="1857375"/>
          </a:xfrm>
          <a:prstGeom prst="rect">
            <a:avLst/>
          </a:prstGeom>
        </p:spPr>
      </p:pic>
      <p:pic>
        <p:nvPicPr>
          <p:cNvPr id="4" name="Imagen 3"/>
          <p:cNvPicPr>
            <a:picLocks noChangeAspect="1"/>
          </p:cNvPicPr>
          <p:nvPr/>
        </p:nvPicPr>
        <p:blipFill>
          <a:blip r:embed="rId3"/>
          <a:stretch>
            <a:fillRect/>
          </a:stretch>
        </p:blipFill>
        <p:spPr>
          <a:xfrm>
            <a:off x="7909152" y="3626169"/>
            <a:ext cx="3829050" cy="1800225"/>
          </a:xfrm>
          <a:prstGeom prst="rect">
            <a:avLst/>
          </a:prstGeom>
        </p:spPr>
      </p:pic>
      <p:graphicFrame>
        <p:nvGraphicFramePr>
          <p:cNvPr id="13" name="CuadroTexto 4">
            <a:extLst>
              <a:ext uri="{FF2B5EF4-FFF2-40B4-BE49-F238E27FC236}">
                <a16:creationId xmlns:a16="http://schemas.microsoft.com/office/drawing/2014/main" id="{B6355454-2713-59A6-7E87-2AAD95A7C152}"/>
              </a:ext>
            </a:extLst>
          </p:cNvPr>
          <p:cNvGraphicFramePr/>
          <p:nvPr>
            <p:extLst>
              <p:ext uri="{D42A27DB-BD31-4B8C-83A1-F6EECF244321}">
                <p14:modId xmlns:p14="http://schemas.microsoft.com/office/powerpoint/2010/main" val="3854527431"/>
              </p:ext>
            </p:extLst>
          </p:nvPr>
        </p:nvGraphicFramePr>
        <p:xfrm>
          <a:off x="597484" y="3249008"/>
          <a:ext cx="7251658" cy="31700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6" name="Grupo 5">
            <a:extLst>
              <a:ext uri="{FF2B5EF4-FFF2-40B4-BE49-F238E27FC236}">
                <a16:creationId xmlns:a16="http://schemas.microsoft.com/office/drawing/2014/main" id="{56C44A9E-4F54-F758-175D-5D5903D8362D}"/>
              </a:ext>
            </a:extLst>
          </p:cNvPr>
          <p:cNvGrpSpPr/>
          <p:nvPr/>
        </p:nvGrpSpPr>
        <p:grpSpPr>
          <a:xfrm>
            <a:off x="657495" y="405066"/>
            <a:ext cx="8486506" cy="623610"/>
            <a:chOff x="-2180922" y="196844"/>
            <a:chExt cx="11141044" cy="623610"/>
          </a:xfrm>
        </p:grpSpPr>
        <p:sp>
          <p:nvSpPr>
            <p:cNvPr id="8" name="Rectángulo: esquinas redondeadas 7">
              <a:extLst>
                <a:ext uri="{FF2B5EF4-FFF2-40B4-BE49-F238E27FC236}">
                  <a16:creationId xmlns:a16="http://schemas.microsoft.com/office/drawing/2014/main" id="{D8A6A1FD-97A5-6454-E017-AA602DA62EA9}"/>
                </a:ext>
              </a:extLst>
            </p:cNvPr>
            <p:cNvSpPr/>
            <p:nvPr/>
          </p:nvSpPr>
          <p:spPr>
            <a:xfrm>
              <a:off x="-2180922" y="196844"/>
              <a:ext cx="9432580" cy="623610"/>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AR"/>
            </a:p>
          </p:txBody>
        </p:sp>
        <p:sp>
          <p:nvSpPr>
            <p:cNvPr id="10" name="Rectángulo: esquinas redondeadas 4">
              <a:extLst>
                <a:ext uri="{FF2B5EF4-FFF2-40B4-BE49-F238E27FC236}">
                  <a16:creationId xmlns:a16="http://schemas.microsoft.com/office/drawing/2014/main" id="{F74753EF-E768-80F2-4E9F-6EF0DE57993A}"/>
                </a:ext>
              </a:extLst>
            </p:cNvPr>
            <p:cNvSpPr txBox="1"/>
            <p:nvPr/>
          </p:nvSpPr>
          <p:spPr>
            <a:xfrm>
              <a:off x="-2060576" y="240619"/>
              <a:ext cx="11020698" cy="56272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060" tIns="99060" rIns="99060" bIns="99060" numCol="1" spcCol="1270" anchor="ctr" anchorCtr="0">
              <a:noAutofit/>
            </a:bodyPr>
            <a:lstStyle/>
            <a:p>
              <a:pPr defTabSz="1155700">
                <a:lnSpc>
                  <a:spcPct val="90000"/>
                </a:lnSpc>
                <a:spcBef>
                  <a:spcPct val="0"/>
                </a:spcBef>
                <a:spcAft>
                  <a:spcPct val="35000"/>
                </a:spcAft>
              </a:pPr>
              <a:r>
                <a:rPr lang="es-MX" sz="2800" dirty="0">
                  <a:solidFill>
                    <a:schemeClr val="bg1"/>
                  </a:solidFill>
                  <a:latin typeface="Verdana" panose="020B0604030504040204" pitchFamily="34" charset="0"/>
                  <a:ea typeface="Verdana" panose="020B0604030504040204" pitchFamily="34" charset="0"/>
                  <a:cs typeface="Verdana" panose="020B0604030504040204" pitchFamily="34" charset="0"/>
                </a:rPr>
                <a:t>Column (columna)</a:t>
              </a:r>
              <a:r>
                <a:rPr lang="es-MX" sz="2600" b="1" i="1" kern="1200" dirty="0"/>
                <a:t> </a:t>
              </a:r>
              <a:endParaRPr lang="en-US" sz="2600" kern="1200" dirty="0"/>
            </a:p>
          </p:txBody>
        </p:sp>
      </p:grpSp>
    </p:spTree>
    <p:extLst>
      <p:ext uri="{BB962C8B-B14F-4D97-AF65-F5344CB8AC3E}">
        <p14:creationId xmlns:p14="http://schemas.microsoft.com/office/powerpoint/2010/main" val="3266218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Rectangle 1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p:cNvSpPr/>
          <p:nvPr/>
        </p:nvSpPr>
        <p:spPr>
          <a:xfrm>
            <a:off x="4134810" y="487234"/>
            <a:ext cx="7920012" cy="2382969"/>
          </a:xfrm>
          <a:prstGeom prst="rect">
            <a:avLst/>
          </a:prstGeom>
        </p:spPr>
        <p:txBody>
          <a:bodyPr vert="horz" lIns="91440" tIns="45720" rIns="91440" bIns="45720" rtlCol="0" anchor="ctr">
            <a:normAutofit/>
          </a:bodyPr>
          <a:lstStyle/>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Agregación de valores de columnas con un identificador para referenciarlo (</a:t>
            </a:r>
            <a:r>
              <a:rPr lang="es-AR" b="1" i="1" dirty="0" err="1">
                <a:latin typeface="Verdana" panose="020B0604030504040204" pitchFamily="34" charset="0"/>
                <a:ea typeface="Verdana" panose="020B0604030504040204" pitchFamily="34" charset="0"/>
              </a:rPr>
              <a:t>rowKey</a:t>
            </a:r>
            <a:r>
              <a:rPr lang="es-AR" sz="2000" dirty="0">
                <a:latin typeface="Verdana" panose="020B0604030504040204" pitchFamily="34" charset="0"/>
                <a:ea typeface="Verdana" panose="020B0604030504040204" pitchFamily="34" charset="0"/>
              </a:rPr>
              <a:t>).</a:t>
            </a:r>
          </a:p>
          <a:p>
            <a:pPr marL="457200" indent="-342900">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Equivalente a la fila en el modelo relacional.</a:t>
            </a:r>
          </a:p>
        </p:txBody>
      </p:sp>
      <p:pic>
        <p:nvPicPr>
          <p:cNvPr id="3" name="Imagen 2"/>
          <p:cNvPicPr>
            <a:picLocks noChangeAspect="1"/>
          </p:cNvPicPr>
          <p:nvPr/>
        </p:nvPicPr>
        <p:blipFill>
          <a:blip r:embed="rId2"/>
          <a:stretch>
            <a:fillRect/>
          </a:stretch>
        </p:blipFill>
        <p:spPr>
          <a:xfrm>
            <a:off x="4076697" y="3418860"/>
            <a:ext cx="7978125" cy="2951906"/>
          </a:xfrm>
          <a:prstGeom prst="rect">
            <a:avLst/>
          </a:prstGeom>
        </p:spPr>
      </p:pic>
      <p:sp>
        <p:nvSpPr>
          <p:cNvPr id="4" name="CuadroTexto 3">
            <a:extLst>
              <a:ext uri="{FF2B5EF4-FFF2-40B4-BE49-F238E27FC236}">
                <a16:creationId xmlns:a16="http://schemas.microsoft.com/office/drawing/2014/main" id="{6BE2F8AA-23F5-D17D-3245-A7BC72B618C1}"/>
              </a:ext>
            </a:extLst>
          </p:cNvPr>
          <p:cNvSpPr txBox="1"/>
          <p:nvPr/>
        </p:nvSpPr>
        <p:spPr>
          <a:xfrm>
            <a:off x="466722" y="586855"/>
            <a:ext cx="3201366" cy="3432695"/>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s-AR" sz="3600" b="1" dirty="0" err="1">
                <a:solidFill>
                  <a:srgbClr val="FFFFFF"/>
                </a:solidFill>
                <a:latin typeface="+mj-lt"/>
                <a:ea typeface="+mj-ea"/>
                <a:cs typeface="+mj-cs"/>
              </a:rPr>
              <a:t>Row</a:t>
            </a:r>
            <a:r>
              <a:rPr lang="es-AR" sz="3600" b="1" dirty="0">
                <a:solidFill>
                  <a:srgbClr val="FFFFFF"/>
                </a:solidFill>
                <a:latin typeface="+mj-lt"/>
                <a:ea typeface="+mj-ea"/>
                <a:cs typeface="+mj-cs"/>
              </a:rPr>
              <a:t> (Fila)</a:t>
            </a:r>
            <a:endParaRPr lang="es-AR" sz="3600" b="1" kern="1200" dirty="0">
              <a:solidFill>
                <a:srgbClr val="FFFFFF"/>
              </a:solidFill>
              <a:latin typeface="+mj-lt"/>
              <a:ea typeface="+mj-ea"/>
              <a:cs typeface="+mj-cs"/>
            </a:endParaRPr>
          </a:p>
        </p:txBody>
      </p:sp>
    </p:spTree>
    <p:extLst>
      <p:ext uri="{BB962C8B-B14F-4D97-AF65-F5344CB8AC3E}">
        <p14:creationId xmlns:p14="http://schemas.microsoft.com/office/powerpoint/2010/main" val="2553103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p:cNvSpPr/>
          <p:nvPr/>
        </p:nvSpPr>
        <p:spPr>
          <a:xfrm>
            <a:off x="4810259" y="649480"/>
            <a:ext cx="6555347" cy="5546047"/>
          </a:xfrm>
          <a:prstGeom prst="rect">
            <a:avLst/>
          </a:prstGeom>
        </p:spPr>
        <p:txBody>
          <a:bodyPr vert="horz" lIns="91440" tIns="45720" rIns="91440" bIns="45720" rtlCol="0" anchor="ctr">
            <a:normAutofit/>
          </a:bodyPr>
          <a:lstStyle/>
          <a:p>
            <a:pPr marL="3429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Identificador único de una fila.</a:t>
            </a:r>
          </a:p>
          <a:p>
            <a:pPr marL="342900" indent="-342900" algn="just">
              <a:spcBef>
                <a:spcPts val="1200"/>
              </a:spcBef>
              <a:spcAft>
                <a:spcPts val="1200"/>
              </a:spcAft>
              <a:buFont typeface="Wingdings" panose="05000000000000000000" pitchFamily="2" charset="2"/>
              <a:buChar char="Ø"/>
            </a:pPr>
            <a:r>
              <a:rPr lang="es-AR" sz="2000" dirty="0">
                <a:latin typeface="Verdana" panose="020B0604030504040204" pitchFamily="34" charset="0"/>
                <a:ea typeface="Verdana" panose="020B0604030504040204" pitchFamily="34" charset="0"/>
              </a:rPr>
              <a:t>Está conformada por dos partes:</a:t>
            </a:r>
          </a:p>
          <a:p>
            <a:pPr marL="800100" lvl="1" indent="-342900" algn="just">
              <a:spcBef>
                <a:spcPts val="1200"/>
              </a:spcBef>
              <a:spcAft>
                <a:spcPts val="1200"/>
              </a:spcAft>
              <a:buFont typeface="Wingdings" panose="05000000000000000000" pitchFamily="2" charset="2"/>
              <a:buChar char="§"/>
            </a:pPr>
            <a:r>
              <a:rPr lang="es-AR" b="1" i="1" dirty="0" err="1">
                <a:latin typeface="Verdana" panose="020B0604030504040204" pitchFamily="34" charset="0"/>
                <a:ea typeface="Verdana" panose="020B0604030504040204" pitchFamily="34" charset="0"/>
              </a:rPr>
              <a:t>Partition</a:t>
            </a:r>
            <a:r>
              <a:rPr lang="es-AR" b="1" i="1" dirty="0">
                <a:latin typeface="Verdana" panose="020B0604030504040204" pitchFamily="34" charset="0"/>
                <a:ea typeface="Verdana" panose="020B0604030504040204" pitchFamily="34" charset="0"/>
              </a:rPr>
              <a:t> Key </a:t>
            </a:r>
            <a:r>
              <a:rPr lang="es-AR" sz="2000" dirty="0">
                <a:latin typeface="Verdana" panose="020B0604030504040204" pitchFamily="34" charset="0"/>
                <a:ea typeface="Verdana" panose="020B0604030504040204" pitchFamily="34" charset="0"/>
              </a:rPr>
              <a:t>(clave de </a:t>
            </a:r>
            <a:r>
              <a:rPr lang="es-AR" sz="2000" dirty="0" err="1">
                <a:latin typeface="Verdana" panose="020B0604030504040204" pitchFamily="34" charset="0"/>
                <a:ea typeface="Verdana" panose="020B0604030504040204" pitchFamily="34" charset="0"/>
              </a:rPr>
              <a:t>particion</a:t>
            </a:r>
            <a:r>
              <a:rPr lang="es-AR" sz="2000" dirty="0">
                <a:latin typeface="Verdana" panose="020B0604030504040204" pitchFamily="34" charset="0"/>
                <a:ea typeface="Verdana" panose="020B0604030504040204" pitchFamily="34" charset="0"/>
              </a:rPr>
              <a:t>): las filas con el mismo valor de clave de partición se almacenan en la misma </a:t>
            </a:r>
            <a:r>
              <a:rPr lang="es-AR"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 (partición del disco).</a:t>
            </a:r>
          </a:p>
          <a:p>
            <a:pPr marL="800100" lvl="1" indent="-342900" algn="just">
              <a:spcBef>
                <a:spcPts val="1200"/>
              </a:spcBef>
              <a:spcAft>
                <a:spcPts val="1200"/>
              </a:spcAft>
              <a:buFont typeface="Wingdings" panose="05000000000000000000" pitchFamily="2" charset="2"/>
              <a:buChar char="§"/>
            </a:pPr>
            <a:r>
              <a:rPr lang="es-AR" b="1" i="1" dirty="0" err="1">
                <a:latin typeface="Verdana" panose="020B0604030504040204" pitchFamily="34" charset="0"/>
                <a:ea typeface="Verdana" panose="020B0604030504040204" pitchFamily="34" charset="0"/>
              </a:rPr>
              <a:t>Clustering</a:t>
            </a:r>
            <a:r>
              <a:rPr lang="es-AR" b="1" i="1" dirty="0">
                <a:latin typeface="Verdana" panose="020B0604030504040204" pitchFamily="34" charset="0"/>
                <a:ea typeface="Verdana" panose="020B0604030504040204" pitchFamily="34" charset="0"/>
              </a:rPr>
              <a:t> Key </a:t>
            </a:r>
            <a:r>
              <a:rPr lang="es-AR" sz="2000" dirty="0">
                <a:latin typeface="Verdana" panose="020B0604030504040204" pitchFamily="34" charset="0"/>
                <a:ea typeface="Verdana" panose="020B0604030504040204" pitchFamily="34" charset="0"/>
              </a:rPr>
              <a:t>(clave de agrupamiento) : determina el orden físico en el que se almacenan las filas dentro del </a:t>
            </a:r>
            <a:r>
              <a:rPr lang="es-AR"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a:t>
            </a:r>
          </a:p>
        </p:txBody>
      </p:sp>
      <p:sp>
        <p:nvSpPr>
          <p:cNvPr id="3" name="CuadroTexto 2">
            <a:extLst>
              <a:ext uri="{FF2B5EF4-FFF2-40B4-BE49-F238E27FC236}">
                <a16:creationId xmlns:a16="http://schemas.microsoft.com/office/drawing/2014/main" id="{B4BC858D-1372-BE24-6D5F-F97E70CF9E01}"/>
              </a:ext>
            </a:extLst>
          </p:cNvPr>
          <p:cNvSpPr txBox="1"/>
          <p:nvPr/>
        </p:nvSpPr>
        <p:spPr>
          <a:xfrm>
            <a:off x="466722" y="586855"/>
            <a:ext cx="3201366" cy="3432695"/>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s-AR" sz="3600" b="1" dirty="0" err="1">
                <a:solidFill>
                  <a:srgbClr val="FFFFFF"/>
                </a:solidFill>
                <a:latin typeface="+mj-lt"/>
                <a:ea typeface="+mj-ea"/>
                <a:cs typeface="+mj-cs"/>
              </a:rPr>
              <a:t>RowKey</a:t>
            </a:r>
            <a:r>
              <a:rPr lang="es-AR" sz="3600" b="1" dirty="0">
                <a:solidFill>
                  <a:srgbClr val="FFFFFF"/>
                </a:solidFill>
                <a:latin typeface="+mj-lt"/>
                <a:ea typeface="+mj-ea"/>
                <a:cs typeface="+mj-cs"/>
              </a:rPr>
              <a:t> </a:t>
            </a:r>
          </a:p>
          <a:p>
            <a:pPr algn="r">
              <a:lnSpc>
                <a:spcPct val="90000"/>
              </a:lnSpc>
              <a:spcBef>
                <a:spcPct val="0"/>
              </a:spcBef>
              <a:spcAft>
                <a:spcPts val="600"/>
              </a:spcAft>
            </a:pPr>
            <a:r>
              <a:rPr lang="es-AR" sz="3600" b="1" dirty="0">
                <a:solidFill>
                  <a:srgbClr val="FFFFFF"/>
                </a:solidFill>
                <a:latin typeface="+mj-lt"/>
                <a:ea typeface="+mj-ea"/>
                <a:cs typeface="+mj-cs"/>
              </a:rPr>
              <a:t>(Clave de Fila)</a:t>
            </a:r>
            <a:endParaRPr lang="es-AR" sz="3600" b="1" kern="1200" dirty="0">
              <a:solidFill>
                <a:srgbClr val="FFFFFF"/>
              </a:solidFill>
              <a:latin typeface="+mj-lt"/>
              <a:ea typeface="+mj-ea"/>
              <a:cs typeface="+mj-cs"/>
            </a:endParaRPr>
          </a:p>
        </p:txBody>
      </p:sp>
    </p:spTree>
    <p:extLst>
      <p:ext uri="{BB962C8B-B14F-4D97-AF65-F5344CB8AC3E}">
        <p14:creationId xmlns:p14="http://schemas.microsoft.com/office/powerpoint/2010/main" val="3012767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1"/>
          <p:cNvSpPr/>
          <p:nvPr/>
        </p:nvSpPr>
        <p:spPr>
          <a:xfrm>
            <a:off x="4229100" y="247650"/>
            <a:ext cx="7581899" cy="6429375"/>
          </a:xfrm>
          <a:prstGeom prst="rect">
            <a:avLst/>
          </a:prstGeom>
        </p:spPr>
        <p:txBody>
          <a:bodyPr vert="horz" lIns="91440" tIns="45720" rIns="91440" bIns="45720" rtlCol="0" anchor="ctr">
            <a:normAutofit/>
          </a:bodyPr>
          <a:lstStyle/>
          <a:p>
            <a:pPr algn="just">
              <a:spcAft>
                <a:spcPts val="1800"/>
              </a:spcAft>
            </a:pPr>
            <a:r>
              <a:rPr lang="es-AR" sz="2000" dirty="0">
                <a:latin typeface="Verdana" panose="020B0604030504040204" pitchFamily="34" charset="0"/>
                <a:ea typeface="Verdana" panose="020B0604030504040204" pitchFamily="34" charset="0"/>
              </a:rPr>
              <a:t>Es equiparable al esquema (</a:t>
            </a:r>
            <a:r>
              <a:rPr lang="es-AR" sz="2000" dirty="0" err="1">
                <a:latin typeface="Verdana" panose="020B0604030504040204" pitchFamily="34" charset="0"/>
                <a:ea typeface="Verdana" panose="020B0604030504040204" pitchFamily="34" charset="0"/>
              </a:rPr>
              <a:t>schema</a:t>
            </a:r>
            <a:r>
              <a:rPr lang="es-AR" sz="2000" dirty="0">
                <a:latin typeface="Verdana" panose="020B0604030504040204" pitchFamily="34" charset="0"/>
                <a:ea typeface="Verdana" panose="020B0604030504040204" pitchFamily="34" charset="0"/>
              </a:rPr>
              <a:t>) del modelo relacional y hay uno por aplicación. </a:t>
            </a:r>
          </a:p>
          <a:p>
            <a:pPr algn="just">
              <a:lnSpc>
                <a:spcPct val="90000"/>
              </a:lnSpc>
              <a:spcAft>
                <a:spcPts val="1800"/>
              </a:spcAft>
            </a:pPr>
            <a:r>
              <a:rPr lang="es-AR" sz="2000" dirty="0">
                <a:latin typeface="Verdana" panose="020B0604030504040204" pitchFamily="34" charset="0"/>
                <a:ea typeface="Verdana" panose="020B0604030504040204" pitchFamily="34" charset="0"/>
              </a:rPr>
              <a:t>Los atributos básicos de un </a:t>
            </a:r>
            <a:r>
              <a:rPr lang="es-AR" b="1" i="1" dirty="0" err="1">
                <a:latin typeface="Verdana" panose="020B0604030504040204" pitchFamily="34" charset="0"/>
                <a:ea typeface="Verdana" panose="020B0604030504040204" pitchFamily="34" charset="0"/>
              </a:rPr>
              <a:t>keyspace</a:t>
            </a:r>
            <a:r>
              <a:rPr lang="es-AR" sz="2000" dirty="0">
                <a:latin typeface="Verdana" panose="020B0604030504040204" pitchFamily="34" charset="0"/>
                <a:ea typeface="Verdana" panose="020B0604030504040204" pitchFamily="34" charset="0"/>
              </a:rPr>
              <a:t> son:</a:t>
            </a:r>
          </a:p>
          <a:p>
            <a:pPr marL="457200" indent="-342900" algn="just">
              <a:spcBef>
                <a:spcPts val="1200"/>
              </a:spcBef>
              <a:spcAft>
                <a:spcPts val="1200"/>
              </a:spcAft>
              <a:buFont typeface="Wingdings" panose="05000000000000000000" pitchFamily="2" charset="2"/>
              <a:buChar char="Ø"/>
            </a:pPr>
            <a:r>
              <a:rPr lang="es-AR" b="1" i="1" dirty="0" err="1">
                <a:latin typeface="Verdana" panose="020B0604030504040204" pitchFamily="34" charset="0"/>
                <a:ea typeface="Verdana" panose="020B0604030504040204" pitchFamily="34" charset="0"/>
              </a:rPr>
              <a:t>Replication_factor</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cuánto quieres pagar en </a:t>
            </a:r>
            <a:r>
              <a:rPr lang="es-AR" sz="2000" dirty="0" err="1">
                <a:latin typeface="Verdana" panose="020B0604030504040204" pitchFamily="34" charset="0"/>
                <a:ea typeface="Verdana" panose="020B0604030504040204" pitchFamily="34" charset="0"/>
              </a:rPr>
              <a:t>rendi</a:t>
            </a:r>
            <a:r>
              <a:rPr lang="es-AR" sz="2000" dirty="0">
                <a:latin typeface="Verdana" panose="020B0604030504040204" pitchFamily="34" charset="0"/>
                <a:ea typeface="Verdana" panose="020B0604030504040204" pitchFamily="34" charset="0"/>
              </a:rPr>
              <a:t>-miento a favor de consistencia.</a:t>
            </a:r>
          </a:p>
          <a:p>
            <a:pPr marL="457200" indent="-342900" algn="just">
              <a:spcBef>
                <a:spcPts val="1200"/>
              </a:spcBef>
              <a:spcAft>
                <a:spcPts val="1200"/>
              </a:spcAft>
              <a:buFont typeface="Wingdings" panose="05000000000000000000" pitchFamily="2" charset="2"/>
              <a:buChar char="Ø"/>
            </a:pPr>
            <a:r>
              <a:rPr lang="es-AR" b="1" i="1" dirty="0">
                <a:latin typeface="Verdana" panose="020B0604030504040204" pitchFamily="34" charset="0"/>
                <a:ea typeface="Verdana" panose="020B0604030504040204" pitchFamily="34" charset="0"/>
              </a:rPr>
              <a:t>Replica </a:t>
            </a:r>
            <a:r>
              <a:rPr lang="es-AR" b="1" i="1" dirty="0" err="1">
                <a:latin typeface="Verdana" panose="020B0604030504040204" pitchFamily="34" charset="0"/>
                <a:ea typeface="Verdana" panose="020B0604030504040204" pitchFamily="34" charset="0"/>
              </a:rPr>
              <a:t>placement</a:t>
            </a:r>
            <a:r>
              <a:rPr lang="es-AR" b="1" i="1" dirty="0">
                <a:latin typeface="Verdana" panose="020B0604030504040204" pitchFamily="34" charset="0"/>
                <a:ea typeface="Verdana" panose="020B0604030504040204" pitchFamily="34" charset="0"/>
              </a:rPr>
              <a:t> </a:t>
            </a:r>
            <a:r>
              <a:rPr lang="es-AR" b="1" i="1" dirty="0" err="1">
                <a:latin typeface="Verdana" panose="020B0604030504040204" pitchFamily="34" charset="0"/>
                <a:ea typeface="Verdana" panose="020B0604030504040204" pitchFamily="34" charset="0"/>
              </a:rPr>
              <a:t>strategy</a:t>
            </a:r>
            <a:r>
              <a:rPr lang="es-AR"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indica cómo se colocan las réplicas en el anillo:</a:t>
            </a:r>
          </a:p>
          <a:p>
            <a:pPr marL="914400" lvl="1" indent="-342900">
              <a:spcBef>
                <a:spcPts val="1200"/>
              </a:spcBef>
              <a:spcAft>
                <a:spcPts val="12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SimpleStrategy</a:t>
            </a:r>
            <a:r>
              <a:rPr lang="es-AR" sz="2000" dirty="0">
                <a:latin typeface="Verdana" panose="020B0604030504040204" pitchFamily="34" charset="0"/>
                <a:ea typeface="Verdana" panose="020B0604030504040204" pitchFamily="34" charset="0"/>
              </a:rPr>
              <a:t> (solo un centro de datos)</a:t>
            </a:r>
          </a:p>
          <a:p>
            <a:pPr marL="914400" lvl="1" indent="-342900">
              <a:spcBef>
                <a:spcPts val="1200"/>
              </a:spcBef>
              <a:spcAft>
                <a:spcPts val="12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NetworkTopologyStrategy</a:t>
            </a:r>
            <a:r>
              <a:rPr lang="es-AR" sz="2000" dirty="0">
                <a:latin typeface="Verdana" panose="020B0604030504040204" pitchFamily="34" charset="0"/>
                <a:ea typeface="Verdana" panose="020B0604030504040204" pitchFamily="34" charset="0"/>
              </a:rPr>
              <a:t> (varios centros de datos)</a:t>
            </a:r>
          </a:p>
          <a:p>
            <a:pPr>
              <a:lnSpc>
                <a:spcPct val="90000"/>
              </a:lnSpc>
              <a:spcAft>
                <a:spcPts val="600"/>
              </a:spcAft>
            </a:pPr>
            <a:r>
              <a:rPr lang="es-AR" b="1" i="1" dirty="0">
                <a:solidFill>
                  <a:srgbClr val="0070C0"/>
                </a:solidFill>
                <a:latin typeface="Verdana" panose="020B0604030504040204" pitchFamily="34" charset="0"/>
                <a:ea typeface="Verdana" panose="020B0604030504040204" pitchFamily="34" charset="0"/>
              </a:rPr>
              <a:t>CREATE KEYSPACE </a:t>
            </a:r>
            <a:r>
              <a:rPr lang="es-AR" b="1" i="1" dirty="0" err="1">
                <a:solidFill>
                  <a:srgbClr val="0070C0"/>
                </a:solidFill>
                <a:latin typeface="Verdana" panose="020B0604030504040204" pitchFamily="34" charset="0"/>
                <a:ea typeface="Verdana" panose="020B0604030504040204" pitchFamily="34" charset="0"/>
              </a:rPr>
              <a:t>name</a:t>
            </a:r>
            <a:r>
              <a:rPr lang="es-AR" b="1" i="1" dirty="0">
                <a:solidFill>
                  <a:srgbClr val="0070C0"/>
                </a:solidFill>
                <a:latin typeface="Verdana" panose="020B0604030504040204" pitchFamily="34" charset="0"/>
                <a:ea typeface="Verdana" panose="020B0604030504040204" pitchFamily="34" charset="0"/>
              </a:rPr>
              <a:t> </a:t>
            </a:r>
          </a:p>
          <a:p>
            <a:pPr>
              <a:lnSpc>
                <a:spcPct val="90000"/>
              </a:lnSpc>
              <a:spcAft>
                <a:spcPts val="600"/>
              </a:spcAft>
            </a:pPr>
            <a:r>
              <a:rPr lang="es-AR" b="1" i="1" dirty="0">
                <a:solidFill>
                  <a:srgbClr val="0070C0"/>
                </a:solidFill>
                <a:latin typeface="Verdana" panose="020B0604030504040204" pitchFamily="34" charset="0"/>
                <a:ea typeface="Verdana" panose="020B0604030504040204" pitchFamily="34" charset="0"/>
              </a:rPr>
              <a:t>	WITH </a:t>
            </a:r>
            <a:r>
              <a:rPr lang="es-AR" b="1" i="1" dirty="0" err="1">
                <a:solidFill>
                  <a:srgbClr val="0070C0"/>
                </a:solidFill>
                <a:latin typeface="Verdana" panose="020B0604030504040204" pitchFamily="34" charset="0"/>
                <a:ea typeface="Verdana" panose="020B0604030504040204" pitchFamily="34" charset="0"/>
              </a:rPr>
              <a:t>replication</a:t>
            </a:r>
            <a:r>
              <a:rPr lang="es-AR" b="1" i="1" dirty="0">
                <a:solidFill>
                  <a:srgbClr val="0070C0"/>
                </a:solidFill>
                <a:latin typeface="Verdana" panose="020B0604030504040204" pitchFamily="34" charset="0"/>
                <a:ea typeface="Verdana" panose="020B0604030504040204" pitchFamily="34" charset="0"/>
              </a:rPr>
              <a:t> = {'</a:t>
            </a:r>
            <a:r>
              <a:rPr lang="es-AR" b="1" i="1" dirty="0" err="1">
                <a:solidFill>
                  <a:srgbClr val="0070C0"/>
                </a:solidFill>
                <a:latin typeface="Verdana" panose="020B0604030504040204" pitchFamily="34" charset="0"/>
                <a:ea typeface="Verdana" panose="020B0604030504040204" pitchFamily="34" charset="0"/>
              </a:rPr>
              <a:t>class</a:t>
            </a:r>
            <a:r>
              <a:rPr lang="es-AR" b="1" i="1" dirty="0">
                <a:solidFill>
                  <a:srgbClr val="0070C0"/>
                </a:solidFill>
                <a:latin typeface="Verdana" panose="020B0604030504040204" pitchFamily="34" charset="0"/>
                <a:ea typeface="Verdana" panose="020B0604030504040204" pitchFamily="34" charset="0"/>
              </a:rPr>
              <a:t>':'</a:t>
            </a:r>
            <a:r>
              <a:rPr lang="es-AR" b="1" i="1" dirty="0" err="1">
                <a:solidFill>
                  <a:srgbClr val="0070C0"/>
                </a:solidFill>
                <a:latin typeface="Verdana" panose="020B0604030504040204" pitchFamily="34" charset="0"/>
                <a:ea typeface="Verdana" panose="020B0604030504040204" pitchFamily="34" charset="0"/>
              </a:rPr>
              <a:t>SimpleStrategy</a:t>
            </a:r>
            <a:r>
              <a:rPr lang="es-AR" b="1" i="1" dirty="0">
                <a:solidFill>
                  <a:srgbClr val="0070C0"/>
                </a:solidFill>
                <a:latin typeface="Verdana" panose="020B0604030504040204" pitchFamily="34" charset="0"/>
                <a:ea typeface="Verdana" panose="020B0604030504040204" pitchFamily="34" charset="0"/>
              </a:rPr>
              <a:t>',                                                                     	                                  '</a:t>
            </a:r>
            <a:r>
              <a:rPr lang="es-AR" b="1" i="1" dirty="0" err="1">
                <a:solidFill>
                  <a:srgbClr val="0070C0"/>
                </a:solidFill>
                <a:latin typeface="Verdana" panose="020B0604030504040204" pitchFamily="34" charset="0"/>
                <a:ea typeface="Verdana" panose="020B0604030504040204" pitchFamily="34" charset="0"/>
              </a:rPr>
              <a:t>replication_factor</a:t>
            </a:r>
            <a:r>
              <a:rPr lang="es-AR" b="1" i="1" dirty="0">
                <a:solidFill>
                  <a:srgbClr val="0070C0"/>
                </a:solidFill>
                <a:latin typeface="Verdana" panose="020B0604030504040204" pitchFamily="34" charset="0"/>
                <a:ea typeface="Verdana" panose="020B0604030504040204" pitchFamily="34" charset="0"/>
              </a:rPr>
              <a:t>' : 3};</a:t>
            </a:r>
          </a:p>
        </p:txBody>
      </p:sp>
      <p:sp>
        <p:nvSpPr>
          <p:cNvPr id="5" name="CuadroTexto 4">
            <a:extLst>
              <a:ext uri="{FF2B5EF4-FFF2-40B4-BE49-F238E27FC236}">
                <a16:creationId xmlns:a16="http://schemas.microsoft.com/office/drawing/2014/main" id="{1810F458-F385-12C7-1529-0729C1C468F6}"/>
              </a:ext>
            </a:extLst>
          </p:cNvPr>
          <p:cNvSpPr txBox="1"/>
          <p:nvPr/>
        </p:nvSpPr>
        <p:spPr>
          <a:xfrm>
            <a:off x="506906" y="1743075"/>
            <a:ext cx="3201366" cy="2143095"/>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kern="1200" dirty="0" err="1">
                <a:solidFill>
                  <a:srgbClr val="FFFFFF"/>
                </a:solidFill>
                <a:latin typeface="+mj-lt"/>
                <a:ea typeface="+mj-ea"/>
                <a:cs typeface="+mj-cs"/>
              </a:rPr>
              <a:t>KeySpace</a:t>
            </a:r>
            <a:endParaRPr lang="en-US" sz="4000" kern="1200" dirty="0">
              <a:solidFill>
                <a:srgbClr val="FFFFFF"/>
              </a:solidFill>
              <a:latin typeface="+mj-lt"/>
              <a:ea typeface="+mj-ea"/>
              <a:cs typeface="+mj-cs"/>
            </a:endParaRPr>
          </a:p>
        </p:txBody>
      </p:sp>
    </p:spTree>
    <p:extLst>
      <p:ext uri="{BB962C8B-B14F-4D97-AF65-F5344CB8AC3E}">
        <p14:creationId xmlns:p14="http://schemas.microsoft.com/office/powerpoint/2010/main" val="1850239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kern="1200">
                <a:solidFill>
                  <a:srgbClr val="FFFFFF"/>
                </a:solidFill>
                <a:latin typeface="+mj-lt"/>
                <a:ea typeface="+mj-ea"/>
                <a:cs typeface="+mj-cs"/>
              </a:rPr>
              <a:t>Índices</a:t>
            </a:r>
          </a:p>
        </p:txBody>
      </p:sp>
      <p:sp>
        <p:nvSpPr>
          <p:cNvPr id="4" name="Rectángulo 3"/>
          <p:cNvSpPr/>
          <p:nvPr/>
        </p:nvSpPr>
        <p:spPr>
          <a:xfrm>
            <a:off x="4037827" y="649480"/>
            <a:ext cx="7925574" cy="5546047"/>
          </a:xfrm>
          <a:prstGeom prst="rect">
            <a:avLst/>
          </a:prstGeom>
        </p:spPr>
        <p:txBody>
          <a:bodyPr vert="horz" lIns="91440" tIns="45720" rIns="91440" bIns="45720" rtlCol="0" anchor="ctr">
            <a:noAutofit/>
          </a:bodyPr>
          <a:lstStyle/>
          <a:p>
            <a:pPr marL="342900" indent="-342900" algn="just">
              <a:spcBef>
                <a:spcPts val="600"/>
              </a:spcBef>
              <a:spcAft>
                <a:spcPts val="600"/>
              </a:spcAft>
              <a:buFont typeface="Wingdings" panose="05000000000000000000" pitchFamily="2" charset="2"/>
              <a:buChar char="Ø"/>
            </a:pPr>
            <a:r>
              <a:rPr lang="es-AR" b="1" i="1" dirty="0">
                <a:latin typeface="Verdana" panose="020B0604030504040204" pitchFamily="34" charset="0"/>
                <a:ea typeface="Verdana" panose="020B0604030504040204" pitchFamily="34" charset="0"/>
              </a:rPr>
              <a:t>Primarios</a:t>
            </a:r>
          </a:p>
          <a:p>
            <a:pPr marL="914400" lvl="1" indent="-342900" algn="just">
              <a:spcBef>
                <a:spcPts val="600"/>
              </a:spcBef>
              <a:spcAft>
                <a:spcPts val="600"/>
              </a:spcAft>
              <a:buFont typeface="Wingdings" panose="05000000000000000000" pitchFamily="2" charset="2"/>
              <a:buChar char="ü"/>
            </a:pPr>
            <a:r>
              <a:rPr lang="es-AR" sz="2000" dirty="0">
                <a:latin typeface="Verdana" panose="020B0604030504040204" pitchFamily="34" charset="0"/>
                <a:ea typeface="Verdana" panose="020B0604030504040204" pitchFamily="34" charset="0"/>
              </a:rPr>
              <a:t>Son únicos por cada fila.</a:t>
            </a:r>
          </a:p>
          <a:p>
            <a:pPr marL="914400" lvl="1" indent="-342900" algn="just">
              <a:spcBef>
                <a:spcPts val="600"/>
              </a:spcBef>
              <a:spcAft>
                <a:spcPts val="600"/>
              </a:spcAft>
              <a:buFont typeface="Wingdings" panose="05000000000000000000" pitchFamily="2" charset="2"/>
              <a:buChar char="ü"/>
            </a:pPr>
            <a:r>
              <a:rPr lang="es-AR" sz="2000" dirty="0">
                <a:latin typeface="Verdana" panose="020B0604030504040204" pitchFamily="34" charset="0"/>
                <a:ea typeface="Verdana" panose="020B0604030504040204" pitchFamily="34" charset="0"/>
              </a:rPr>
              <a:t>Dado que cada nodo conoce qué rango de valores del índice primario almacena, las consultas pueden realizarse de forma eficiente escaneando únicamente los índices de las réplicas de las filas buscadas.</a:t>
            </a:r>
          </a:p>
          <a:p>
            <a:pPr marL="342900" indent="-342900" algn="just">
              <a:spcBef>
                <a:spcPts val="600"/>
              </a:spcBef>
              <a:spcAft>
                <a:spcPts val="600"/>
              </a:spcAft>
              <a:buFont typeface="Wingdings" panose="05000000000000000000" pitchFamily="2" charset="2"/>
              <a:buChar char="Ø"/>
            </a:pPr>
            <a:r>
              <a:rPr lang="es-AR" b="1" i="1" dirty="0">
                <a:latin typeface="Verdana" panose="020B0604030504040204" pitchFamily="34" charset="0"/>
                <a:ea typeface="Verdana" panose="020B0604030504040204" pitchFamily="34" charset="0"/>
              </a:rPr>
              <a:t>Secundarios</a:t>
            </a:r>
          </a:p>
          <a:p>
            <a:pPr marL="914400" lvl="1" indent="-342900" algn="just">
              <a:spcBef>
                <a:spcPts val="600"/>
              </a:spcBef>
              <a:spcAft>
                <a:spcPts val="600"/>
              </a:spcAft>
              <a:buFont typeface="Wingdings" panose="05000000000000000000" pitchFamily="2" charset="2"/>
              <a:buChar char="ü"/>
            </a:pPr>
            <a:r>
              <a:rPr lang="es-AR" sz="2000" dirty="0">
                <a:latin typeface="Verdana" panose="020B0604030504040204" pitchFamily="34" charset="0"/>
                <a:ea typeface="Verdana" panose="020B0604030504040204" pitchFamily="34" charset="0"/>
              </a:rPr>
              <a:t>Son índices sobre columnas.</a:t>
            </a:r>
          </a:p>
          <a:p>
            <a:pPr marL="914400" lvl="1" indent="-342900" algn="just">
              <a:spcBef>
                <a:spcPts val="600"/>
              </a:spcBef>
              <a:spcAft>
                <a:spcPts val="600"/>
              </a:spcAft>
              <a:buFont typeface="Wingdings" panose="05000000000000000000" pitchFamily="2" charset="2"/>
              <a:buChar char="ü"/>
            </a:pPr>
            <a:r>
              <a:rPr lang="es-AR" sz="2000" dirty="0">
                <a:latin typeface="Verdana" panose="020B0604030504040204" pitchFamily="34" charset="0"/>
                <a:ea typeface="Verdana" panose="020B0604030504040204" pitchFamily="34" charset="0"/>
              </a:rPr>
              <a:t>Se implementan como una tabla oculta, separada de la tabla que contiene los valores originales.</a:t>
            </a:r>
          </a:p>
          <a:p>
            <a:pPr marL="914400" lvl="1" indent="-342900" algn="just">
              <a:spcBef>
                <a:spcPts val="600"/>
              </a:spcBef>
              <a:spcAft>
                <a:spcPts val="600"/>
              </a:spcAft>
              <a:buFont typeface="Wingdings" panose="05000000000000000000" pitchFamily="2" charset="2"/>
              <a:buChar char="ü"/>
            </a:pPr>
            <a:r>
              <a:rPr lang="es-AR" sz="2000" dirty="0">
                <a:latin typeface="Verdana" panose="020B0604030504040204" pitchFamily="34" charset="0"/>
                <a:ea typeface="Verdana" panose="020B0604030504040204" pitchFamily="34" charset="0"/>
              </a:rPr>
              <a:t>No se recomienda su uso para consultas que requieran comprobar un gran volumen de datos para finalmente retornar un pequeño conjunto de resultados</a:t>
            </a:r>
          </a:p>
        </p:txBody>
      </p:sp>
    </p:spTree>
    <p:extLst>
      <p:ext uri="{BB962C8B-B14F-4D97-AF65-F5344CB8AC3E}">
        <p14:creationId xmlns:p14="http://schemas.microsoft.com/office/powerpoint/2010/main" val="1694677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uadroTexto 4"/>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kern="1200" dirty="0" err="1">
                <a:solidFill>
                  <a:srgbClr val="FFFFFF"/>
                </a:solidFill>
                <a:latin typeface="+mj-lt"/>
                <a:ea typeface="+mj-ea"/>
                <a:cs typeface="+mj-cs"/>
              </a:rPr>
              <a:t>RowKey</a:t>
            </a:r>
            <a:r>
              <a:rPr lang="en-US" sz="4000" kern="1200" dirty="0">
                <a:solidFill>
                  <a:srgbClr val="FFFFFF"/>
                </a:solidFill>
                <a:latin typeface="+mj-lt"/>
                <a:ea typeface="+mj-ea"/>
                <a:cs typeface="+mj-cs"/>
              </a:rPr>
              <a:t> </a:t>
            </a:r>
          </a:p>
          <a:p>
            <a:pPr algn="r">
              <a:lnSpc>
                <a:spcPct val="90000"/>
              </a:lnSpc>
              <a:spcBef>
                <a:spcPct val="0"/>
              </a:spcBef>
              <a:spcAft>
                <a:spcPts val="600"/>
              </a:spcAft>
            </a:pPr>
            <a:r>
              <a:rPr lang="en-US" sz="4000" dirty="0">
                <a:solidFill>
                  <a:srgbClr val="FFFFFF"/>
                </a:solidFill>
                <a:latin typeface="+mj-lt"/>
                <a:ea typeface="+mj-ea"/>
                <a:cs typeface="+mj-cs"/>
              </a:rPr>
              <a:t>(Clave de Fila)</a:t>
            </a:r>
            <a:endParaRPr lang="en-US" sz="4000" kern="1200" dirty="0">
              <a:solidFill>
                <a:srgbClr val="FFFFFF"/>
              </a:solidFill>
              <a:latin typeface="+mj-lt"/>
              <a:ea typeface="+mj-ea"/>
              <a:cs typeface="+mj-cs"/>
            </a:endParaRPr>
          </a:p>
        </p:txBody>
      </p:sp>
      <p:sp>
        <p:nvSpPr>
          <p:cNvPr id="4" name="Rectángulo 3"/>
          <p:cNvSpPr/>
          <p:nvPr/>
        </p:nvSpPr>
        <p:spPr>
          <a:xfrm>
            <a:off x="4037827" y="649480"/>
            <a:ext cx="7925574" cy="5546047"/>
          </a:xfrm>
          <a:prstGeom prst="rect">
            <a:avLst/>
          </a:prstGeom>
        </p:spPr>
        <p:txBody>
          <a:bodyPr vert="horz" lIns="91440" tIns="45720" rIns="91440" bIns="45720" rtlCol="0" anchor="ctr">
            <a:noAutofit/>
          </a:bodyPr>
          <a:lstStyle/>
          <a:p>
            <a:pPr algn="ctr">
              <a:spcBef>
                <a:spcPts val="600"/>
              </a:spcBef>
              <a:spcAft>
                <a:spcPts val="600"/>
              </a:spcAft>
            </a:pPr>
            <a:r>
              <a:rPr lang="es-AR" b="1" i="1" dirty="0">
                <a:latin typeface="Verdana" panose="020B0604030504040204" pitchFamily="34" charset="0"/>
                <a:ea typeface="Verdana" panose="020B0604030504040204" pitchFamily="34" charset="0"/>
              </a:rPr>
              <a:t>Algunos ejemplos de </a:t>
            </a:r>
            <a:r>
              <a:rPr lang="es-AR" b="1" i="1" dirty="0" err="1">
                <a:latin typeface="Verdana" panose="020B0604030504040204" pitchFamily="34" charset="0"/>
                <a:ea typeface="Verdana" panose="020B0604030504040204" pitchFamily="34" charset="0"/>
              </a:rPr>
              <a:t>RowKey</a:t>
            </a:r>
            <a:endParaRPr lang="es-AR" b="1" i="1" dirty="0">
              <a:latin typeface="Verdana" panose="020B0604030504040204" pitchFamily="34" charset="0"/>
              <a:ea typeface="Verdana" panose="020B0604030504040204" pitchFamily="34" charset="0"/>
            </a:endParaRPr>
          </a:p>
          <a:p>
            <a:pPr algn="just">
              <a:spcBef>
                <a:spcPts val="600"/>
              </a:spcBef>
              <a:spcAft>
                <a:spcPts val="600"/>
              </a:spcAft>
            </a:pPr>
            <a:r>
              <a:rPr lang="es-AR" dirty="0">
                <a:latin typeface="Verdana" panose="020B0604030504040204" pitchFamily="34" charset="0"/>
                <a:ea typeface="Verdana" panose="020B0604030504040204" pitchFamily="34" charset="0"/>
              </a:rPr>
              <a:t>Consideremos una fila con estos datos:</a:t>
            </a:r>
          </a:p>
          <a:p>
            <a:pPr lvl="1" algn="just">
              <a:spcBef>
                <a:spcPts val="600"/>
              </a:spcBef>
              <a:spcAft>
                <a:spcPts val="600"/>
              </a:spcAft>
            </a:pPr>
            <a:r>
              <a:rPr lang="es-AR" dirty="0">
                <a:latin typeface="Verdana" panose="020B0604030504040204" pitchFamily="34" charset="0"/>
                <a:ea typeface="Verdana" panose="020B0604030504040204" pitchFamily="34" charset="0"/>
              </a:rPr>
              <a:t>Fila: {Usuario, Mes, Nombre, </a:t>
            </a:r>
            <a:r>
              <a:rPr lang="es-AR" dirty="0" err="1">
                <a:latin typeface="Verdana" panose="020B0604030504040204" pitchFamily="34" charset="0"/>
                <a:ea typeface="Verdana" panose="020B0604030504040204" pitchFamily="34" charset="0"/>
              </a:rPr>
              <a:t>FechaNac</a:t>
            </a:r>
            <a:r>
              <a:rPr lang="es-AR" dirty="0">
                <a:latin typeface="Verdana" panose="020B0604030504040204" pitchFamily="34" charset="0"/>
                <a:ea typeface="Verdana" panose="020B0604030504040204" pitchFamily="34" charset="0"/>
              </a:rPr>
              <a:t>}</a:t>
            </a:r>
          </a:p>
          <a:p>
            <a:pPr algn="just">
              <a:spcBef>
                <a:spcPts val="1200"/>
              </a:spcBef>
              <a:spcAft>
                <a:spcPts val="1200"/>
              </a:spcAft>
            </a:pPr>
            <a:r>
              <a:rPr lang="es-AR" dirty="0">
                <a:latin typeface="Verdana" panose="020B0604030504040204" pitchFamily="34" charset="0"/>
                <a:ea typeface="Verdana" panose="020B0604030504040204" pitchFamily="34" charset="0"/>
              </a:rPr>
              <a:t>Este será el comportamiento para cada </a:t>
            </a:r>
            <a:r>
              <a:rPr lang="es-AR" sz="1600" b="1" i="1" dirty="0" err="1">
                <a:latin typeface="Verdana" panose="020B0604030504040204" pitchFamily="34" charset="0"/>
                <a:ea typeface="Verdana" panose="020B0604030504040204" pitchFamily="34" charset="0"/>
              </a:rPr>
              <a:t>SSTable</a:t>
            </a:r>
            <a:r>
              <a:rPr lang="es-AR" dirty="0">
                <a:latin typeface="Verdana" panose="020B0604030504040204" pitchFamily="34" charset="0"/>
                <a:ea typeface="Verdana" panose="020B0604030504040204" pitchFamily="34" charset="0"/>
              </a:rPr>
              <a:t> según la </a:t>
            </a:r>
            <a:r>
              <a:rPr lang="es-AR" dirty="0" err="1">
                <a:latin typeface="Verdana" panose="020B0604030504040204" pitchFamily="34" charset="0"/>
                <a:ea typeface="Verdana" panose="020B0604030504040204" pitchFamily="34" charset="0"/>
              </a:rPr>
              <a:t>primary</a:t>
            </a:r>
            <a:r>
              <a:rPr lang="es-AR" dirty="0">
                <a:latin typeface="Verdana" panose="020B0604030504040204" pitchFamily="34" charset="0"/>
                <a:ea typeface="Verdana" panose="020B0604030504040204" pitchFamily="34" charset="0"/>
              </a:rPr>
              <a:t> </a:t>
            </a:r>
            <a:r>
              <a:rPr lang="es-AR" dirty="0" err="1">
                <a:latin typeface="Verdana" panose="020B0604030504040204" pitchFamily="34" charset="0"/>
                <a:ea typeface="Verdana" panose="020B0604030504040204" pitchFamily="34" charset="0"/>
              </a:rPr>
              <a:t>key</a:t>
            </a:r>
            <a:r>
              <a:rPr lang="es-AR" dirty="0">
                <a:latin typeface="Verdana" panose="020B0604030504040204" pitchFamily="34" charset="0"/>
                <a:ea typeface="Verdana" panose="020B0604030504040204" pitchFamily="34" charset="0"/>
              </a:rPr>
              <a:t> elegida.</a:t>
            </a:r>
          </a:p>
          <a:p>
            <a:pPr marL="285750" indent="-285750" algn="just">
              <a:spcBef>
                <a:spcPts val="1200"/>
              </a:spcBef>
              <a:spcAft>
                <a:spcPts val="1200"/>
              </a:spcAft>
              <a:buFont typeface="Wingdings" panose="05000000000000000000" pitchFamily="2" charset="2"/>
              <a:buChar char="Ø"/>
            </a:pPr>
            <a:r>
              <a:rPr lang="es-AR" sz="1600" b="1" i="1" dirty="0" err="1">
                <a:latin typeface="Verdana" panose="020B0604030504040204" pitchFamily="34" charset="0"/>
                <a:ea typeface="Verdana" panose="020B0604030504040204" pitchFamily="34" charset="0"/>
              </a:rPr>
              <a:t>Primary</a:t>
            </a:r>
            <a:r>
              <a:rPr lang="es-AR" sz="1600" b="1" i="1" dirty="0">
                <a:latin typeface="Verdana" panose="020B0604030504040204" pitchFamily="34" charset="0"/>
                <a:ea typeface="Verdana" panose="020B0604030504040204" pitchFamily="34" charset="0"/>
              </a:rPr>
              <a:t> Key (usuario)</a:t>
            </a:r>
            <a:r>
              <a:rPr lang="es-AR" dirty="0">
                <a:latin typeface="Verdana" panose="020B0604030504040204" pitchFamily="34" charset="0"/>
                <a:ea typeface="Verdana" panose="020B0604030504040204" pitchFamily="34" charset="0"/>
              </a:rPr>
              <a:t>: Un solo usuario.</a:t>
            </a:r>
          </a:p>
          <a:p>
            <a:pPr marL="285750" indent="-285750" algn="just">
              <a:spcBef>
                <a:spcPts val="1200"/>
              </a:spcBef>
              <a:spcAft>
                <a:spcPts val="1200"/>
              </a:spcAft>
              <a:buFont typeface="Wingdings" panose="05000000000000000000" pitchFamily="2" charset="2"/>
              <a:buChar char="Ø"/>
            </a:pPr>
            <a:r>
              <a:rPr lang="es-AR" sz="1600" b="1" i="1" dirty="0" err="1">
                <a:latin typeface="Verdana" panose="020B0604030504040204" pitchFamily="34" charset="0"/>
                <a:ea typeface="Verdana" panose="020B0604030504040204" pitchFamily="34" charset="0"/>
              </a:rPr>
              <a:t>Primary</a:t>
            </a:r>
            <a:r>
              <a:rPr lang="es-AR" sz="1600" b="1" i="1" dirty="0">
                <a:latin typeface="Verdana" panose="020B0604030504040204" pitchFamily="34" charset="0"/>
                <a:ea typeface="Verdana" panose="020B0604030504040204" pitchFamily="34" charset="0"/>
              </a:rPr>
              <a:t> Key (mes, usuario)</a:t>
            </a:r>
            <a:r>
              <a:rPr lang="es-AR" dirty="0">
                <a:latin typeface="Verdana" panose="020B0604030504040204" pitchFamily="34" charset="0"/>
                <a:ea typeface="Verdana" panose="020B0604030504040204" pitchFamily="34" charset="0"/>
              </a:rPr>
              <a:t>: Todos los usuarios de un mes. </a:t>
            </a:r>
          </a:p>
          <a:p>
            <a:pPr marL="285750" indent="-285750" algn="just">
              <a:spcBef>
                <a:spcPts val="1200"/>
              </a:spcBef>
              <a:spcAft>
                <a:spcPts val="1200"/>
              </a:spcAft>
              <a:buFont typeface="Wingdings" panose="05000000000000000000" pitchFamily="2" charset="2"/>
              <a:buChar char="Ø"/>
            </a:pPr>
            <a:r>
              <a:rPr lang="es-AR" sz="1600" b="1" i="1" dirty="0" err="1">
                <a:latin typeface="Verdana" panose="020B0604030504040204" pitchFamily="34" charset="0"/>
                <a:ea typeface="Verdana" panose="020B0604030504040204" pitchFamily="34" charset="0"/>
              </a:rPr>
              <a:t>Primary</a:t>
            </a:r>
            <a:r>
              <a:rPr lang="es-AR" sz="1600" b="1" i="1" dirty="0">
                <a:latin typeface="Verdana" panose="020B0604030504040204" pitchFamily="34" charset="0"/>
                <a:ea typeface="Verdana" panose="020B0604030504040204" pitchFamily="34" charset="0"/>
              </a:rPr>
              <a:t> Key (usuario, mes)</a:t>
            </a:r>
            <a:r>
              <a:rPr lang="es-AR" dirty="0">
                <a:latin typeface="Verdana" panose="020B0604030504040204" pitchFamily="34" charset="0"/>
                <a:ea typeface="Verdana" panose="020B0604030504040204" pitchFamily="34" charset="0"/>
              </a:rPr>
              <a:t>: Todos los meses de un usuario.</a:t>
            </a:r>
          </a:p>
          <a:p>
            <a:pPr marL="285750" indent="-285750" algn="just">
              <a:spcBef>
                <a:spcPts val="1200"/>
              </a:spcBef>
              <a:spcAft>
                <a:spcPts val="1200"/>
              </a:spcAft>
              <a:buFont typeface="Wingdings" panose="05000000000000000000" pitchFamily="2" charset="2"/>
              <a:buChar char="Ø"/>
            </a:pPr>
            <a:r>
              <a:rPr lang="es-AR" sz="1600" b="1" i="1" dirty="0" err="1">
                <a:latin typeface="Verdana" panose="020B0604030504040204" pitchFamily="34" charset="0"/>
                <a:ea typeface="Verdana" panose="020B0604030504040204" pitchFamily="34" charset="0"/>
              </a:rPr>
              <a:t>Primary</a:t>
            </a:r>
            <a:r>
              <a:rPr lang="es-AR" sz="1600" b="1" i="1" dirty="0">
                <a:latin typeface="Verdana" panose="020B0604030504040204" pitchFamily="34" charset="0"/>
                <a:ea typeface="Verdana" panose="020B0604030504040204" pitchFamily="34" charset="0"/>
              </a:rPr>
              <a:t> Key ((mes, usuario), nombre)</a:t>
            </a:r>
            <a:r>
              <a:rPr lang="es-AR" dirty="0">
                <a:latin typeface="Verdana" panose="020B0604030504040204" pitchFamily="34" charset="0"/>
                <a:ea typeface="Verdana" panose="020B0604030504040204" pitchFamily="34" charset="0"/>
              </a:rPr>
              <a:t> : Para un mes y usuario determinado </a:t>
            </a:r>
          </a:p>
          <a:p>
            <a:pPr algn="ctr">
              <a:spcBef>
                <a:spcPts val="600"/>
              </a:spcBef>
              <a:spcAft>
                <a:spcPts val="600"/>
              </a:spcAft>
            </a:pPr>
            <a:r>
              <a:rPr lang="es-AR" sz="2000" b="1" i="1" dirty="0">
                <a:solidFill>
                  <a:srgbClr val="FF0000"/>
                </a:solidFill>
                <a:latin typeface="Verdana" panose="020B0604030504040204" pitchFamily="34" charset="0"/>
                <a:ea typeface="Verdana" panose="020B0604030504040204" pitchFamily="34" charset="0"/>
              </a:rPr>
              <a:t>La RK es única para cada fila</a:t>
            </a:r>
          </a:p>
        </p:txBody>
      </p:sp>
    </p:spTree>
    <p:extLst>
      <p:ext uri="{BB962C8B-B14F-4D97-AF65-F5344CB8AC3E}">
        <p14:creationId xmlns:p14="http://schemas.microsoft.com/office/powerpoint/2010/main" val="41043764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0" name="Rectangle 15">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7">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uadroTexto 7">
            <a:extLst>
              <a:ext uri="{FF2B5EF4-FFF2-40B4-BE49-F238E27FC236}">
                <a16:creationId xmlns:a16="http://schemas.microsoft.com/office/drawing/2014/main" id="{A825F34B-30C8-9D20-28F3-68AE4640F53D}"/>
              </a:ext>
            </a:extLst>
          </p:cNvPr>
          <p:cNvSpPr txBox="1"/>
          <p:nvPr/>
        </p:nvSpPr>
        <p:spPr>
          <a:xfrm>
            <a:off x="5377070" y="2295811"/>
            <a:ext cx="6402463" cy="1070320"/>
          </a:xfrm>
          <a:prstGeom prst="rect">
            <a:avLst/>
          </a:prstGeom>
        </p:spPr>
        <p:txBody>
          <a:bodyPr vert="horz" lIns="91440" tIns="45720" rIns="91440" bIns="45720" rtlCol="0">
            <a:normAutofit/>
          </a:bodyPr>
          <a:lstStyle/>
          <a:p>
            <a:pPr>
              <a:lnSpc>
                <a:spcPct val="90000"/>
              </a:lnSpc>
              <a:spcAft>
                <a:spcPts val="600"/>
              </a:spcAft>
            </a:pPr>
            <a:r>
              <a:rPr lang="es-AR" sz="2000">
                <a:latin typeface="Verdana" panose="020B0604030504040204" pitchFamily="34" charset="0"/>
                <a:ea typeface="Verdana" panose="020B0604030504040204" pitchFamily="34" charset="0"/>
              </a:rPr>
              <a:t>Las diferentes particiones (</a:t>
            </a:r>
            <a:r>
              <a:rPr lang="es-AR" sz="2000" b="1" i="1" dirty="0" err="1">
                <a:latin typeface="Verdana" panose="020B0604030504040204" pitchFamily="34" charset="0"/>
                <a:ea typeface="Verdana" panose="020B0604030504040204" pitchFamily="34" charset="0"/>
              </a:rPr>
              <a:t>SSTable</a:t>
            </a:r>
            <a:r>
              <a:rPr lang="es-AR" sz="2000" dirty="0">
                <a:latin typeface="Verdana" panose="020B0604030504040204" pitchFamily="34" charset="0"/>
                <a:ea typeface="Verdana" panose="020B0604030504040204" pitchFamily="34" charset="0"/>
              </a:rPr>
              <a:t>) de una familia de columnas pueden residir en nodos distintos.</a:t>
            </a:r>
          </a:p>
        </p:txBody>
      </p:sp>
      <p:pic>
        <p:nvPicPr>
          <p:cNvPr id="7" name="Imagen 6">
            <a:extLst>
              <a:ext uri="{FF2B5EF4-FFF2-40B4-BE49-F238E27FC236}">
                <a16:creationId xmlns:a16="http://schemas.microsoft.com/office/drawing/2014/main" id="{B714BE0E-509A-04A0-524A-E37B674E3437}"/>
              </a:ext>
            </a:extLst>
          </p:cNvPr>
          <p:cNvPicPr>
            <a:picLocks noChangeAspect="1"/>
          </p:cNvPicPr>
          <p:nvPr/>
        </p:nvPicPr>
        <p:blipFill>
          <a:blip r:embed="rId2"/>
          <a:stretch>
            <a:fillRect/>
          </a:stretch>
        </p:blipFill>
        <p:spPr>
          <a:xfrm>
            <a:off x="3290229" y="3749537"/>
            <a:ext cx="8489304" cy="2801469"/>
          </a:xfrm>
          <a:prstGeom prst="rect">
            <a:avLst/>
          </a:prstGeom>
        </p:spPr>
      </p:pic>
      <p:pic>
        <p:nvPicPr>
          <p:cNvPr id="5" name="Imagen 4">
            <a:extLst>
              <a:ext uri="{FF2B5EF4-FFF2-40B4-BE49-F238E27FC236}">
                <a16:creationId xmlns:a16="http://schemas.microsoft.com/office/drawing/2014/main" id="{0F74684E-96C3-78BF-E7E0-AA2E1A057305}"/>
              </a:ext>
            </a:extLst>
          </p:cNvPr>
          <p:cNvPicPr>
            <a:picLocks noChangeAspect="1"/>
          </p:cNvPicPr>
          <p:nvPr/>
        </p:nvPicPr>
        <p:blipFill>
          <a:blip r:embed="rId3"/>
          <a:stretch>
            <a:fillRect/>
          </a:stretch>
        </p:blipFill>
        <p:spPr>
          <a:xfrm>
            <a:off x="516833" y="1855254"/>
            <a:ext cx="4565251" cy="2430995"/>
          </a:xfrm>
          <a:prstGeom prst="rect">
            <a:avLst/>
          </a:prstGeom>
        </p:spPr>
      </p:pic>
      <p:sp>
        <p:nvSpPr>
          <p:cNvPr id="9" name="CuadroTexto 8">
            <a:extLst>
              <a:ext uri="{FF2B5EF4-FFF2-40B4-BE49-F238E27FC236}">
                <a16:creationId xmlns:a16="http://schemas.microsoft.com/office/drawing/2014/main" id="{AFF63B12-2F69-4028-AA5F-9B8BCD65ACA8}"/>
              </a:ext>
            </a:extLst>
          </p:cNvPr>
          <p:cNvSpPr txBox="1"/>
          <p:nvPr/>
        </p:nvSpPr>
        <p:spPr>
          <a:xfrm>
            <a:off x="14283" y="304801"/>
            <a:ext cx="12163432" cy="79057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s-AR" sz="3600" kern="1200" dirty="0">
                <a:solidFill>
                  <a:srgbClr val="FFFFFF"/>
                </a:solidFill>
                <a:latin typeface="Verdana" panose="020B0604030504040204" pitchFamily="34" charset="0"/>
                <a:ea typeface="Verdana" panose="020B0604030504040204" pitchFamily="34" charset="0"/>
                <a:cs typeface="+mj-cs"/>
              </a:rPr>
              <a:t>Algunos ejemplos</a:t>
            </a:r>
          </a:p>
        </p:txBody>
      </p:sp>
    </p:spTree>
    <p:extLst>
      <p:ext uri="{BB962C8B-B14F-4D97-AF65-F5344CB8AC3E}">
        <p14:creationId xmlns:p14="http://schemas.microsoft.com/office/powerpoint/2010/main" val="3877265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10" name="Rectangle 15">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7">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uadroTexto 7">
            <a:extLst>
              <a:ext uri="{FF2B5EF4-FFF2-40B4-BE49-F238E27FC236}">
                <a16:creationId xmlns:a16="http://schemas.microsoft.com/office/drawing/2014/main" id="{A825F34B-30C8-9D20-28F3-68AE4640F53D}"/>
              </a:ext>
            </a:extLst>
          </p:cNvPr>
          <p:cNvSpPr txBox="1"/>
          <p:nvPr/>
        </p:nvSpPr>
        <p:spPr>
          <a:xfrm>
            <a:off x="5363110" y="2603812"/>
            <a:ext cx="6402463" cy="745936"/>
          </a:xfrm>
          <a:prstGeom prst="rect">
            <a:avLst/>
          </a:prstGeom>
        </p:spPr>
        <p:txBody>
          <a:bodyPr vert="horz" lIns="91440" tIns="45720" rIns="91440" bIns="45720" rtlCol="0">
            <a:normAutofit/>
          </a:bodyPr>
          <a:lstStyle/>
          <a:p>
            <a:pPr>
              <a:lnSpc>
                <a:spcPct val="90000"/>
              </a:lnSpc>
              <a:spcAft>
                <a:spcPts val="600"/>
              </a:spcAft>
            </a:pPr>
            <a:r>
              <a:rPr lang="es-AR" sz="2000" dirty="0">
                <a:latin typeface="Verdana" panose="020B0604030504040204" pitchFamily="34" charset="0"/>
                <a:ea typeface="Verdana" panose="020B0604030504040204" pitchFamily="34" charset="0"/>
              </a:rPr>
              <a:t>Ya que </a:t>
            </a:r>
            <a:r>
              <a:rPr lang="es-AR" sz="2000" dirty="0" err="1">
                <a:latin typeface="Verdana" panose="020B0604030504040204" pitchFamily="34" charset="0"/>
                <a:ea typeface="Verdana" panose="020B0604030504040204" pitchFamily="34" charset="0"/>
              </a:rPr>
              <a:t>idusuario</a:t>
            </a:r>
            <a:r>
              <a:rPr lang="es-AR" sz="2000" dirty="0">
                <a:latin typeface="Verdana" panose="020B0604030504040204" pitchFamily="34" charset="0"/>
                <a:ea typeface="Verdana" panose="020B0604030504040204" pitchFamily="34" charset="0"/>
              </a:rPr>
              <a:t> es único (RK) solo hay una fila por usuario en cada </a:t>
            </a:r>
            <a:r>
              <a:rPr lang="es-AR" sz="2000" dirty="0" err="1">
                <a:latin typeface="Verdana" panose="020B0604030504040204" pitchFamily="34" charset="0"/>
                <a:ea typeface="Verdana" panose="020B0604030504040204" pitchFamily="34" charset="0"/>
              </a:rPr>
              <a:t>SSTable</a:t>
            </a:r>
            <a:endParaRPr lang="es-AR" sz="2000" dirty="0">
              <a:latin typeface="Verdana" panose="020B0604030504040204" pitchFamily="34" charset="0"/>
              <a:ea typeface="Verdana" panose="020B0604030504040204" pitchFamily="34" charset="0"/>
            </a:endParaRPr>
          </a:p>
        </p:txBody>
      </p:sp>
      <p:sp>
        <p:nvSpPr>
          <p:cNvPr id="9" name="CuadroTexto 8">
            <a:extLst>
              <a:ext uri="{FF2B5EF4-FFF2-40B4-BE49-F238E27FC236}">
                <a16:creationId xmlns:a16="http://schemas.microsoft.com/office/drawing/2014/main" id="{AFF63B12-2F69-4028-AA5F-9B8BCD65ACA8}"/>
              </a:ext>
            </a:extLst>
          </p:cNvPr>
          <p:cNvSpPr txBox="1"/>
          <p:nvPr/>
        </p:nvSpPr>
        <p:spPr>
          <a:xfrm>
            <a:off x="14283" y="304801"/>
            <a:ext cx="12163432" cy="79057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s-AR" sz="3600" kern="1200" dirty="0">
                <a:solidFill>
                  <a:srgbClr val="FFFFFF"/>
                </a:solidFill>
                <a:latin typeface="Verdana" panose="020B0604030504040204" pitchFamily="34" charset="0"/>
                <a:ea typeface="Verdana" panose="020B0604030504040204" pitchFamily="34" charset="0"/>
                <a:cs typeface="+mj-cs"/>
              </a:rPr>
              <a:t>Algunos ejemplos</a:t>
            </a:r>
          </a:p>
        </p:txBody>
      </p:sp>
      <p:pic>
        <p:nvPicPr>
          <p:cNvPr id="14" name="Imagen 13">
            <a:extLst>
              <a:ext uri="{FF2B5EF4-FFF2-40B4-BE49-F238E27FC236}">
                <a16:creationId xmlns:a16="http://schemas.microsoft.com/office/drawing/2014/main" id="{67D0B86E-578C-3DF7-0883-AF1969203B3D}"/>
              </a:ext>
            </a:extLst>
          </p:cNvPr>
          <p:cNvPicPr>
            <a:picLocks noChangeAspect="1"/>
          </p:cNvPicPr>
          <p:nvPr/>
        </p:nvPicPr>
        <p:blipFill>
          <a:blip r:embed="rId2"/>
          <a:stretch>
            <a:fillRect/>
          </a:stretch>
        </p:blipFill>
        <p:spPr>
          <a:xfrm>
            <a:off x="3827639" y="4331259"/>
            <a:ext cx="8118980" cy="2267313"/>
          </a:xfrm>
          <a:prstGeom prst="rect">
            <a:avLst/>
          </a:prstGeom>
        </p:spPr>
      </p:pic>
      <p:pic>
        <p:nvPicPr>
          <p:cNvPr id="3" name="Imagen 2">
            <a:extLst>
              <a:ext uri="{FF2B5EF4-FFF2-40B4-BE49-F238E27FC236}">
                <a16:creationId xmlns:a16="http://schemas.microsoft.com/office/drawing/2014/main" id="{43A2B7A3-12E2-938C-3F9D-D3AA49CEB61A}"/>
              </a:ext>
            </a:extLst>
          </p:cNvPr>
          <p:cNvPicPr>
            <a:picLocks noChangeAspect="1"/>
          </p:cNvPicPr>
          <p:nvPr/>
        </p:nvPicPr>
        <p:blipFill>
          <a:blip r:embed="rId3"/>
          <a:stretch>
            <a:fillRect/>
          </a:stretch>
        </p:blipFill>
        <p:spPr>
          <a:xfrm>
            <a:off x="477079" y="2003594"/>
            <a:ext cx="4552121" cy="2469083"/>
          </a:xfrm>
          <a:prstGeom prst="rect">
            <a:avLst/>
          </a:prstGeom>
        </p:spPr>
      </p:pic>
    </p:spTree>
    <p:extLst>
      <p:ext uri="{BB962C8B-B14F-4D97-AF65-F5344CB8AC3E}">
        <p14:creationId xmlns:p14="http://schemas.microsoft.com/office/powerpoint/2010/main" val="37773610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Rectangle 3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FF63B12-2F69-4028-AA5F-9B8BCD65ACA8}"/>
              </a:ext>
            </a:extLst>
          </p:cNvPr>
          <p:cNvSpPr txBox="1"/>
          <p:nvPr/>
        </p:nvSpPr>
        <p:spPr>
          <a:xfrm>
            <a:off x="466722" y="586855"/>
            <a:ext cx="3201366" cy="3387497"/>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4000" kern="1200">
                <a:solidFill>
                  <a:srgbClr val="FFFFFF"/>
                </a:solidFill>
                <a:latin typeface="+mj-lt"/>
                <a:ea typeface="+mj-ea"/>
                <a:cs typeface="+mj-cs"/>
              </a:rPr>
              <a:t>Tipos de Datos</a:t>
            </a:r>
          </a:p>
        </p:txBody>
      </p:sp>
      <p:sp>
        <p:nvSpPr>
          <p:cNvPr id="2" name="Rectángulo 1">
            <a:extLst>
              <a:ext uri="{FF2B5EF4-FFF2-40B4-BE49-F238E27FC236}">
                <a16:creationId xmlns:a16="http://schemas.microsoft.com/office/drawing/2014/main" id="{10C84744-0D6D-C608-DAEC-A8F822AF8FCC}"/>
              </a:ext>
            </a:extLst>
          </p:cNvPr>
          <p:cNvSpPr/>
          <p:nvPr/>
        </p:nvSpPr>
        <p:spPr>
          <a:xfrm>
            <a:off x="4037826" y="649480"/>
            <a:ext cx="7942680" cy="5546047"/>
          </a:xfrm>
          <a:prstGeom prst="rect">
            <a:avLst/>
          </a:prstGeom>
        </p:spPr>
        <p:txBody>
          <a:bodyPr vert="horz" lIns="91440" tIns="45720" rIns="91440" bIns="45720" rtlCol="0" anchor="ctr">
            <a:normAutofit/>
          </a:bodyPr>
          <a:lstStyle/>
          <a:p>
            <a:pPr marL="285750" indent="-285750">
              <a:lnSpc>
                <a:spcPct val="90000"/>
              </a:lnSpc>
              <a:spcAft>
                <a:spcPts val="600"/>
              </a:spcAft>
              <a:buFont typeface="Wingdings" panose="05000000000000000000" pitchFamily="2" charset="2"/>
              <a:buChar char="Ø"/>
            </a:pPr>
            <a:r>
              <a:rPr lang="es-AR" b="1" dirty="0">
                <a:solidFill>
                  <a:srgbClr val="0070C0"/>
                </a:solidFill>
                <a:latin typeface="Verdana" panose="020B0604030504040204" pitchFamily="34" charset="0"/>
                <a:ea typeface="Verdana" panose="020B0604030504040204" pitchFamily="34" charset="0"/>
              </a:rPr>
              <a:t>Numéricos:</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Int</a:t>
            </a:r>
            <a:r>
              <a:rPr lang="es-AR" b="1" i="1" dirty="0">
                <a:latin typeface="Verdana" panose="020B0604030504040204" pitchFamily="34" charset="0"/>
                <a:ea typeface="Verdana" panose="020B0604030504040204" pitchFamily="34" charset="0"/>
              </a:rPr>
              <a:t>:</a:t>
            </a:r>
            <a:r>
              <a:rPr lang="es-AR" sz="2000" dirty="0">
                <a:latin typeface="Verdana" panose="020B0604030504040204" pitchFamily="34" charset="0"/>
                <a:ea typeface="Verdana" panose="020B0604030504040204" pitchFamily="34" charset="0"/>
              </a:rPr>
              <a:t> enteros de hasta 32 bits.</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Bigint</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enteros de hasta 64 bits.</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Smallint</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enteros de hasta 2 bytes</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Tinyint</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enteros de hasta 1 byte</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Varint</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enteros de precisión arbitraria.</a:t>
            </a:r>
          </a:p>
          <a:p>
            <a:pPr marL="914400" lvl="1" indent="-342900">
              <a:lnSpc>
                <a:spcPct val="90000"/>
              </a:lnSpc>
              <a:spcAft>
                <a:spcPts val="600"/>
              </a:spcAft>
              <a:buFont typeface="Wingdings" panose="05000000000000000000" pitchFamily="2" charset="2"/>
              <a:buChar char="ü"/>
            </a:pPr>
            <a:r>
              <a:rPr lang="es-AR" b="1" i="1" dirty="0">
                <a:latin typeface="Verdana" panose="020B0604030504040204" pitchFamily="34" charset="0"/>
                <a:ea typeface="Verdana" panose="020B0604030504040204" pitchFamily="34" charset="0"/>
              </a:rPr>
              <a:t>Decimal: </a:t>
            </a:r>
            <a:r>
              <a:rPr lang="es-AR" sz="2000" dirty="0">
                <a:latin typeface="Verdana" panose="020B0604030504040204" pitchFamily="34" charset="0"/>
                <a:ea typeface="Verdana" panose="020B0604030504040204" pitchFamily="34" charset="0"/>
              </a:rPr>
              <a:t>decimales de precisión variable.</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Float</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coma-flotante de 32 bits</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Double</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coma-flotante de 64 bits.</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Counter</a:t>
            </a:r>
            <a:r>
              <a:rPr lang="es-AR" b="1" i="1" dirty="0">
                <a:latin typeface="Verdana" panose="020B0604030504040204" pitchFamily="34" charset="0"/>
                <a:ea typeface="Verdana" panose="020B0604030504040204" pitchFamily="34" charset="0"/>
              </a:rPr>
              <a:t>: </a:t>
            </a:r>
            <a:r>
              <a:rPr lang="es-AR" sz="2000" dirty="0">
                <a:latin typeface="Verdana" panose="020B0604030504040204" pitchFamily="34" charset="0"/>
                <a:ea typeface="Verdana" panose="020B0604030504040204" pitchFamily="34" charset="0"/>
              </a:rPr>
              <a:t>contador de enteros de hasta 64 bits.</a:t>
            </a:r>
          </a:p>
          <a:p>
            <a:pPr marL="285750" indent="-285750">
              <a:lnSpc>
                <a:spcPct val="90000"/>
              </a:lnSpc>
              <a:spcAft>
                <a:spcPts val="600"/>
              </a:spcAft>
              <a:buFont typeface="Wingdings" panose="05000000000000000000" pitchFamily="2" charset="2"/>
              <a:buChar char="Ø"/>
            </a:pPr>
            <a:r>
              <a:rPr lang="es-AR" b="1" dirty="0">
                <a:solidFill>
                  <a:srgbClr val="0070C0"/>
                </a:solidFill>
                <a:latin typeface="Verdana" panose="020B0604030504040204" pitchFamily="34" charset="0"/>
                <a:ea typeface="Verdana" panose="020B0604030504040204" pitchFamily="34" charset="0"/>
              </a:rPr>
              <a:t>Texto: </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Ascii</a:t>
            </a:r>
            <a:r>
              <a:rPr lang="es-AR" b="1" i="1" dirty="0">
                <a:latin typeface="Verdana" panose="020B0604030504040204" pitchFamily="34" charset="0"/>
                <a:ea typeface="Verdana" panose="020B0604030504040204" pitchFamily="34" charset="0"/>
              </a:rPr>
              <a:t>: </a:t>
            </a:r>
            <a:r>
              <a:rPr lang="es-AR" sz="2000" dirty="0" err="1">
                <a:latin typeface="Verdana" panose="020B0604030504040204" pitchFamily="34" charset="0"/>
                <a:ea typeface="Verdana" panose="020B0604030504040204" pitchFamily="34" charset="0"/>
              </a:rPr>
              <a:t>strings</a:t>
            </a:r>
            <a:r>
              <a:rPr lang="es-AR" sz="2000" dirty="0">
                <a:latin typeface="Verdana" panose="020B0604030504040204" pitchFamily="34" charset="0"/>
                <a:ea typeface="Verdana" panose="020B0604030504040204" pitchFamily="34" charset="0"/>
              </a:rPr>
              <a:t> US-ASCII </a:t>
            </a:r>
          </a:p>
          <a:p>
            <a:pPr marL="914400" lvl="1" indent="-342900">
              <a:lnSpc>
                <a:spcPct val="90000"/>
              </a:lnSpc>
              <a:spcAft>
                <a:spcPts val="600"/>
              </a:spcAft>
              <a:buFont typeface="Wingdings" panose="05000000000000000000" pitchFamily="2" charset="2"/>
              <a:buChar char="ü"/>
            </a:pPr>
            <a:r>
              <a:rPr lang="es-AR" b="1" i="1" dirty="0">
                <a:latin typeface="Verdana" panose="020B0604030504040204" pitchFamily="34" charset="0"/>
                <a:ea typeface="Verdana" panose="020B0604030504040204" pitchFamily="34" charset="0"/>
              </a:rPr>
              <a:t>Text: </a:t>
            </a:r>
            <a:r>
              <a:rPr lang="es-AR" sz="2000" dirty="0" err="1">
                <a:latin typeface="Verdana" panose="020B0604030504040204" pitchFamily="34" charset="0"/>
                <a:ea typeface="Verdana" panose="020B0604030504040204" pitchFamily="34" charset="0"/>
              </a:rPr>
              <a:t>strings</a:t>
            </a:r>
            <a:r>
              <a:rPr lang="es-AR" sz="2000" dirty="0">
                <a:latin typeface="Verdana" panose="020B0604030504040204" pitchFamily="34" charset="0"/>
                <a:ea typeface="Verdana" panose="020B0604030504040204" pitchFamily="34" charset="0"/>
              </a:rPr>
              <a:t> UTF-8</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Varchar</a:t>
            </a:r>
            <a:r>
              <a:rPr lang="es-AR" b="1" i="1" dirty="0">
                <a:latin typeface="Verdana" panose="020B0604030504040204" pitchFamily="34" charset="0"/>
                <a:ea typeface="Verdana" panose="020B0604030504040204" pitchFamily="34" charset="0"/>
              </a:rPr>
              <a:t>: </a:t>
            </a:r>
            <a:r>
              <a:rPr lang="es-AR" sz="2000" dirty="0" err="1">
                <a:latin typeface="Verdana" panose="020B0604030504040204" pitchFamily="34" charset="0"/>
                <a:ea typeface="Verdana" panose="020B0604030504040204" pitchFamily="34" charset="0"/>
              </a:rPr>
              <a:t>strings</a:t>
            </a:r>
            <a:r>
              <a:rPr lang="es-AR" sz="2000" dirty="0">
                <a:latin typeface="Verdana" panose="020B0604030504040204" pitchFamily="34" charset="0"/>
                <a:ea typeface="Verdana" panose="020B0604030504040204" pitchFamily="34" charset="0"/>
              </a:rPr>
              <a:t> UTF-8 de longitud variable</a:t>
            </a:r>
          </a:p>
          <a:p>
            <a:pPr marL="914400" lvl="1" indent="-342900">
              <a:lnSpc>
                <a:spcPct val="90000"/>
              </a:lnSpc>
              <a:spcAft>
                <a:spcPts val="600"/>
              </a:spcAft>
              <a:buFont typeface="Wingdings" panose="05000000000000000000" pitchFamily="2" charset="2"/>
              <a:buChar char="ü"/>
            </a:pPr>
            <a:r>
              <a:rPr lang="es-AR" b="1" i="1" dirty="0" err="1">
                <a:latin typeface="Verdana" panose="020B0604030504040204" pitchFamily="34" charset="0"/>
                <a:ea typeface="Verdana" panose="020B0604030504040204" pitchFamily="34" charset="0"/>
              </a:rPr>
              <a:t>Inet</a:t>
            </a:r>
            <a:r>
              <a:rPr lang="es-AR" b="1" i="1" dirty="0">
                <a:latin typeface="Verdana" panose="020B0604030504040204" pitchFamily="34" charset="0"/>
                <a:ea typeface="Verdana" panose="020B0604030504040204" pitchFamily="34" charset="0"/>
              </a:rPr>
              <a:t>: </a:t>
            </a:r>
            <a:r>
              <a:rPr lang="es-AR" sz="2000" dirty="0" err="1">
                <a:latin typeface="Verdana" panose="020B0604030504040204" pitchFamily="34" charset="0"/>
                <a:ea typeface="Verdana" panose="020B0604030504040204" pitchFamily="34" charset="0"/>
              </a:rPr>
              <a:t>strings</a:t>
            </a:r>
            <a:r>
              <a:rPr lang="es-AR" sz="2000" dirty="0">
                <a:latin typeface="Verdana" panose="020B0604030504040204" pitchFamily="34" charset="0"/>
                <a:ea typeface="Verdana" panose="020B0604030504040204" pitchFamily="34" charset="0"/>
              </a:rPr>
              <a:t> que almacenan direcciones IPv4 o IPv6</a:t>
            </a:r>
          </a:p>
        </p:txBody>
      </p:sp>
    </p:spTree>
    <p:extLst>
      <p:ext uri="{BB962C8B-B14F-4D97-AF65-F5344CB8AC3E}">
        <p14:creationId xmlns:p14="http://schemas.microsoft.com/office/powerpoint/2010/main" val="4634743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57775" y="1067888"/>
            <a:ext cx="9859328" cy="5532120"/>
          </a:xfrm>
          <a:prstGeom prst="rect">
            <a:avLst/>
          </a:prstGeom>
        </p:spPr>
      </p:pic>
      <p:sp>
        <p:nvSpPr>
          <p:cNvPr id="3" name="CuadroTexto 2"/>
          <p:cNvSpPr txBox="1"/>
          <p:nvPr/>
        </p:nvSpPr>
        <p:spPr>
          <a:xfrm>
            <a:off x="0" y="104504"/>
            <a:ext cx="12192000" cy="461665"/>
          </a:xfrm>
          <a:prstGeom prst="rect">
            <a:avLst/>
          </a:prstGeom>
          <a:noFill/>
        </p:spPr>
        <p:txBody>
          <a:bodyPr wrap="square" rtlCol="0">
            <a:spAutoFit/>
          </a:bodyPr>
          <a:lstStyle/>
          <a:p>
            <a:pPr algn="ctr"/>
            <a:r>
              <a:rPr lang="es-AR" sz="2400" dirty="0">
                <a:solidFill>
                  <a:schemeClr val="accent1">
                    <a:lumMod val="50000"/>
                  </a:schemeClr>
                </a:solidFill>
                <a:latin typeface="Verdana" panose="020B0604030504040204" pitchFamily="34" charset="0"/>
                <a:ea typeface="Verdana" panose="020B0604030504040204" pitchFamily="34" charset="0"/>
                <a:cs typeface="Verdana" panose="020B0604030504040204" pitchFamily="34" charset="0"/>
              </a:rPr>
              <a:t>Consultas</a:t>
            </a:r>
            <a:endParaRPr lang="es-AR" sz="2400" dirty="0"/>
          </a:p>
        </p:txBody>
      </p:sp>
    </p:spTree>
    <p:extLst>
      <p:ext uri="{BB962C8B-B14F-4D97-AF65-F5344CB8AC3E}">
        <p14:creationId xmlns:p14="http://schemas.microsoft.com/office/powerpoint/2010/main" val="2107185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630691" y="606470"/>
            <a:ext cx="6328745" cy="2842124"/>
          </a:xfrm>
          <a:prstGeom prst="rect">
            <a:avLst/>
          </a:prstGeom>
        </p:spPr>
      </p:pic>
      <p:sp>
        <p:nvSpPr>
          <p:cNvPr id="3" name="CuadroTexto 2"/>
          <p:cNvSpPr txBox="1"/>
          <p:nvPr/>
        </p:nvSpPr>
        <p:spPr>
          <a:xfrm>
            <a:off x="630691" y="3490037"/>
            <a:ext cx="10524990" cy="707886"/>
          </a:xfrm>
          <a:prstGeom prst="rect">
            <a:avLst/>
          </a:prstGeom>
          <a:noFill/>
        </p:spPr>
        <p:txBody>
          <a:bodyPr wrap="square" rtlCol="0">
            <a:spAutoFit/>
          </a:bodyPr>
          <a:lstStyle/>
          <a:p>
            <a:pPr algn="ctr"/>
            <a:r>
              <a:rPr lang="es-MX" sz="2000" dirty="0">
                <a:latin typeface="Verdana" panose="020B0604030504040204" pitchFamily="34" charset="0"/>
                <a:ea typeface="Verdana" panose="020B0604030504040204" pitchFamily="34" charset="0"/>
                <a:cs typeface="Verdana" panose="020B0604030504040204" pitchFamily="34" charset="0"/>
              </a:rPr>
              <a:t>La siguiente consulta devolvería un error, ya que no se han incluido en el WHERE todas las columnas de la </a:t>
            </a:r>
            <a:r>
              <a:rPr lang="es-MX" sz="2000" dirty="0" err="1">
                <a:latin typeface="Verdana" panose="020B0604030504040204" pitchFamily="34" charset="0"/>
                <a:ea typeface="Verdana" panose="020B0604030504040204" pitchFamily="34" charset="0"/>
                <a:cs typeface="Verdana" panose="020B0604030504040204" pitchFamily="34" charset="0"/>
              </a:rPr>
              <a:t>partition_key</a:t>
            </a:r>
            <a:r>
              <a:rPr lang="es-MX" sz="2000" dirty="0">
                <a:latin typeface="Verdana" panose="020B0604030504040204" pitchFamily="34" charset="0"/>
                <a:ea typeface="Verdana" panose="020B0604030504040204" pitchFamily="34" charset="0"/>
                <a:cs typeface="Verdana" panose="020B0604030504040204" pitchFamily="34" charset="0"/>
              </a:rPr>
              <a:t>:</a:t>
            </a:r>
            <a:endParaRPr lang="es-AR" sz="2000" dirty="0">
              <a:latin typeface="Verdana" panose="020B0604030504040204" pitchFamily="34" charset="0"/>
              <a:ea typeface="Verdana" panose="020B0604030504040204" pitchFamily="34" charset="0"/>
              <a:cs typeface="Verdana" panose="020B0604030504040204" pitchFamily="34" charset="0"/>
            </a:endParaRPr>
          </a:p>
        </p:txBody>
      </p:sp>
      <p:sp>
        <p:nvSpPr>
          <p:cNvPr id="5" name="Rectángulo 4"/>
          <p:cNvSpPr/>
          <p:nvPr/>
        </p:nvSpPr>
        <p:spPr>
          <a:xfrm>
            <a:off x="330246" y="4197923"/>
            <a:ext cx="10825435" cy="461665"/>
          </a:xfrm>
          <a:prstGeom prst="rect">
            <a:avLst/>
          </a:prstGeom>
        </p:spPr>
        <p:txBody>
          <a:bodyPr wrap="square">
            <a:spAutoFit/>
          </a:bodyPr>
          <a:lstStyle/>
          <a:p>
            <a:pPr algn="ctr"/>
            <a:r>
              <a:rPr lang="es-AR" sz="2400" b="1" dirty="0">
                <a:latin typeface="Consolas" panose="020B0609020204030204" pitchFamily="49" charset="0"/>
              </a:rPr>
              <a:t>SELECT </a:t>
            </a:r>
            <a:r>
              <a:rPr lang="es-AR" sz="2400" b="1" dirty="0" err="1">
                <a:latin typeface="Consolas" panose="020B0609020204030204" pitchFamily="49" charset="0"/>
              </a:rPr>
              <a:t>idusuario</a:t>
            </a:r>
            <a:r>
              <a:rPr lang="es-AR" sz="2400" b="1" dirty="0">
                <a:latin typeface="Consolas" panose="020B0609020204030204" pitchFamily="49" charset="0"/>
              </a:rPr>
              <a:t> FROM usuarios WHERE mes=9</a:t>
            </a:r>
          </a:p>
        </p:txBody>
      </p:sp>
      <p:sp>
        <p:nvSpPr>
          <p:cNvPr id="6" name="Rectángulo 5"/>
          <p:cNvSpPr/>
          <p:nvPr/>
        </p:nvSpPr>
        <p:spPr>
          <a:xfrm>
            <a:off x="630692" y="4796216"/>
            <a:ext cx="10524990" cy="707886"/>
          </a:xfrm>
          <a:prstGeom prst="rect">
            <a:avLst/>
          </a:prstGeom>
        </p:spPr>
        <p:txBody>
          <a:bodyPr wrap="square">
            <a:spAutoFit/>
          </a:bodyPr>
          <a:lstStyle/>
          <a:p>
            <a:pPr algn="ctr"/>
            <a:r>
              <a:rPr lang="es-MX" sz="2000" dirty="0">
                <a:latin typeface="Verdana" panose="020B0604030504040204" pitchFamily="34" charset="0"/>
                <a:ea typeface="Verdana" panose="020B0604030504040204" pitchFamily="34" charset="0"/>
                <a:cs typeface="Verdana" panose="020B0604030504040204" pitchFamily="34" charset="0"/>
              </a:rPr>
              <a:t>La siguiente consulta sería correcta, ya que incluye todos los campos de la </a:t>
            </a:r>
            <a:r>
              <a:rPr lang="es-MX" sz="2000" dirty="0" err="1">
                <a:latin typeface="Verdana" panose="020B0604030504040204" pitchFamily="34" charset="0"/>
                <a:ea typeface="Verdana" panose="020B0604030504040204" pitchFamily="34" charset="0"/>
                <a:cs typeface="Verdana" panose="020B0604030504040204" pitchFamily="34" charset="0"/>
              </a:rPr>
              <a:t>partition_key</a:t>
            </a:r>
            <a:r>
              <a:rPr lang="es-MX" sz="2000" dirty="0">
                <a:latin typeface="Verdana" panose="020B0604030504040204" pitchFamily="34" charset="0"/>
                <a:ea typeface="Verdana" panose="020B0604030504040204" pitchFamily="34" charset="0"/>
                <a:cs typeface="Verdana" panose="020B0604030504040204" pitchFamily="34" charset="0"/>
              </a:rPr>
              <a:t> en el WHERE:</a:t>
            </a:r>
            <a:endParaRPr lang="es-AR"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Rectángulo 6"/>
          <p:cNvSpPr/>
          <p:nvPr/>
        </p:nvSpPr>
        <p:spPr>
          <a:xfrm>
            <a:off x="630691" y="5640730"/>
            <a:ext cx="10524990" cy="830997"/>
          </a:xfrm>
          <a:prstGeom prst="rect">
            <a:avLst/>
          </a:prstGeom>
        </p:spPr>
        <p:txBody>
          <a:bodyPr wrap="square">
            <a:spAutoFit/>
          </a:bodyPr>
          <a:lstStyle/>
          <a:p>
            <a:r>
              <a:rPr lang="en-US" sz="2400" b="1" dirty="0">
                <a:latin typeface="Consolas" panose="020B0609020204030204" pitchFamily="49" charset="0"/>
              </a:rPr>
              <a:t>SELECT </a:t>
            </a:r>
            <a:r>
              <a:rPr lang="en-US" sz="2400" b="1" dirty="0" err="1">
                <a:latin typeface="Consolas" panose="020B0609020204030204" pitchFamily="49" charset="0"/>
              </a:rPr>
              <a:t>idusuario</a:t>
            </a:r>
            <a:r>
              <a:rPr lang="en-US" sz="2400" b="1" dirty="0">
                <a:latin typeface="Consolas" panose="020B0609020204030204" pitchFamily="49" charset="0"/>
              </a:rPr>
              <a:t> FROM </a:t>
            </a:r>
            <a:r>
              <a:rPr lang="en-US" sz="2400" b="1" dirty="0" err="1">
                <a:latin typeface="Consolas" panose="020B0609020204030204" pitchFamily="49" charset="0"/>
              </a:rPr>
              <a:t>usuarios</a:t>
            </a:r>
            <a:r>
              <a:rPr lang="en-US" sz="2400" b="1" dirty="0">
                <a:latin typeface="Consolas" panose="020B0609020204030204" pitchFamily="49" charset="0"/>
              </a:rPr>
              <a:t> WHERE </a:t>
            </a:r>
            <a:r>
              <a:rPr lang="en-US" sz="2400" b="1" dirty="0" err="1">
                <a:latin typeface="Consolas" panose="020B0609020204030204" pitchFamily="49" charset="0"/>
              </a:rPr>
              <a:t>mes</a:t>
            </a:r>
            <a:r>
              <a:rPr lang="en-US" sz="2400" b="1" dirty="0">
                <a:latin typeface="Consolas" panose="020B0609020204030204" pitchFamily="49" charset="0"/>
              </a:rPr>
              <a:t>=9 </a:t>
            </a:r>
          </a:p>
          <a:p>
            <a:r>
              <a:rPr lang="en-US" sz="2400" b="1" dirty="0">
                <a:latin typeface="Consolas" panose="020B0609020204030204" pitchFamily="49" charset="0"/>
              </a:rPr>
              <a:t>                               AND   </a:t>
            </a:r>
            <a:r>
              <a:rPr lang="en-US" sz="2400" b="1" dirty="0" err="1">
                <a:latin typeface="Consolas" panose="020B0609020204030204" pitchFamily="49" charset="0"/>
              </a:rPr>
              <a:t>idusuario</a:t>
            </a:r>
            <a:r>
              <a:rPr lang="en-US" sz="2400" b="1" dirty="0">
                <a:latin typeface="Consolas" panose="020B0609020204030204" pitchFamily="49" charset="0"/>
              </a:rPr>
              <a:t>=‘agp88’</a:t>
            </a:r>
            <a:endParaRPr lang="es-AR" sz="2400" b="1" dirty="0">
              <a:latin typeface="Consolas" panose="020B0609020204030204" pitchFamily="49" charset="0"/>
            </a:endParaRPr>
          </a:p>
        </p:txBody>
      </p:sp>
    </p:spTree>
    <p:extLst>
      <p:ext uri="{BB962C8B-B14F-4D97-AF65-F5344CB8AC3E}">
        <p14:creationId xmlns:p14="http://schemas.microsoft.com/office/powerpoint/2010/main" val="936374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descr="Imagen que contiene dibujo&#10;&#10;Descripción generada automáticamente">
            <a:extLst>
              <a:ext uri="{FF2B5EF4-FFF2-40B4-BE49-F238E27FC236}">
                <a16:creationId xmlns:a16="http://schemas.microsoft.com/office/drawing/2014/main" id="{C5B66338-CBD2-82A1-A31C-7351DF22584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225" r="1" b="1"/>
          <a:stretch/>
        </p:blipFill>
        <p:spPr>
          <a:xfrm>
            <a:off x="196850" y="173518"/>
            <a:ext cx="11798300" cy="6512763"/>
          </a:xfrm>
          <a:prstGeom prst="rect">
            <a:avLst/>
          </a:prstGeom>
        </p:spPr>
      </p:pic>
    </p:spTree>
    <p:extLst>
      <p:ext uri="{BB962C8B-B14F-4D97-AF65-F5344CB8AC3E}">
        <p14:creationId xmlns:p14="http://schemas.microsoft.com/office/powerpoint/2010/main" val="24351216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63BEE4324150E468E9D56AC1A069CC0" ma:contentTypeVersion="10" ma:contentTypeDescription="Crear nuevo documento." ma:contentTypeScope="" ma:versionID="d38e76179bb4e1368abf06f532a8bd3a">
  <xsd:schema xmlns:xsd="http://www.w3.org/2001/XMLSchema" xmlns:xs="http://www.w3.org/2001/XMLSchema" xmlns:p="http://schemas.microsoft.com/office/2006/metadata/properties" xmlns:ns2="88a81109-a086-44ae-a9ae-b48b478270f0" xmlns:ns3="36ae782e-a2ad-455b-8012-e967b2ff0266" targetNamespace="http://schemas.microsoft.com/office/2006/metadata/properties" ma:root="true" ma:fieldsID="64cf5d609c72c32b085a3a1fb04f870b" ns2:_="" ns3:_="">
    <xsd:import namespace="88a81109-a086-44ae-a9ae-b48b478270f0"/>
    <xsd:import namespace="36ae782e-a2ad-455b-8012-e967b2ff02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81109-a086-44ae-a9ae-b48b478270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480f935f-056e-43d0-a9c3-6f0a0280ba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ae782e-a2ad-455b-8012-e967b2ff026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ca22bb8-c71e-4324-a640-0354e2d274cb}" ma:internalName="TaxCatchAll" ma:showField="CatchAllData" ma:web="36ae782e-a2ad-455b-8012-e967b2ff02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81109-a086-44ae-a9ae-b48b478270f0">
      <Terms xmlns="http://schemas.microsoft.com/office/infopath/2007/PartnerControls"/>
    </lcf76f155ced4ddcb4097134ff3c332f>
    <TaxCatchAll xmlns="36ae782e-a2ad-455b-8012-e967b2ff0266" xsi:nil="true"/>
  </documentManagement>
</p:properties>
</file>

<file path=customXml/itemProps1.xml><?xml version="1.0" encoding="utf-8"?>
<ds:datastoreItem xmlns:ds="http://schemas.openxmlformats.org/officeDocument/2006/customXml" ds:itemID="{66158934-C326-4DC7-8459-4C5EFC1B7810}"/>
</file>

<file path=customXml/itemProps2.xml><?xml version="1.0" encoding="utf-8"?>
<ds:datastoreItem xmlns:ds="http://schemas.openxmlformats.org/officeDocument/2006/customXml" ds:itemID="{D8B6278F-57A3-46F8-8D85-728B52709942}"/>
</file>

<file path=customXml/itemProps3.xml><?xml version="1.0" encoding="utf-8"?>
<ds:datastoreItem xmlns:ds="http://schemas.openxmlformats.org/officeDocument/2006/customXml" ds:itemID="{E0C04DEA-0F8F-4FA2-838A-3F59373DF575}"/>
</file>

<file path=docProps/app.xml><?xml version="1.0" encoding="utf-8"?>
<Properties xmlns="http://schemas.openxmlformats.org/officeDocument/2006/extended-properties" xmlns:vt="http://schemas.openxmlformats.org/officeDocument/2006/docPropsVTypes">
  <TotalTime>1762</TotalTime>
  <Words>2347</Words>
  <Application>Microsoft Office PowerPoint</Application>
  <PresentationFormat>Widescreen</PresentationFormat>
  <Paragraphs>216</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Consolas</vt:lpstr>
      <vt:lpstr>Verdana</vt:lpstr>
      <vt:lpstr>Wingdings</vt:lpstr>
      <vt:lpstr>Tema de Office</vt:lpstr>
      <vt:lpstr>Bases de Datos Tabulares</vt:lpstr>
      <vt:lpstr>Base de Datos Tabulares</vt:lpstr>
      <vt:lpstr>Base de Datos Tabulares Características</vt:lpstr>
      <vt:lpstr>Son Buenas…</vt:lpstr>
      <vt:lpstr>No son Buenas…</vt:lpstr>
      <vt:lpstr>Principales Clientes</vt:lpstr>
      <vt:lpstr>PowerPoint Presentation</vt:lpstr>
      <vt:lpstr>Un poco de terminología</vt:lpstr>
      <vt:lpstr>Bases de Datos Tabulares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P602</dc:creator>
  <cp:lastModifiedBy>Hernan Novodvorski</cp:lastModifiedBy>
  <cp:revision>207</cp:revision>
  <dcterms:created xsi:type="dcterms:W3CDTF">2018-09-26T17:16:22Z</dcterms:created>
  <dcterms:modified xsi:type="dcterms:W3CDTF">2026-04-01T20:42:20Z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0x010100163BEE4324150E468E9D56AC1A069CC0</vt:lpwstr>
  </property>
</Properties>
</file>