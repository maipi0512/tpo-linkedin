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21"/>
  </p:notesMasterIdLst>
  <p:handoutMasterIdLst>
    <p:handoutMasterId r:id="rId22"/>
  </p:handoutMasterIdLst>
  <p:sldIdLst>
    <p:sldId id="257" r:id="rId6"/>
    <p:sldId id="522" r:id="rId7"/>
    <p:sldId id="523" r:id="rId8"/>
    <p:sldId id="524" r:id="rId9"/>
    <p:sldId id="525" r:id="rId10"/>
    <p:sldId id="528" r:id="rId11"/>
    <p:sldId id="526" r:id="rId12"/>
    <p:sldId id="527" r:id="rId13"/>
    <p:sldId id="529" r:id="rId14"/>
    <p:sldId id="530" r:id="rId15"/>
    <p:sldId id="531" r:id="rId16"/>
    <p:sldId id="532" r:id="rId17"/>
    <p:sldId id="533" r:id="rId18"/>
    <p:sldId id="534" r:id="rId19"/>
    <p:sldId id="361" r:id="rId2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1B2C"/>
    <a:srgbClr val="CF0A2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810" autoAdjust="0"/>
  </p:normalViewPr>
  <p:slideViewPr>
    <p:cSldViewPr snapToGrid="0" showGuides="1">
      <p:cViewPr varScale="1">
        <p:scale>
          <a:sx n="52" d="100"/>
          <a:sy n="52" d="100"/>
        </p:scale>
        <p:origin x="1160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DD18964-3BB4-4D47-8767-CE438F1B9D44}" type="datetime1">
              <a:rPr lang="es-ES" smtClean="0"/>
              <a:t>06/05/2026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D2DFAA7-D3C3-4D01-9299-453E25D16D4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66C0203-D64A-4516-A5D4-F81B23892FEC}" type="datetime1">
              <a:rPr lang="es-ES" noProof="0" smtClean="0"/>
              <a:t>06/05/2026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DC51814-3B91-4036-94D2-3977634EE214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6824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rtlCol="0"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rtlCol="0"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5625" y="4927600"/>
            <a:ext cx="4986338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rtlCol="0"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36610" y="4079083"/>
            <a:ext cx="5318781" cy="976311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rtlCol="0"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6" y="4079083"/>
            <a:ext cx="4416424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rtlCol="0"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1510507" y="5130801"/>
            <a:ext cx="9242424" cy="533400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ln>
                <a:noFill/>
              </a:ln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 rtlCol="0">
            <a:normAutofit/>
          </a:bodyPr>
          <a:lstStyle>
            <a:lvl1pPr algn="ctr">
              <a:defRPr sz="4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5" name="Marcador de posición de imagen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es-ES" noProof="0"/>
              <a:t>Agregue la imagen aquí</a:t>
            </a:r>
          </a:p>
        </p:txBody>
      </p:sp>
      <p:sp>
        <p:nvSpPr>
          <p:cNvPr id="7" name="Marcador de posición de imagen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es-ES" noProof="0"/>
              <a:t>Agregue la imagen aquí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4" name="Marcador de posición de imagen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rtlCol="0" anchor="ctr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rtlCol="0" anchor="b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rtlCol="0" anchor="ctr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68071"/>
            <a:ext cx="10515600" cy="805542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 dirty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Marcador de posición de imagen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rtlCol="0"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rtlCol="0"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Marcador de posición de imagen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rtlCol="0"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rtlCol="0" anchor="b">
            <a:no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rtlCol="0" anchor="ctr">
            <a:noAutofit/>
          </a:bodyPr>
          <a:lstStyle>
            <a:lvl1pPr algn="ctr"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Marcador de posición de imagen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bg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bg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6" name="Marcador de posición de imagen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7" name="Marcador de posición de imagen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8" name="Marcador de posición de imagen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arcador de posición de imagen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5" name="Marcador de posición de imagen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9813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6" name="Marcador de posición de imagen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4524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8" name="Marcador de posición de imagen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59235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3" name="Marcador de texto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6168473" cy="758824"/>
          </a:xfrm>
        </p:spPr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9" name="Triángulo isósceles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4" name="Triángulo isósceles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5" name="Marcador de posición de imagen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6" name="Marcador de posición de imagen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7" name="Marcador de posición de imagen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texto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8" name="Marcador de texto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9" name="Marcador de texto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20" name="Marcador de posición de imagen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5" name="Marcador de posición de imagen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6" name="Marcador de posición de imagen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7" name="Marcador de posición de imagen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upo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Marcador de texto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4" name="Marcador de posición de imagen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5" name="Marcador de posición de imagen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6" name="Marcador de posición de imagen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9" name="Marcador de texto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5" name="Marcador de texto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9" name="Marcador de texto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50" name="Marcador de texto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51" name="Marcador de posición de imagen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2" name="Marcador de posición de imagen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3" name="Marcador de posición de imagen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8" name="Marcador de posición de imagen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9" name="Marcador de posición de imagen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0" name="Marcador de posición de imagen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1" name="Marcador de texto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3" name="Marcador de texto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7" name="Marcador de texto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4" name="Marcador de texto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8" name="Marcador de posición de imagen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9" name="Marcador de posición de imagen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0" name="Marcador de posición de imagen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1" name="Marcador de texto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3" name="Marcador de texto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7" name="Marcador de texto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4" name="Marcador de texto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900613" y="1233488"/>
            <a:ext cx="699135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065588" cy="4552950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7" name="Marcador de gráfico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9" name="Marcador de gráfico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0" name="Marcador de gráfico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1" name="Marcador de gráfico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rtlCol="0"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03DC2DEF-D2FE-4B45-ABA4-9F153FD1C98A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rgbClr val="061B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rtlCol="0" anchor="ctr">
            <a:normAutofit fontScale="90000"/>
          </a:bodyPr>
          <a:lstStyle/>
          <a:p>
            <a:pPr rtl="0"/>
            <a:r>
              <a:rPr lang="es-ES" sz="4200" dirty="0"/>
              <a:t>Ingeniería de Datos II</a:t>
            </a:r>
            <a:br>
              <a:rPr lang="es-ES" sz="4200" dirty="0"/>
            </a:br>
            <a:r>
              <a:rPr lang="es-ES" sz="4200" dirty="0"/>
              <a:t>Clase #8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C6D24F99-E026-485A-96CD-AEC981372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747662"/>
            <a:ext cx="11520488" cy="1073020"/>
          </a:xfrm>
        </p:spPr>
        <p:txBody>
          <a:bodyPr rtlCol="0">
            <a:normAutofit/>
          </a:bodyPr>
          <a:lstStyle/>
          <a:p>
            <a:pPr rtl="0"/>
            <a:r>
              <a:rPr lang="es-ES" sz="1800" dirty="0"/>
              <a:t>6 de Mayo de 2026</a:t>
            </a:r>
          </a:p>
          <a:p>
            <a:pPr rtl="0"/>
            <a:r>
              <a:rPr lang="es-ES" sz="1800" dirty="0"/>
              <a:t>Consenso en Bases de Datos No SQL</a:t>
            </a:r>
          </a:p>
        </p:txBody>
      </p:sp>
      <p:pic>
        <p:nvPicPr>
          <p:cNvPr id="5" name="Picture 2" descr="UADE | COMENZÁ TU CARRERA EN AGOSTO">
            <a:extLst>
              <a:ext uri="{FF2B5EF4-FFF2-40B4-BE49-F238E27FC236}">
                <a16:creationId xmlns:a16="http://schemas.microsoft.com/office/drawing/2014/main" id="{5B51B4BE-15BC-7A12-4F9C-66889D8FD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06"/>
            <a:ext cx="1966552" cy="117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4A222-B2A5-65D5-1889-374EF2F4E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Contexto: Consenso en bases NoSQL distribuidas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DD28B-A857-E5B8-A19C-E5A577801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En sistemas NoSQL distribuidos (como </a:t>
            </a:r>
            <a:r>
              <a:rPr lang="es-AR" dirty="0" err="1"/>
              <a:t>Dynamo</a:t>
            </a:r>
            <a:r>
              <a:rPr lang="es-AR" dirty="0"/>
              <a:t>, </a:t>
            </a:r>
            <a:r>
              <a:rPr lang="es-AR" dirty="0" err="1"/>
              <a:t>Cassandra</a:t>
            </a:r>
            <a:r>
              <a:rPr lang="es-AR" dirty="0"/>
              <a:t>, </a:t>
            </a:r>
            <a:r>
              <a:rPr lang="es-AR" dirty="0" err="1"/>
              <a:t>Riak</a:t>
            </a:r>
            <a:r>
              <a:rPr lang="es-AR" dirty="0"/>
              <a:t>), los datos:</a:t>
            </a:r>
          </a:p>
          <a:p>
            <a:pPr lvl="1"/>
            <a:r>
              <a:rPr lang="es-AR" dirty="0"/>
              <a:t>Se replican en múltiples nodos</a:t>
            </a:r>
          </a:p>
          <a:p>
            <a:pPr lvl="1"/>
            <a:r>
              <a:rPr lang="es-AR" dirty="0"/>
              <a:t>Las operaciones (lectura/escritura) ocurren en varios nodos en paralelo</a:t>
            </a:r>
          </a:p>
          <a:p>
            <a:pPr lvl="1"/>
            <a:r>
              <a:rPr lang="es-AR" dirty="0"/>
              <a:t>No hay un único punto central (no es un servidor único)</a:t>
            </a:r>
          </a:p>
          <a:p>
            <a:endParaRPr lang="es-AR" dirty="0"/>
          </a:p>
          <a:p>
            <a:r>
              <a:rPr lang="es-AR" dirty="0"/>
              <a:t>¿Cómo aseguramos que los datos que se leen y escriben sean consistentes entre nodos?:</a:t>
            </a:r>
          </a:p>
          <a:p>
            <a:pPr lvl="1"/>
            <a:r>
              <a:rPr lang="es-AR" dirty="0"/>
              <a:t>Esto se resuelve mediante el modelo de consenso basado en </a:t>
            </a:r>
            <a:r>
              <a:rPr lang="es-AR" b="1" dirty="0"/>
              <a:t>N</a:t>
            </a:r>
            <a:r>
              <a:rPr lang="es-AR" dirty="0"/>
              <a:t>, </a:t>
            </a:r>
            <a:r>
              <a:rPr lang="es-AR" b="1" dirty="0"/>
              <a:t>R</a:t>
            </a:r>
            <a:r>
              <a:rPr lang="es-AR" dirty="0"/>
              <a:t> y </a:t>
            </a:r>
            <a:r>
              <a:rPr lang="es-AR" b="1" dirty="0"/>
              <a:t>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5DE84-C7DA-9564-8381-DED03263D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21740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7AE84-AE35-19F5-0CC8-A91DA5CC2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5EBD0-18A5-2859-4A0B-72D813673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Parámetros fundamentales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89FDF-7876-6E32-A534-0E3312166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b="1" dirty="0"/>
              <a:t>N (</a:t>
            </a:r>
            <a:r>
              <a:rPr lang="es-AR" b="1" dirty="0" err="1"/>
              <a:t>Replication</a:t>
            </a:r>
            <a:r>
              <a:rPr lang="es-AR" b="1" dirty="0"/>
              <a:t> Factor)</a:t>
            </a:r>
          </a:p>
          <a:p>
            <a:pPr lvl="1"/>
            <a:r>
              <a:rPr lang="es-AR" dirty="0"/>
              <a:t>Cantidad total de copias del dato.</a:t>
            </a:r>
          </a:p>
          <a:p>
            <a:pPr lvl="2"/>
            <a:r>
              <a:rPr lang="es-AR" dirty="0"/>
              <a:t>N = 3 → cada dato existe en 3 nodos</a:t>
            </a:r>
          </a:p>
          <a:p>
            <a:pPr lvl="2"/>
            <a:r>
              <a:rPr lang="es-AR" dirty="0"/>
              <a:t>N = 5 → el dato se replica en 5 nodos</a:t>
            </a:r>
          </a:p>
          <a:p>
            <a:endParaRPr lang="es-AR" dirty="0"/>
          </a:p>
          <a:p>
            <a:r>
              <a:rPr lang="es-AR" b="1" dirty="0"/>
              <a:t>W (</a:t>
            </a:r>
            <a:r>
              <a:rPr lang="es-AR" b="1" dirty="0" err="1"/>
              <a:t>Write</a:t>
            </a:r>
            <a:r>
              <a:rPr lang="es-AR" b="1" dirty="0"/>
              <a:t> Quorum)</a:t>
            </a:r>
          </a:p>
          <a:p>
            <a:pPr lvl="1"/>
            <a:r>
              <a:rPr lang="es-AR" dirty="0"/>
              <a:t>Cantidad mínima de nodos que deben confirmar una escritura.</a:t>
            </a:r>
          </a:p>
          <a:p>
            <a:pPr lvl="2"/>
            <a:r>
              <a:rPr lang="es-AR" dirty="0"/>
              <a:t>W = 1 → basta con 1 nodo</a:t>
            </a:r>
          </a:p>
          <a:p>
            <a:pPr lvl="2"/>
            <a:r>
              <a:rPr lang="es-AR" dirty="0"/>
              <a:t>W = 2 → al menos 2 nodos deben escribir</a:t>
            </a:r>
          </a:p>
          <a:p>
            <a:pPr lvl="2"/>
            <a:r>
              <a:rPr lang="es-AR" dirty="0"/>
              <a:t>Mayor W → más consistencia</a:t>
            </a:r>
          </a:p>
          <a:p>
            <a:pPr lvl="2"/>
            <a:r>
              <a:rPr lang="es-AR" dirty="0"/>
              <a:t>Menor W → mayor velocidad de escritura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1E04D-A67A-FB58-148E-8E41A0180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3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58321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3B48D-1DCE-C6C8-CF00-0C9FF3772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15A13-37F5-46F6-E963-645FAE655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Parámetros fundamentales – cont.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5DDE0-4DA9-437E-113D-81F30F502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b="1" dirty="0"/>
              <a:t>R (</a:t>
            </a:r>
            <a:r>
              <a:rPr lang="es-AR" b="1" dirty="0" err="1"/>
              <a:t>Read</a:t>
            </a:r>
            <a:r>
              <a:rPr lang="es-AR" b="1" dirty="0"/>
              <a:t> Quorum)</a:t>
            </a:r>
          </a:p>
          <a:p>
            <a:pPr lvl="1"/>
            <a:r>
              <a:rPr lang="es-AR" dirty="0"/>
              <a:t>Cantidad de nodos consultados para una lectura.</a:t>
            </a:r>
          </a:p>
          <a:p>
            <a:pPr lvl="2"/>
            <a:r>
              <a:rPr lang="es-AR" dirty="0"/>
              <a:t>R = 1 → lectura rápida, pero menos confiable</a:t>
            </a:r>
          </a:p>
          <a:p>
            <a:pPr lvl="2"/>
            <a:r>
              <a:rPr lang="es-AR" dirty="0"/>
              <a:t>R = 3 → más consistente, pero más lenta</a:t>
            </a:r>
          </a:p>
          <a:p>
            <a:pPr lvl="2"/>
            <a:r>
              <a:rPr lang="es-AR" dirty="0"/>
              <a:t>Mayor R → mayor probabilidad de dato actualizado</a:t>
            </a:r>
          </a:p>
          <a:p>
            <a:pPr lvl="2"/>
            <a:r>
              <a:rPr lang="es-AR" dirty="0"/>
              <a:t>Menor R → mejor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8322D-1010-C3E7-1BB1-BF26DBF84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48258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AFA84-3C1F-C419-26F7-73AE2153E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DC2B4-FEC3-0804-808F-2D0BBE6C3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Reglas claves del consenso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81A40-A797-27CA-0BE5-D4C6E997F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b="1" dirty="0"/>
              <a:t>Consistencia fuerte </a:t>
            </a:r>
          </a:p>
          <a:p>
            <a:pPr lvl="1"/>
            <a:r>
              <a:rPr lang="es-AR" dirty="0"/>
              <a:t>R + W &gt; N</a:t>
            </a:r>
          </a:p>
          <a:p>
            <a:pPr lvl="1"/>
            <a:r>
              <a:rPr lang="es-AR" dirty="0"/>
              <a:t>Garantiza que al menos un nodo leído tiene la versión más reciente</a:t>
            </a:r>
          </a:p>
          <a:p>
            <a:pPr lvl="1"/>
            <a:endParaRPr lang="es-AR" dirty="0"/>
          </a:p>
          <a:p>
            <a:r>
              <a:rPr lang="es-AR" b="1" dirty="0"/>
              <a:t>Consistencia eventual</a:t>
            </a:r>
          </a:p>
          <a:p>
            <a:pPr lvl="1"/>
            <a:r>
              <a:rPr lang="es-AR" dirty="0"/>
              <a:t>R + W ≤ N</a:t>
            </a:r>
          </a:p>
          <a:p>
            <a:pPr lvl="1"/>
            <a:r>
              <a:rPr lang="es-AR" dirty="0"/>
              <a:t>Puede haber lecturas desactualizadas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8AE3E-0606-A44A-A490-EF87036CD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5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59110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22797-5B3C-251D-BE3D-E33B07855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599D-1B29-E321-FEB5-5615E445F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Intersección de </a:t>
            </a:r>
            <a:r>
              <a:rPr lang="es-AR" dirty="0" err="1"/>
              <a:t>quorums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31F78-9B6E-891B-D89A-4F05A08ED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Al menos un nodo coincide entre lectura y escritura</a:t>
            </a:r>
          </a:p>
          <a:p>
            <a:pPr lvl="1"/>
            <a:r>
              <a:rPr lang="es-AR"/>
              <a:t>El conjunto de nodos que se consultan en la lectura SIEMPRE comparte al menos un nodo con el conjunto que confirmó la escritura</a:t>
            </a:r>
            <a:endParaRPr lang="es-A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681B1-ADD0-05D6-02CB-E6FF8705D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6</a:t>
            </a:fld>
            <a:endParaRPr lang="es-ES" noProof="0"/>
          </a:p>
        </p:txBody>
      </p:sp>
      <p:sp>
        <p:nvSpPr>
          <p:cNvPr id="6" name="AutoShape 4" descr="grafico_interseccion_quorums">
            <a:extLst>
              <a:ext uri="{FF2B5EF4-FFF2-40B4-BE49-F238E27FC236}">
                <a16:creationId xmlns:a16="http://schemas.microsoft.com/office/drawing/2014/main" id="{CF0DCF79-96CE-2E1D-9981-36A29DF603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09782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2BC2E-30B7-1247-04FC-569CED2DA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F4E88-A257-0AC7-A0DE-69A5E5C52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¿Por </a:t>
            </a:r>
            <a:r>
              <a:rPr lang="pt-BR" dirty="0" err="1"/>
              <a:t>qué</a:t>
            </a:r>
            <a:r>
              <a:rPr lang="pt-BR" dirty="0"/>
              <a:t> funciona R + W &gt; N?</a:t>
            </a:r>
            <a:r>
              <a:rPr lang="es-AR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BD453-B1EE-E10F-FEA8-CC5CA116C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Porque asegura intersección entre conjuntos:</a:t>
            </a:r>
          </a:p>
          <a:p>
            <a:pPr lvl="1"/>
            <a:r>
              <a:rPr lang="es-AR" dirty="0"/>
              <a:t>W nodos escriben</a:t>
            </a:r>
          </a:p>
          <a:p>
            <a:pPr lvl="1"/>
            <a:r>
              <a:rPr lang="es-AR" dirty="0"/>
              <a:t>R nodos se leen</a:t>
            </a:r>
          </a:p>
          <a:p>
            <a:r>
              <a:rPr lang="es-AR" dirty="0"/>
              <a:t>Si hay intersección:</a:t>
            </a:r>
          </a:p>
          <a:p>
            <a:pPr lvl="1"/>
            <a:r>
              <a:rPr lang="es-AR" dirty="0"/>
              <a:t>Al menos uno de los nodos leídos tiene la última versión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68AD5-52A2-58DE-E43E-57195736D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7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57449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EB16B-C408-86C0-1158-9885BEB37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A86D1-2EA6-F5B2-85E1-931438082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Ejemplos</a:t>
            </a:r>
            <a:br>
              <a:rPr lang="pt-BR" dirty="0"/>
            </a:br>
            <a:r>
              <a:rPr lang="pt-BR" dirty="0" err="1"/>
              <a:t>Consistencia</a:t>
            </a:r>
            <a:r>
              <a:rPr lang="pt-BR" dirty="0"/>
              <a:t> </a:t>
            </a:r>
            <a:r>
              <a:rPr lang="pt-BR" dirty="0" err="1"/>
              <a:t>fuerte</a:t>
            </a:r>
            <a:r>
              <a:rPr lang="pt-BR" dirty="0"/>
              <a:t> </a:t>
            </a:r>
            <a:r>
              <a:rPr lang="pt-BR" dirty="0" err="1"/>
              <a:t>clásica</a:t>
            </a:r>
            <a:r>
              <a:rPr lang="es-AR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C9FA3-3ED3-002E-2B51-2F177BCC7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233488"/>
            <a:ext cx="11520487" cy="2597107"/>
          </a:xfrm>
        </p:spPr>
        <p:txBody>
          <a:bodyPr/>
          <a:lstStyle/>
          <a:p>
            <a:r>
              <a:rPr lang="es-AR" dirty="0"/>
              <a:t>N 	= 3</a:t>
            </a:r>
          </a:p>
          <a:p>
            <a:r>
              <a:rPr lang="es-AR" dirty="0"/>
              <a:t>W 	= 2</a:t>
            </a:r>
          </a:p>
          <a:p>
            <a:r>
              <a:rPr lang="es-AR" dirty="0"/>
              <a:t>R 	= 2</a:t>
            </a:r>
          </a:p>
          <a:p>
            <a:r>
              <a:rPr lang="es-AR" dirty="0"/>
              <a:t>Cálculo:</a:t>
            </a:r>
          </a:p>
          <a:p>
            <a:pPr lvl="1"/>
            <a:r>
              <a:rPr lang="es-AR" dirty="0"/>
              <a:t>R + W = 4 &gt;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06DA8-2CB0-9EC1-C0A8-7C5466F75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8</a:t>
            </a:fld>
            <a:endParaRPr lang="es-ES" noProof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8E1C66-44CF-A999-70BA-64CD192DAFD5}"/>
              </a:ext>
            </a:extLst>
          </p:cNvPr>
          <p:cNvSpPr txBox="1">
            <a:spLocks/>
          </p:cNvSpPr>
          <p:nvPr/>
        </p:nvSpPr>
        <p:spPr>
          <a:xfrm>
            <a:off x="371474" y="4038479"/>
            <a:ext cx="11520487" cy="2597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dirty="0"/>
              <a:t>Al menos 1 nodo coincide entre lectura y escritura</a:t>
            </a:r>
          </a:p>
          <a:p>
            <a:r>
              <a:rPr lang="es-AR" dirty="0"/>
              <a:t>Lecturas consistentes</a:t>
            </a:r>
          </a:p>
          <a:p>
            <a:r>
              <a:rPr lang="es-AR" dirty="0"/>
              <a:t>Uso típico en sistemas críticos (pagos, transacciones)</a:t>
            </a:r>
          </a:p>
        </p:txBody>
      </p:sp>
    </p:spTree>
    <p:extLst>
      <p:ext uri="{BB962C8B-B14F-4D97-AF65-F5344CB8AC3E}">
        <p14:creationId xmlns:p14="http://schemas.microsoft.com/office/powerpoint/2010/main" val="3241017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0261D-0F07-17D6-8B06-140F233B5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AF7DD-5F6D-2608-299B-8B48E3483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Ejemplos</a:t>
            </a:r>
            <a:br>
              <a:rPr lang="pt-BR" dirty="0"/>
            </a:br>
            <a:r>
              <a:rPr lang="pt-BR" dirty="0" err="1"/>
              <a:t>Consistencia</a:t>
            </a:r>
            <a:r>
              <a:rPr lang="pt-BR" dirty="0"/>
              <a:t> </a:t>
            </a:r>
            <a:r>
              <a:rPr lang="es-AR" dirty="0"/>
              <a:t>eventual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9A7D-5277-3B56-C734-DCBB5B303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233488"/>
            <a:ext cx="11520487" cy="2597107"/>
          </a:xfrm>
        </p:spPr>
        <p:txBody>
          <a:bodyPr/>
          <a:lstStyle/>
          <a:p>
            <a:r>
              <a:rPr lang="es-AR" dirty="0"/>
              <a:t>N 	= 3</a:t>
            </a:r>
          </a:p>
          <a:p>
            <a:r>
              <a:rPr lang="es-AR" dirty="0"/>
              <a:t>W 	= 1</a:t>
            </a:r>
          </a:p>
          <a:p>
            <a:r>
              <a:rPr lang="es-AR" dirty="0"/>
              <a:t>R 	= 1</a:t>
            </a:r>
          </a:p>
          <a:p>
            <a:r>
              <a:rPr lang="es-AR" dirty="0"/>
              <a:t>Cálculo:</a:t>
            </a:r>
          </a:p>
          <a:p>
            <a:pPr lvl="1"/>
            <a:r>
              <a:rPr lang="es-AR" dirty="0"/>
              <a:t>R + W = 2 &lt;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40718-3A67-2D07-DDF5-4477BA92E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9</a:t>
            </a:fld>
            <a:endParaRPr lang="es-ES" noProof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355CF11-9CED-76FE-F39B-CA446BC40C54}"/>
              </a:ext>
            </a:extLst>
          </p:cNvPr>
          <p:cNvSpPr txBox="1">
            <a:spLocks/>
          </p:cNvSpPr>
          <p:nvPr/>
        </p:nvSpPr>
        <p:spPr>
          <a:xfrm>
            <a:off x="371474" y="4038479"/>
            <a:ext cx="11520487" cy="2597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dirty="0"/>
              <a:t>Se puede leer un nodo que no recibió la actualización</a:t>
            </a:r>
          </a:p>
          <a:p>
            <a:r>
              <a:rPr lang="es-AR" dirty="0"/>
              <a:t>Uso típico en redes sociales (</a:t>
            </a:r>
            <a:r>
              <a:rPr lang="es-AR" dirty="0" err="1"/>
              <a:t>like</a:t>
            </a:r>
            <a:r>
              <a:rPr lang="es-AR" dirty="0"/>
              <a:t> o </a:t>
            </a:r>
            <a:r>
              <a:rPr lang="es-AR" dirty="0" err="1"/>
              <a:t>views</a:t>
            </a:r>
            <a:r>
              <a:rPr lang="es-AR" dirty="0"/>
              <a:t>, no crítico si tarda)</a:t>
            </a:r>
          </a:p>
        </p:txBody>
      </p:sp>
    </p:spTree>
    <p:extLst>
      <p:ext uri="{BB962C8B-B14F-4D97-AF65-F5344CB8AC3E}">
        <p14:creationId xmlns:p14="http://schemas.microsoft.com/office/powerpoint/2010/main" val="1889531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CEEA0-12D7-2FD8-0B3A-75F9EC586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0A738-2923-6AF7-08C0-8444BB829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Ejemplos</a:t>
            </a:r>
            <a:br>
              <a:rPr lang="pt-BR" dirty="0"/>
            </a:br>
            <a:r>
              <a:rPr lang="es-AR" dirty="0"/>
              <a:t>Escrituras rápidas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FFCE5-0504-7B46-8EE0-96BF750BB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233488"/>
            <a:ext cx="11520487" cy="2597107"/>
          </a:xfrm>
        </p:spPr>
        <p:txBody>
          <a:bodyPr/>
          <a:lstStyle/>
          <a:p>
            <a:r>
              <a:rPr lang="es-AR" dirty="0"/>
              <a:t>N 	= 5</a:t>
            </a:r>
          </a:p>
          <a:p>
            <a:r>
              <a:rPr lang="es-AR" dirty="0"/>
              <a:t>W 	= 1</a:t>
            </a:r>
          </a:p>
          <a:p>
            <a:r>
              <a:rPr lang="es-AR" dirty="0"/>
              <a:t>R 	= 4</a:t>
            </a:r>
          </a:p>
          <a:p>
            <a:r>
              <a:rPr lang="es-AR" dirty="0"/>
              <a:t>Cálculo:</a:t>
            </a:r>
          </a:p>
          <a:p>
            <a:pPr lvl="1"/>
            <a:r>
              <a:rPr lang="es-AR" dirty="0"/>
              <a:t>R + W = 5 = N ( límite)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C82DC-C755-AC21-557E-F13D1EC66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10</a:t>
            </a:fld>
            <a:endParaRPr lang="es-ES" noProof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E0BCA3-207C-A727-551A-31E54C0FD6EE}"/>
              </a:ext>
            </a:extLst>
          </p:cNvPr>
          <p:cNvSpPr txBox="1">
            <a:spLocks/>
          </p:cNvSpPr>
          <p:nvPr/>
        </p:nvSpPr>
        <p:spPr>
          <a:xfrm>
            <a:off x="371474" y="4038479"/>
            <a:ext cx="11520487" cy="2597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dirty="0"/>
              <a:t>Escritura inmediata</a:t>
            </a:r>
          </a:p>
          <a:p>
            <a:r>
              <a:rPr lang="es-AR" dirty="0"/>
              <a:t>Lectura más confiable (consulta muchos nodos)</a:t>
            </a:r>
          </a:p>
          <a:p>
            <a:r>
              <a:rPr lang="es-AR" dirty="0"/>
              <a:t>Datos inconsistentes momentáneamente</a:t>
            </a:r>
          </a:p>
          <a:p>
            <a:r>
              <a:rPr lang="es-AR" dirty="0"/>
              <a:t>Uso en </a:t>
            </a:r>
            <a:r>
              <a:rPr lang="es-AR" dirty="0" err="1"/>
              <a:t>logging</a:t>
            </a:r>
            <a:r>
              <a:rPr lang="es-AR" dirty="0"/>
              <a:t>, telemetría</a:t>
            </a:r>
          </a:p>
        </p:txBody>
      </p:sp>
    </p:spTree>
    <p:extLst>
      <p:ext uri="{BB962C8B-B14F-4D97-AF65-F5344CB8AC3E}">
        <p14:creationId xmlns:p14="http://schemas.microsoft.com/office/powerpoint/2010/main" val="3372099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88C2E-4923-0EF7-C52C-1751FC06D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70A9-57A7-7FB0-0A5D-E45E99694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Ejemplos</a:t>
            </a:r>
            <a:br>
              <a:rPr lang="pt-BR" dirty="0"/>
            </a:br>
            <a:r>
              <a:rPr lang="es-AR" dirty="0"/>
              <a:t>Lecturas rápidas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7738B-84D9-71ED-9A29-62D9762CE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233488"/>
            <a:ext cx="11520487" cy="2597107"/>
          </a:xfrm>
        </p:spPr>
        <p:txBody>
          <a:bodyPr/>
          <a:lstStyle/>
          <a:p>
            <a:r>
              <a:rPr lang="es-AR" dirty="0"/>
              <a:t>N 	= 5</a:t>
            </a:r>
          </a:p>
          <a:p>
            <a:r>
              <a:rPr lang="es-AR" dirty="0"/>
              <a:t>W 	= 3</a:t>
            </a:r>
          </a:p>
          <a:p>
            <a:r>
              <a:rPr lang="es-AR" dirty="0"/>
              <a:t>R 	= 1</a:t>
            </a:r>
          </a:p>
          <a:p>
            <a:r>
              <a:rPr lang="es-AR" dirty="0"/>
              <a:t>Cálculo:</a:t>
            </a:r>
          </a:p>
          <a:p>
            <a:pPr lvl="1"/>
            <a:r>
              <a:rPr lang="es-AR" dirty="0"/>
              <a:t>R + W = 4 &lt;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23448-EBC7-1B0E-C07A-D010A3AE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11</a:t>
            </a:fld>
            <a:endParaRPr lang="es-ES" noProof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128682-7A83-41B9-0066-3CF874427C59}"/>
              </a:ext>
            </a:extLst>
          </p:cNvPr>
          <p:cNvSpPr txBox="1">
            <a:spLocks/>
          </p:cNvSpPr>
          <p:nvPr/>
        </p:nvSpPr>
        <p:spPr>
          <a:xfrm>
            <a:off x="371474" y="4038479"/>
            <a:ext cx="11520487" cy="2597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dirty="0"/>
              <a:t>Lecturas rápidas</a:t>
            </a:r>
          </a:p>
          <a:p>
            <a:r>
              <a:rPr lang="es-AR" dirty="0"/>
              <a:t>Escrituras más robustas</a:t>
            </a:r>
          </a:p>
          <a:p>
            <a:r>
              <a:rPr lang="es-AR" dirty="0"/>
              <a:t>Puede leer datos viejos</a:t>
            </a:r>
          </a:p>
        </p:txBody>
      </p:sp>
    </p:spTree>
    <p:extLst>
      <p:ext uri="{BB962C8B-B14F-4D97-AF65-F5344CB8AC3E}">
        <p14:creationId xmlns:p14="http://schemas.microsoft.com/office/powerpoint/2010/main" val="2590625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77008-B4BD-73CE-ABD5-0FE2F2822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6CB10-B076-9A25-7A02-08D2EE109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Ejemplos</a:t>
            </a:r>
            <a:br>
              <a:rPr lang="pt-BR" dirty="0"/>
            </a:br>
            <a:r>
              <a:rPr lang="es-AR" dirty="0"/>
              <a:t>Quorum balanceado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99CA6-D378-B12D-4175-3FCEC01D1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233488"/>
            <a:ext cx="11520487" cy="2597107"/>
          </a:xfrm>
        </p:spPr>
        <p:txBody>
          <a:bodyPr/>
          <a:lstStyle/>
          <a:p>
            <a:r>
              <a:rPr lang="es-AR" dirty="0"/>
              <a:t>N 	= 5</a:t>
            </a:r>
          </a:p>
          <a:p>
            <a:r>
              <a:rPr lang="es-AR" dirty="0"/>
              <a:t>W 	= 3</a:t>
            </a:r>
          </a:p>
          <a:p>
            <a:r>
              <a:rPr lang="es-AR" dirty="0"/>
              <a:t>R 	= 3</a:t>
            </a:r>
          </a:p>
          <a:p>
            <a:r>
              <a:rPr lang="es-AR" dirty="0"/>
              <a:t>Cálculo:</a:t>
            </a:r>
          </a:p>
          <a:p>
            <a:pPr lvl="1"/>
            <a:r>
              <a:rPr lang="es-AR" dirty="0"/>
              <a:t>R + W = 6 &gt;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836C2-4BAE-3B13-2E30-2007A0E4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12</a:t>
            </a:fld>
            <a:endParaRPr lang="es-ES" noProof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078C32-32A3-CDC0-13C1-6958FC3CF28B}"/>
              </a:ext>
            </a:extLst>
          </p:cNvPr>
          <p:cNvSpPr txBox="1">
            <a:spLocks/>
          </p:cNvSpPr>
          <p:nvPr/>
        </p:nvSpPr>
        <p:spPr>
          <a:xfrm>
            <a:off x="371474" y="4038479"/>
            <a:ext cx="11520487" cy="2597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dirty="0"/>
              <a:t>Consistencia fuerte</a:t>
            </a:r>
          </a:p>
          <a:p>
            <a:r>
              <a:rPr lang="es-AR" dirty="0"/>
              <a:t>Buen equilibrio</a:t>
            </a:r>
          </a:p>
          <a:p>
            <a:r>
              <a:rPr lang="es-AR" dirty="0"/>
              <a:t>Muy usado en </a:t>
            </a:r>
            <a:r>
              <a:rPr lang="es-AR" dirty="0" err="1"/>
              <a:t>Cassandra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25866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55D9B-068C-64FC-1D02-2C24DE9DB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B293C-21AE-7F19-6B93-24BBED637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Ejemplos</a:t>
            </a:r>
            <a:br>
              <a:rPr lang="pt-BR" dirty="0"/>
            </a:br>
            <a:r>
              <a:rPr lang="es-AR" dirty="0"/>
              <a:t>Fallas en nodos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C3DF5-D4D4-A14D-9115-DD0A9B449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233488"/>
            <a:ext cx="11520487" cy="2597107"/>
          </a:xfrm>
        </p:spPr>
        <p:txBody>
          <a:bodyPr/>
          <a:lstStyle/>
          <a:p>
            <a:r>
              <a:rPr lang="es-AR" dirty="0"/>
              <a:t>N 	= 3</a:t>
            </a:r>
          </a:p>
          <a:p>
            <a:r>
              <a:rPr lang="es-AR" dirty="0"/>
              <a:t>W 	= 2</a:t>
            </a:r>
          </a:p>
          <a:p>
            <a:r>
              <a:rPr lang="es-AR" dirty="0"/>
              <a:t>R 	= 2</a:t>
            </a:r>
          </a:p>
          <a:p>
            <a:r>
              <a:rPr lang="es-AR" dirty="0"/>
              <a:t>Cálculo:</a:t>
            </a:r>
          </a:p>
          <a:p>
            <a:pPr lvl="1"/>
            <a:r>
              <a:rPr lang="es-AR" dirty="0"/>
              <a:t>R + W = 4 &gt;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5433B-56C8-4FEA-5E3A-A85E91C83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13</a:t>
            </a:fld>
            <a:endParaRPr lang="es-ES" noProof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D96C357-B42D-5532-1523-82B799A6AE9D}"/>
              </a:ext>
            </a:extLst>
          </p:cNvPr>
          <p:cNvSpPr txBox="1">
            <a:spLocks/>
          </p:cNvSpPr>
          <p:nvPr/>
        </p:nvSpPr>
        <p:spPr>
          <a:xfrm>
            <a:off x="371474" y="4038479"/>
            <a:ext cx="11520487" cy="2597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dirty="0"/>
              <a:t>Se cae 1 nodo</a:t>
            </a:r>
          </a:p>
          <a:p>
            <a:r>
              <a:rPr lang="es-AR" dirty="0"/>
              <a:t>Sistema sigue funcionando:</a:t>
            </a:r>
          </a:p>
          <a:p>
            <a:pPr lvl="1"/>
            <a:r>
              <a:rPr lang="es-AR" dirty="0"/>
              <a:t>Puede escribir en 2 nodos</a:t>
            </a:r>
          </a:p>
          <a:p>
            <a:pPr lvl="1"/>
            <a:r>
              <a:rPr lang="es-AR" dirty="0"/>
              <a:t>Puede leer de 2 nodos</a:t>
            </a:r>
          </a:p>
          <a:p>
            <a:r>
              <a:rPr lang="es-AR" dirty="0"/>
              <a:t>Tolerancia a fallos</a:t>
            </a:r>
          </a:p>
        </p:txBody>
      </p:sp>
    </p:spTree>
    <p:extLst>
      <p:ext uri="{BB962C8B-B14F-4D97-AF65-F5344CB8AC3E}">
        <p14:creationId xmlns:p14="http://schemas.microsoft.com/office/powerpoint/2010/main" val="941035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0B7D6-2988-68F5-C2F8-CC2FFE6D7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E7A6A-6F6D-4297-A2FE-885EDA4A3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Ejemplos</a:t>
            </a:r>
            <a:br>
              <a:rPr lang="pt-BR" dirty="0"/>
            </a:br>
            <a:r>
              <a:rPr lang="es-AR" dirty="0"/>
              <a:t>Fallo crítico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E0636-FB75-F25B-09E4-6B324B23C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233488"/>
            <a:ext cx="11520487" cy="2597107"/>
          </a:xfrm>
        </p:spPr>
        <p:txBody>
          <a:bodyPr/>
          <a:lstStyle/>
          <a:p>
            <a:r>
              <a:rPr lang="es-AR" dirty="0"/>
              <a:t>N 	= 3</a:t>
            </a:r>
          </a:p>
          <a:p>
            <a:r>
              <a:rPr lang="es-AR" dirty="0"/>
              <a:t>W 	= 3</a:t>
            </a:r>
          </a:p>
          <a:p>
            <a:r>
              <a:rPr lang="es-AR" dirty="0"/>
              <a:t>R 	= 3</a:t>
            </a:r>
          </a:p>
          <a:p>
            <a:r>
              <a:rPr lang="es-AR" dirty="0"/>
              <a:t>Cálculo:</a:t>
            </a:r>
          </a:p>
          <a:p>
            <a:pPr lvl="1"/>
            <a:r>
              <a:rPr lang="es-AR" dirty="0"/>
              <a:t>R + W = 6 &gt;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3C09F-C4AA-BF96-736F-9AF49802F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es-ES" noProof="0" smtClean="0"/>
              <a:t>14</a:t>
            </a:fld>
            <a:endParaRPr lang="es-ES" noProof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D462A9-3688-7B11-9F4D-C8463C64A7FD}"/>
              </a:ext>
            </a:extLst>
          </p:cNvPr>
          <p:cNvSpPr txBox="1">
            <a:spLocks/>
          </p:cNvSpPr>
          <p:nvPr/>
        </p:nvSpPr>
        <p:spPr>
          <a:xfrm>
            <a:off x="371474" y="4038479"/>
            <a:ext cx="11520487" cy="2597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dirty="0"/>
              <a:t>Si 1 nodo cae:</a:t>
            </a:r>
          </a:p>
          <a:p>
            <a:pPr lvl="1"/>
            <a:r>
              <a:rPr lang="es-AR" dirty="0"/>
              <a:t>No se puede escribir</a:t>
            </a:r>
          </a:p>
          <a:p>
            <a:pPr lvl="1"/>
            <a:r>
              <a:rPr lang="es-AR" dirty="0"/>
              <a:t>No se puede leer</a:t>
            </a:r>
          </a:p>
          <a:p>
            <a:r>
              <a:rPr lang="es-AR" dirty="0"/>
              <a:t>Alta consistencia, baja disponibilidad </a:t>
            </a:r>
          </a:p>
        </p:txBody>
      </p:sp>
    </p:spTree>
    <p:extLst>
      <p:ext uri="{BB962C8B-B14F-4D97-AF65-F5344CB8AC3E}">
        <p14:creationId xmlns:p14="http://schemas.microsoft.com/office/powerpoint/2010/main" val="1740857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06D102-67B1-AE86-856C-D6A8280C39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Practiquemos un poco …</a:t>
            </a:r>
          </a:p>
        </p:txBody>
      </p:sp>
      <p:pic>
        <p:nvPicPr>
          <p:cNvPr id="5128" name="Picture 8" descr="Que hacer - Iconos gratis de interfaz">
            <a:extLst>
              <a:ext uri="{FF2B5EF4-FFF2-40B4-BE49-F238E27FC236}">
                <a16:creationId xmlns:a16="http://schemas.microsoft.com/office/drawing/2014/main" id="{2614D756-181E-C599-01F9-428714440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042" y="371168"/>
            <a:ext cx="2676832" cy="267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53278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2571106_TF34126823.potx" id="{F73BBA1C-8B56-412D-A0D8-81E360A69323}" vid="{145DECCC-6CBD-4505-B46C-DE924EE842A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athena xmlns="http://schemas.microsoft.com/edu/athena" version="0.1.2955.0">
  <timings duration="63956"/>
</athena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3BEE4324150E468E9D56AC1A069CC0" ma:contentTypeVersion="10" ma:contentTypeDescription="Create a new document." ma:contentTypeScope="" ma:versionID="6b7533682bf6fbff95c8cc4f79a2dd38">
  <xsd:schema xmlns:xsd="http://www.w3.org/2001/XMLSchema" xmlns:xs="http://www.w3.org/2001/XMLSchema" xmlns:p="http://schemas.microsoft.com/office/2006/metadata/properties" xmlns:ns2="88a81109-a086-44ae-a9ae-b48b478270f0" xmlns:ns3="36ae782e-a2ad-455b-8012-e967b2ff0266" targetNamespace="http://schemas.microsoft.com/office/2006/metadata/properties" ma:root="true" ma:fieldsID="bf02702ce59ee1ec2ec03d4234b9ec85" ns2:_="" ns3:_="">
    <xsd:import namespace="88a81109-a086-44ae-a9ae-b48b478270f0"/>
    <xsd:import namespace="36ae782e-a2ad-455b-8012-e967b2ff02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81109-a086-44ae-a9ae-b48b478270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e782e-a2ad-455b-8012-e967b2ff02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ca22bb8-c71e-4324-a640-0354e2d274cb}" ma:internalName="TaxCatchAll" ma:showField="CatchAllData" ma:web="36ae782e-a2ad-455b-8012-e967b2ff02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81109-a086-44ae-a9ae-b48b478270f0">
      <Terms xmlns="http://schemas.microsoft.com/office/infopath/2007/PartnerControls"/>
    </lcf76f155ced4ddcb4097134ff3c332f>
    <TaxCatchAll xmlns="36ae782e-a2ad-455b-8012-e967b2ff0266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E9B207-9257-4F8D-A57B-644CA1DAEEBD}">
  <ds:schemaRefs>
    <ds:schemaRef ds:uri="http://schemas.microsoft.com/edu/athena"/>
  </ds:schemaRefs>
</ds:datastoreItem>
</file>

<file path=customXml/itemProps2.xml><?xml version="1.0" encoding="utf-8"?>
<ds:datastoreItem xmlns:ds="http://schemas.openxmlformats.org/officeDocument/2006/customXml" ds:itemID="{C090F2AD-4586-4D65-9765-1C5A66174282}"/>
</file>

<file path=customXml/itemProps3.xml><?xml version="1.0" encoding="utf-8"?>
<ds:datastoreItem xmlns:ds="http://schemas.openxmlformats.org/officeDocument/2006/customXml" ds:itemID="{8391BD4A-B58A-436A-A3D8-71CF4291A18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6DF685C8-515E-4994-8012-C2D2AD62AA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clásica en bloque en negrita</Template>
  <TotalTime>14724</TotalTime>
  <Words>663</Words>
  <Application>Microsoft Office PowerPoint</Application>
  <PresentationFormat>Widescreen</PresentationFormat>
  <Paragraphs>128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de Office</vt:lpstr>
      <vt:lpstr>Ingeniería de Datos II Clase #8</vt:lpstr>
      <vt:lpstr>Contexto: Consenso en bases NoSQL distribuidas</vt:lpstr>
      <vt:lpstr>Parámetros fundamentales</vt:lpstr>
      <vt:lpstr>Parámetros fundamentales – cont. </vt:lpstr>
      <vt:lpstr>Reglas claves del consenso </vt:lpstr>
      <vt:lpstr>Intersección de quorums</vt:lpstr>
      <vt:lpstr>¿Por qué funciona R + W &gt; N? </vt:lpstr>
      <vt:lpstr>Ejemplos Consistencia fuerte clásica </vt:lpstr>
      <vt:lpstr>Ejemplos Consistencia eventual</vt:lpstr>
      <vt:lpstr>Ejemplos Escrituras rápidas</vt:lpstr>
      <vt:lpstr>Ejemplos Lecturas rápidas</vt:lpstr>
      <vt:lpstr>Ejemplos Quorum balanceado</vt:lpstr>
      <vt:lpstr>Ejemplos Fallas en nodos</vt:lpstr>
      <vt:lpstr>Ejemplos Fallo crítico</vt:lpstr>
      <vt:lpstr>Practiquemos un poco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de Juegos y Competencia monopolística</dc:title>
  <dc:creator>Sofia Rosa</dc:creator>
  <cp:lastModifiedBy>Hernan Novodvorski</cp:lastModifiedBy>
  <cp:revision>115</cp:revision>
  <dcterms:created xsi:type="dcterms:W3CDTF">2021-06-07T01:07:38Z</dcterms:created>
  <dcterms:modified xsi:type="dcterms:W3CDTF">2026-05-06T18:20:33Z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0x010100163BEE4324150E468E9D56AC1A069CC0</vt:lpwstr>
  </property>
</Properties>
</file>