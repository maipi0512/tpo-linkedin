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887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86" r:id="rId8"/>
    <p:sldId id="262" r:id="rId9"/>
    <p:sldId id="287" r:id="rId10"/>
    <p:sldId id="289" r:id="rId11"/>
    <p:sldId id="288" r:id="rId12"/>
    <p:sldId id="290" r:id="rId13"/>
    <p:sldId id="270" r:id="rId14"/>
    <p:sldId id="263" r:id="rId15"/>
    <p:sldId id="265" r:id="rId16"/>
    <p:sldId id="291" r:id="rId17"/>
    <p:sldId id="293" r:id="rId18"/>
    <p:sldId id="292" r:id="rId19"/>
    <p:sldId id="266" r:id="rId20"/>
    <p:sldId id="267" r:id="rId21"/>
    <p:sldId id="268" r:id="rId22"/>
    <p:sldId id="271" r:id="rId23"/>
    <p:sldId id="272" r:id="rId24"/>
    <p:sldId id="285" r:id="rId2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8" autoAdjust="0"/>
    <p:restoredTop sz="94660"/>
  </p:normalViewPr>
  <p:slideViewPr>
    <p:cSldViewPr snapToGrid="0">
      <p:cViewPr varScale="1">
        <p:scale>
          <a:sx n="56" d="100"/>
          <a:sy n="56" d="100"/>
        </p:scale>
        <p:origin x="98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79B8B4-5B48-4B2E-B87C-82A30C35D040}" type="datetimeFigureOut">
              <a:rPr lang="cs-CZ" smtClean="0"/>
              <a:t>02.06.2026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ECDAE-9917-46E6-97F7-388E92C81FE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46311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https://spark.apache.org/docs/latest/rdd-programming-guide.html#transformations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ECDAE-9917-46E6-97F7-388E92C81FE2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86815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https://spark.apache.org/docs/latest/rdd-programming-guide.html#actions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ECDAE-9917-46E6-97F7-388E92C81FE2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65324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https://spark.apache.org/docs/latest/rdd-programming-guide.html#shared-variables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EECDAE-9917-46E6-97F7-388E92C81FE2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3883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24208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loud Callout 6"/>
          <p:cNvSpPr/>
          <p:nvPr/>
        </p:nvSpPr>
        <p:spPr>
          <a:xfrm>
            <a:off x="9926595" y="404664"/>
            <a:ext cx="1944216" cy="1584176"/>
          </a:xfrm>
          <a:prstGeom prst="cloudCallout">
            <a:avLst>
              <a:gd name="adj1" fmla="val -72589"/>
              <a:gd name="adj2" fmla="val 67149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 descr="Cartoon beaver with a thumbs up">
            <a:extLst>
              <a:ext uri="{FF2B5EF4-FFF2-40B4-BE49-F238E27FC236}">
                <a16:creationId xmlns:a16="http://schemas.microsoft.com/office/drawing/2014/main" id="{115DA177-4090-94FE-414E-BF0BD7A05A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2701" y="801209"/>
            <a:ext cx="1608940" cy="90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13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AR" altLang="en-US" dirty="0"/>
              <a:t>2</a:t>
            </a:r>
            <a:r>
              <a:rPr lang="cs-CZ" altLang="en-US" dirty="0"/>
              <a:t>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4040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 dirty="0"/>
              <a:t>2.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A15E1F-5AFB-40EA-923D-A2EB4D767C8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968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 dirty="0"/>
              <a:t>2.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EAE92-5121-41FC-8DEC-DA73929E0C34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7565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 dirty="0"/>
              <a:t>2.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B1BA9-04F9-4DBA-8B88-0BF71DD220A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446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 dirty="0"/>
              <a:t>2.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B23DE-87E9-44C4-9125-F99647402680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04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 dirty="0"/>
              <a:t>2.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B49DB-207B-4B04-AB13-3224BA24FB5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031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 dirty="0"/>
              <a:t>2.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FF626-F1DE-4CAB-AC6F-3C9C63F3BC9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7324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 dirty="0"/>
              <a:t>2.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FCAB0-4CDF-4FD1-8C9D-AF93D5E31F1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823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 dirty="0"/>
              <a:t>2.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E42D6-9DD4-4165-BDB0-13B2B843F04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1943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altLang="en-US" dirty="0"/>
              <a:t>2.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17C8BE-C614-485F-9B20-1471ABF7C6A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1327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7869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 altLang="en-US" dirty="0"/>
              <a:t>2.</a:t>
            </a:r>
            <a:r>
              <a:rPr lang="es-AR" altLang="en-US" dirty="0"/>
              <a:t>6</a:t>
            </a:r>
            <a:r>
              <a:rPr lang="cs-CZ" altLang="en-US" dirty="0"/>
              <a:t>.2026</a:t>
            </a:r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80EE7-F64F-4308-BA6A-AA907C3209A3}" type="slidenum">
              <a:rPr lang="en-US" altLang="en-US" smtClean="0"/>
              <a:pPr/>
              <a:t>‹#›</a:t>
            </a:fld>
            <a:endParaRPr lang="en-US" altLang="en-US"/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>
          <a:xfrm flipH="1">
            <a:off x="238539" y="1484784"/>
            <a:ext cx="11474085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1" name="Picture 10" descr="Cartoon beaver with a thumbs up">
            <a:extLst>
              <a:ext uri="{FF2B5EF4-FFF2-40B4-BE49-F238E27FC236}">
                <a16:creationId xmlns:a16="http://schemas.microsoft.com/office/drawing/2014/main" id="{B432A3CF-E802-6344-4A89-6AE1F6C3769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0136"/>
            <a:ext cx="853108" cy="47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504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23341-8FBB-3314-0ECC-CF7EB30ECF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Apache Spark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4DFCB-B786-8486-A53D-F1EEBF8B76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Programming in Parallel Environment</a:t>
            </a:r>
            <a:endParaRPr lang="en-US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6580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Apache Spark</a:t>
            </a:r>
          </a:p>
          <a:p>
            <a:pPr lvl="1"/>
            <a:r>
              <a:rPr lang="en-US" dirty="0"/>
              <a:t>Unified analytics engine for large-scale data processing</a:t>
            </a:r>
          </a:p>
          <a:p>
            <a:pPr lvl="1"/>
            <a:r>
              <a:rPr lang="en-US" dirty="0"/>
              <a:t>Initial release 2014, newest Spark 4.0 was released 2025</a:t>
            </a:r>
          </a:p>
          <a:p>
            <a:pPr lvl="1"/>
            <a:r>
              <a:rPr lang="en-US" dirty="0"/>
              <a:t>Speed</a:t>
            </a:r>
          </a:p>
          <a:p>
            <a:pPr lvl="2"/>
            <a:r>
              <a:rPr lang="en-US" dirty="0"/>
              <a:t>Much faster than Hadoop</a:t>
            </a:r>
          </a:p>
          <a:p>
            <a:pPr lvl="1"/>
            <a:r>
              <a:rPr lang="en-US" dirty="0"/>
              <a:t>Ease of use</a:t>
            </a:r>
          </a:p>
          <a:p>
            <a:pPr lvl="2"/>
            <a:r>
              <a:rPr lang="en-US" dirty="0"/>
              <a:t>Write applications in Java, Python, R, and Scala</a:t>
            </a:r>
          </a:p>
          <a:p>
            <a:pPr lvl="2"/>
            <a:r>
              <a:rPr lang="en-US" dirty="0"/>
              <a:t>Interactive shell</a:t>
            </a:r>
          </a:p>
          <a:p>
            <a:pPr lvl="1"/>
            <a:r>
              <a:rPr lang="en-US" dirty="0"/>
              <a:t>Generality</a:t>
            </a:r>
          </a:p>
          <a:p>
            <a:pPr lvl="2"/>
            <a:r>
              <a:rPr lang="en-US" dirty="0"/>
              <a:t>Combine streaming, ML, SQL, and (data) analytics</a:t>
            </a:r>
          </a:p>
          <a:p>
            <a:pPr lvl="1"/>
            <a:r>
              <a:rPr lang="en-US" dirty="0"/>
              <a:t>Runs “everywhere”</a:t>
            </a:r>
          </a:p>
          <a:p>
            <a:pPr lvl="2"/>
            <a:r>
              <a:rPr lang="en-US" dirty="0"/>
              <a:t>Spark runs on Hadoop, </a:t>
            </a:r>
            <a:r>
              <a:rPr lang="en-US" dirty="0" err="1"/>
              <a:t>Mesos</a:t>
            </a:r>
            <a:r>
              <a:rPr lang="en-US" dirty="0"/>
              <a:t>, Kubernetes, standalone, or in a cloud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738" y="1825625"/>
            <a:ext cx="1710426" cy="90980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C5D98-4712-89B5-542C-1A8B05DF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352C47E0-E720-F298-3C69-833DB5CBBA25}"/>
              </a:ext>
            </a:extLst>
          </p:cNvPr>
          <p:cNvSpPr/>
          <p:nvPr/>
        </p:nvSpPr>
        <p:spPr>
          <a:xfrm>
            <a:off x="8455995" y="3135403"/>
            <a:ext cx="3003485" cy="587193"/>
          </a:xfrm>
          <a:prstGeom prst="wedgeRoundRectCallout">
            <a:avLst>
              <a:gd name="adj1" fmla="val -44550"/>
              <a:gd name="adj2" fmla="val -98397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 will be using Spark 3.5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984312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Contains</a:t>
            </a:r>
          </a:p>
          <a:p>
            <a:pPr lvl="1"/>
            <a:r>
              <a:rPr lang="en-US" dirty="0"/>
              <a:t>High-level API in Java, Python, R, and Scala</a:t>
            </a:r>
          </a:p>
          <a:p>
            <a:pPr lvl="1"/>
            <a:r>
              <a:rPr lang="en-US" dirty="0"/>
              <a:t>Optimized engine for general execution graph</a:t>
            </a:r>
          </a:p>
          <a:p>
            <a:pPr lvl="2"/>
            <a:r>
              <a:rPr lang="en-US" dirty="0"/>
              <a:t>DAG</a:t>
            </a:r>
          </a:p>
          <a:p>
            <a:pPr lvl="2"/>
            <a:r>
              <a:rPr lang="en-US" dirty="0" err="1"/>
              <a:t>MapReduce</a:t>
            </a:r>
            <a:r>
              <a:rPr lang="en-US" dirty="0"/>
              <a:t> with only 2 levels</a:t>
            </a:r>
          </a:p>
          <a:p>
            <a:pPr lvl="1"/>
            <a:r>
              <a:rPr lang="en-US" dirty="0"/>
              <a:t>High-level tools</a:t>
            </a:r>
          </a:p>
          <a:p>
            <a:pPr lvl="2"/>
            <a:r>
              <a:rPr lang="en-US" dirty="0" err="1"/>
              <a:t>SparkSQL</a:t>
            </a:r>
            <a:endParaRPr lang="en-US" dirty="0"/>
          </a:p>
          <a:p>
            <a:pPr lvl="2"/>
            <a:r>
              <a:rPr lang="en-US" dirty="0" err="1"/>
              <a:t>MLlib</a:t>
            </a:r>
            <a:endParaRPr lang="en-US" dirty="0"/>
          </a:p>
          <a:p>
            <a:pPr lvl="2"/>
            <a:r>
              <a:rPr lang="en-US" dirty="0"/>
              <a:t>Spark Streaming</a:t>
            </a:r>
          </a:p>
          <a:p>
            <a:pPr lvl="2"/>
            <a:r>
              <a:rPr lang="en-US" dirty="0" err="1"/>
              <a:t>GraphX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104" y="4001293"/>
            <a:ext cx="3863675" cy="1874683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2F1CB-EC9F-A137-FF90-1C3E1024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16EAC0C-A6A5-92D1-0867-DF21799B34B8}"/>
              </a:ext>
            </a:extLst>
          </p:cNvPr>
          <p:cNvSpPr/>
          <p:nvPr/>
        </p:nvSpPr>
        <p:spPr>
          <a:xfrm>
            <a:off x="7146070" y="5190836"/>
            <a:ext cx="4207730" cy="820077"/>
          </a:xfrm>
          <a:prstGeom prst="ellipse">
            <a:avLst/>
          </a:prstGeom>
          <a:noFill/>
          <a:ln w="508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0E04630-EA3B-31C6-0206-98831719E35D}"/>
              </a:ext>
            </a:extLst>
          </p:cNvPr>
          <p:cNvSpPr/>
          <p:nvPr/>
        </p:nvSpPr>
        <p:spPr>
          <a:xfrm>
            <a:off x="7146070" y="3934691"/>
            <a:ext cx="1268257" cy="1431636"/>
          </a:xfrm>
          <a:prstGeom prst="ellipse">
            <a:avLst/>
          </a:prstGeom>
          <a:noFill/>
          <a:ln w="508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184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Application</a:t>
            </a:r>
          </a:p>
          <a:p>
            <a:pPr lvl="1"/>
            <a:r>
              <a:rPr lang="en-US" sz="2000" dirty="0"/>
              <a:t>An independent set of processes on a cluster</a:t>
            </a:r>
          </a:p>
          <a:p>
            <a:pPr lvl="2"/>
            <a:r>
              <a:rPr lang="en-US" sz="1800" dirty="0"/>
              <a:t>+ isolation</a:t>
            </a:r>
          </a:p>
          <a:p>
            <a:pPr lvl="2"/>
            <a:r>
              <a:rPr lang="en-US" sz="1800" dirty="0"/>
              <a:t>- no shared data (except file storage)</a:t>
            </a:r>
          </a:p>
          <a:p>
            <a:pPr lvl="1"/>
            <a:r>
              <a:rPr lang="en-US" sz="2000" dirty="0"/>
              <a:t>Driver program</a:t>
            </a:r>
          </a:p>
          <a:p>
            <a:pPr lvl="2"/>
            <a:r>
              <a:rPr lang="en-US" sz="1800" dirty="0"/>
              <a:t>Main (controlling) script</a:t>
            </a:r>
          </a:p>
          <a:p>
            <a:pPr lvl="2"/>
            <a:r>
              <a:rPr lang="en-US" sz="1800" dirty="0"/>
              <a:t>Listen for incoming connections from executors (via network)</a:t>
            </a:r>
            <a:endParaRPr lang="en-US" sz="2000" dirty="0"/>
          </a:p>
          <a:p>
            <a:pPr lvl="2"/>
            <a:r>
              <a:rPr lang="en-US" sz="1800" dirty="0"/>
              <a:t>Coordinated by </a:t>
            </a:r>
            <a:r>
              <a:rPr lang="en-US" sz="18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SparkContex</a:t>
            </a:r>
            <a:r>
              <a:rPr lang="en-US" sz="1800" dirty="0"/>
              <a:t> object</a:t>
            </a:r>
          </a:p>
          <a:p>
            <a:pPr lvl="2"/>
            <a:r>
              <a:rPr lang="cs-CZ" sz="1800" dirty="0"/>
              <a:t>S</a:t>
            </a:r>
            <a:r>
              <a:rPr lang="en-US" sz="1800" dirty="0" err="1"/>
              <a:t>chedules</a:t>
            </a:r>
            <a:r>
              <a:rPr lang="en-US" sz="1800" dirty="0"/>
              <a:t> tasks</a:t>
            </a:r>
            <a:r>
              <a:rPr lang="cs-CZ" sz="1800" dirty="0"/>
              <a:t> to </a:t>
            </a:r>
            <a:r>
              <a:rPr lang="cs-CZ" sz="1800" dirty="0" err="1"/>
              <a:t>executors</a:t>
            </a:r>
            <a:endParaRPr lang="en-US" sz="1800" dirty="0"/>
          </a:p>
          <a:p>
            <a:pPr lvl="2"/>
            <a:r>
              <a:rPr lang="en-US" sz="1800" dirty="0"/>
              <a:t>Has a web UI, handles storage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DD2765-4C4F-E90C-1D15-2F0D54B50B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Cluster manager</a:t>
            </a:r>
          </a:p>
          <a:p>
            <a:pPr lvl="1"/>
            <a:r>
              <a:rPr lang="en-US" sz="2200" dirty="0"/>
              <a:t>Allocate resources across applications</a:t>
            </a:r>
          </a:p>
          <a:p>
            <a:r>
              <a:rPr lang="en-US" sz="2400" dirty="0"/>
              <a:t>Executor</a:t>
            </a:r>
          </a:p>
          <a:p>
            <a:pPr lvl="1"/>
            <a:r>
              <a:rPr lang="en-US" sz="2200" dirty="0"/>
              <a:t>Runs on nodes of the cluster</a:t>
            </a:r>
          </a:p>
          <a:p>
            <a:pPr lvl="1"/>
            <a:r>
              <a:rPr lang="en-US" sz="2200" dirty="0"/>
              <a:t>Executes computations and stores (caches) data</a:t>
            </a:r>
          </a:p>
          <a:p>
            <a:pPr lvl="1"/>
            <a:r>
              <a:rPr lang="en-US" sz="2200" dirty="0"/>
              <a:t>Stays up for the duration of the application</a:t>
            </a:r>
          </a:p>
          <a:p>
            <a:pPr lvl="1"/>
            <a:r>
              <a:rPr lang="en-US" sz="2200" dirty="0"/>
              <a:t>Runs tasks (possibly) in multiple threads</a:t>
            </a:r>
          </a:p>
          <a:p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BFBD2-13B3-D274-757E-6D518CDD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16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317" y="3452813"/>
            <a:ext cx="5676900" cy="2724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Application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App structure</a:t>
            </a:r>
          </a:p>
          <a:p>
            <a:pPr lvl="1"/>
            <a:r>
              <a:rPr lang="en-US"/>
              <a:t>The </a:t>
            </a:r>
            <a:r>
              <a:rPr lang="en-US" dirty="0"/>
              <a:t>programmer creates a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SparkContext</a:t>
            </a:r>
            <a:r>
              <a:rPr lang="en-US" dirty="0"/>
              <a:t> object</a:t>
            </a:r>
          </a:p>
          <a:p>
            <a:pPr lvl="1"/>
            <a:r>
              <a:rPr lang="en-US" dirty="0"/>
              <a:t>It connects to the cluster manager(s)</a:t>
            </a:r>
          </a:p>
          <a:p>
            <a:pPr lvl="1"/>
            <a:r>
              <a:rPr lang="en-US" dirty="0"/>
              <a:t>Acquires executors from cluster manager(s)</a:t>
            </a:r>
          </a:p>
          <a:p>
            <a:pPr lvl="1"/>
            <a:r>
              <a:rPr lang="en-US" dirty="0"/>
              <a:t>Sends your application code to the executors</a:t>
            </a:r>
          </a:p>
          <a:p>
            <a:pPr lvl="2"/>
            <a:r>
              <a:rPr lang="en-US" dirty="0"/>
              <a:t>Pass Java/Python code/files to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SparkContext</a:t>
            </a:r>
            <a:endParaRPr lang="en-US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Sends tasks to the executors</a:t>
            </a:r>
          </a:p>
          <a:p>
            <a:pPr lvl="2"/>
            <a:r>
              <a:rPr lang="en-US" dirty="0"/>
              <a:t>Including necessary data which</a:t>
            </a:r>
            <a:br>
              <a:rPr lang="en-US" dirty="0"/>
            </a:br>
            <a:r>
              <a:rPr lang="en-US" dirty="0"/>
              <a:t>can be partitioned and cached</a:t>
            </a:r>
            <a:br>
              <a:rPr lang="en-US" dirty="0"/>
            </a:br>
            <a:r>
              <a:rPr lang="en-US" dirty="0"/>
              <a:t>at the executors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C48EB-756C-1BCC-F236-6796FE357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5373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 managers</a:t>
            </a:r>
          </a:p>
          <a:p>
            <a:pPr lvl="1"/>
            <a:r>
              <a:rPr lang="en-US" dirty="0"/>
              <a:t>Spark is agnostic to the underlying cluster manager</a:t>
            </a:r>
          </a:p>
          <a:p>
            <a:pPr lvl="1"/>
            <a:r>
              <a:rPr lang="en-US" dirty="0"/>
              <a:t>Supported cluster managers</a:t>
            </a:r>
          </a:p>
          <a:p>
            <a:pPr lvl="2"/>
            <a:r>
              <a:rPr lang="en-US" dirty="0"/>
              <a:t>Standalone</a:t>
            </a:r>
          </a:p>
          <a:p>
            <a:pPr lvl="3"/>
            <a:r>
              <a:rPr lang="en-US" dirty="0"/>
              <a:t>Simple CM, which is included in Spark (easy to set up a cluster)</a:t>
            </a:r>
          </a:p>
          <a:p>
            <a:pPr lvl="2"/>
            <a:r>
              <a:rPr lang="en-US" dirty="0"/>
              <a:t>Apache </a:t>
            </a:r>
            <a:r>
              <a:rPr lang="en-US" dirty="0" err="1"/>
              <a:t>Mesos</a:t>
            </a:r>
            <a:endParaRPr lang="en-US" dirty="0"/>
          </a:p>
          <a:p>
            <a:pPr lvl="3"/>
            <a:r>
              <a:rPr lang="en-US" dirty="0"/>
              <a:t>General CM can run Hadoop MapReduce and service applications</a:t>
            </a:r>
          </a:p>
          <a:p>
            <a:pPr lvl="2"/>
            <a:r>
              <a:rPr lang="en-US" dirty="0"/>
              <a:t>Hadoop YARN</a:t>
            </a:r>
          </a:p>
          <a:p>
            <a:pPr lvl="3"/>
            <a:r>
              <a:rPr lang="en-US" dirty="0"/>
              <a:t>Resource manager in Hadoop 2</a:t>
            </a:r>
          </a:p>
          <a:p>
            <a:pPr lvl="2"/>
            <a:r>
              <a:rPr lang="en-US" dirty="0"/>
              <a:t>Kubernetes</a:t>
            </a:r>
          </a:p>
          <a:p>
            <a:pPr lvl="3"/>
            <a:r>
              <a:rPr lang="en-US" dirty="0"/>
              <a:t>Automated deployment, scaling, and management of containerized applications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ECCA6-73AD-17C8-B641-C59AA047F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E08614D0-AD70-86A0-0433-CF805ECF2DEC}"/>
              </a:ext>
            </a:extLst>
          </p:cNvPr>
          <p:cNvSpPr/>
          <p:nvPr/>
        </p:nvSpPr>
        <p:spPr>
          <a:xfrm>
            <a:off x="8430491" y="2466108"/>
            <a:ext cx="3235036" cy="831273"/>
          </a:xfrm>
          <a:prstGeom prst="wedgeRoundRectCallout">
            <a:avLst>
              <a:gd name="adj1" fmla="val -82143"/>
              <a:gd name="adj2" fmla="val 6138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is what we will use</a:t>
            </a:r>
            <a:br>
              <a:rPr lang="en-US" dirty="0"/>
            </a:br>
            <a:r>
              <a:rPr lang="en-US" dirty="0"/>
              <a:t>(with a custom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sbatch</a:t>
            </a:r>
            <a:r>
              <a:rPr lang="en-US" dirty="0"/>
              <a:t> script)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21667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4D7B2-1F29-D692-7E9A-B419D67C7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Programming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3B53F-7197-631C-2B64-944C7404D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Fundamentals</a:t>
            </a:r>
          </a:p>
          <a:p>
            <a:pPr lvl="1"/>
            <a:r>
              <a:rPr lang="en-US" dirty="0"/>
              <a:t>Working with larger datasets (collections/tables)</a:t>
            </a:r>
          </a:p>
          <a:p>
            <a:pPr lvl="2"/>
            <a:r>
              <a:rPr lang="en-US" dirty="0"/>
              <a:t>Text files, CSV, HDF5, …</a:t>
            </a:r>
          </a:p>
          <a:p>
            <a:pPr lvl="1"/>
            <a:r>
              <a:rPr lang="en-US" dirty="0"/>
              <a:t>Creating “pipelines” that process the dataset and yield a result</a:t>
            </a:r>
          </a:p>
          <a:p>
            <a:pPr lvl="2"/>
            <a:r>
              <a:rPr lang="en-US" dirty="0"/>
              <a:t>Emphasis on declarative approach (like SQL)</a:t>
            </a:r>
          </a:p>
          <a:p>
            <a:pPr lvl="2"/>
            <a:r>
              <a:rPr lang="en-US" dirty="0"/>
              <a:t>Distributed processing, little control over the low-level details</a:t>
            </a:r>
          </a:p>
          <a:p>
            <a:pPr lvl="3"/>
            <a:r>
              <a:rPr lang="en-US" dirty="0"/>
              <a:t>Except for partitioning (how the data are divided into chunks)</a:t>
            </a:r>
          </a:p>
          <a:p>
            <a:pPr lvl="1"/>
            <a:r>
              <a:rPr lang="en-US" dirty="0"/>
              <a:t>Lazy evaluation</a:t>
            </a:r>
          </a:p>
          <a:p>
            <a:pPr lvl="2"/>
            <a:r>
              <a:rPr lang="en-US" dirty="0"/>
              <a:t>Most operations are triggered once the data are really needed</a:t>
            </a:r>
          </a:p>
          <a:p>
            <a:pPr lvl="1"/>
            <a:r>
              <a:rPr lang="en-US" dirty="0"/>
              <a:t>Strongly oriented on data (pre)processing and analysis</a:t>
            </a:r>
          </a:p>
          <a:p>
            <a:pPr lvl="2"/>
            <a:r>
              <a:rPr lang="en-US" dirty="0"/>
              <a:t>For example, </a:t>
            </a:r>
            <a:r>
              <a:rPr lang="en-US" dirty="0" err="1"/>
              <a:t>PySpark</a:t>
            </a:r>
            <a:r>
              <a:rPr lang="en-US" dirty="0"/>
              <a:t> natively supports pandas data types</a:t>
            </a:r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A69A6-E1C9-5460-E2A2-6E2E624D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397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Resilient distributed dataset (RDD)</a:t>
            </a:r>
          </a:p>
          <a:p>
            <a:pPr lvl="1"/>
            <a:r>
              <a:rPr lang="en-US" dirty="0"/>
              <a:t>Immutable collection of elements</a:t>
            </a:r>
            <a:endParaRPr lang="cs-CZ" dirty="0"/>
          </a:p>
          <a:p>
            <a:pPr lvl="1"/>
            <a:r>
              <a:rPr lang="cs-CZ" dirty="0"/>
              <a:t>P</a:t>
            </a:r>
            <a:r>
              <a:rPr lang="en-US" dirty="0" err="1"/>
              <a:t>artitioned</a:t>
            </a:r>
            <a:r>
              <a:rPr lang="en-US" dirty="0"/>
              <a:t> across the nodes that can be processed in parallel</a:t>
            </a:r>
          </a:p>
          <a:p>
            <a:pPr lvl="1"/>
            <a:r>
              <a:rPr lang="en-US" dirty="0"/>
              <a:t>Possibly in-memory</a:t>
            </a:r>
          </a:p>
          <a:p>
            <a:pPr lvl="1"/>
            <a:r>
              <a:rPr lang="en-US" dirty="0"/>
              <a:t>Automatically recover from node failures</a:t>
            </a:r>
          </a:p>
          <a:p>
            <a:pPr lvl="1"/>
            <a:r>
              <a:rPr lang="en-US" dirty="0"/>
              <a:t>Core API, from initial release, all languages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8AD613-3ED3-C011-8400-185547FB14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440003"/>
          </a:xfrm>
        </p:spPr>
        <p:txBody>
          <a:bodyPr>
            <a:noAutofit/>
          </a:bodyPr>
          <a:lstStyle/>
          <a:p>
            <a:r>
              <a:rPr lang="en-US" dirty="0"/>
              <a:t>Dataset</a:t>
            </a:r>
          </a:p>
          <a:p>
            <a:pPr lvl="1"/>
            <a:r>
              <a:rPr lang="en-US" dirty="0"/>
              <a:t>Distributed collection of data</a:t>
            </a:r>
          </a:p>
          <a:p>
            <a:pPr lvl="1"/>
            <a:r>
              <a:rPr lang="en-US" dirty="0"/>
              <a:t>Since v1.6, only for Java and Scala</a:t>
            </a:r>
          </a:p>
          <a:p>
            <a:pPr lvl="1"/>
            <a:r>
              <a:rPr lang="en-US" dirty="0"/>
              <a:t>Strong typing + lambdas from RDD</a:t>
            </a:r>
          </a:p>
          <a:p>
            <a:pPr lvl="1"/>
            <a:r>
              <a:rPr lang="en-US" dirty="0"/>
              <a:t>Using Spark SQL optimized execution engine</a:t>
            </a:r>
          </a:p>
          <a:p>
            <a:r>
              <a:rPr lang="en-US" dirty="0" err="1"/>
              <a:t>DataFrame</a:t>
            </a:r>
            <a:endParaRPr lang="en-US" dirty="0"/>
          </a:p>
          <a:p>
            <a:pPr lvl="1"/>
            <a:r>
              <a:rPr lang="en-US" dirty="0"/>
              <a:t>Like a Dataset, but organized into named columns</a:t>
            </a:r>
          </a:p>
          <a:p>
            <a:pPr lvl="1"/>
            <a:r>
              <a:rPr lang="en-US" dirty="0"/>
              <a:t>Since v1.3, all languages</a:t>
            </a:r>
          </a:p>
          <a:p>
            <a:pPr lvl="1"/>
            <a:r>
              <a:rPr lang="en-US" dirty="0"/>
              <a:t>Similar to a table in relational DB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4954FF-BEE1-6CE8-154F-7E0F1BFA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5727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15EC2-05BD-2B42-758D-3BE5FC8CB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Resilient Distributed Datasets (RDD)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4D691-2A76-5308-0AE0-D6E295F49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Created in the driver program</a:t>
            </a:r>
          </a:p>
          <a:p>
            <a:pPr marL="457200" lvl="1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SparkContext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distData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parallelize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pPr marL="457200" lvl="1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distFile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textFile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("data.txt")</a:t>
            </a:r>
          </a:p>
          <a:p>
            <a:pPr lvl="1"/>
            <a:r>
              <a:rPr lang="en-US" dirty="0"/>
              <a:t>Datasets are immutable</a:t>
            </a:r>
          </a:p>
          <a:p>
            <a:pPr lvl="1"/>
            <a:r>
              <a:rPr lang="en-US" dirty="0"/>
              <a:t>Transformations</a:t>
            </a:r>
          </a:p>
          <a:p>
            <a:pPr lvl="2"/>
            <a:r>
              <a:rPr lang="en-US" dirty="0"/>
              <a:t>Each transformation takes an RDD and produces a new RDD</a:t>
            </a:r>
          </a:p>
          <a:p>
            <a:pPr lvl="2"/>
            <a:r>
              <a:rPr lang="en-US" dirty="0"/>
              <a:t>Lazy evaluation, aggregation, and automated distribution of tasks</a:t>
            </a:r>
          </a:p>
          <a:p>
            <a:pPr lvl="3"/>
            <a:r>
              <a:rPr lang="en-US" dirty="0"/>
              <a:t>An RDD can be cached or persisted on request to improve performance</a:t>
            </a:r>
          </a:p>
          <a:p>
            <a:pPr lvl="1"/>
            <a:r>
              <a:rPr lang="en-US" dirty="0"/>
              <a:t>Actions</a:t>
            </a:r>
          </a:p>
          <a:p>
            <a:pPr lvl="2"/>
            <a:r>
              <a:rPr lang="en-US" dirty="0"/>
              <a:t>Usually at the end, since they trigger evaluation</a:t>
            </a:r>
          </a:p>
          <a:p>
            <a:pPr lvl="2"/>
            <a:r>
              <a:rPr lang="en-US" dirty="0"/>
              <a:t>Used to get the result (back in the driver) or save it in a file</a:t>
            </a:r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D94D5-AD21-FDD4-4849-21634095F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DBD727E6-BEE5-BF23-16E6-25521CD49735}"/>
              </a:ext>
            </a:extLst>
          </p:cNvPr>
          <p:cNvSpPr/>
          <p:nvPr/>
        </p:nvSpPr>
        <p:spPr>
          <a:xfrm>
            <a:off x="7713248" y="2243473"/>
            <a:ext cx="3299309" cy="587192"/>
          </a:xfrm>
          <a:prstGeom prst="wedgeRoundRectCallout">
            <a:avLst>
              <a:gd name="adj1" fmla="val -69071"/>
              <a:gd name="adj2" fmla="val 47041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Creating RDD from memory (list)</a:t>
            </a:r>
            <a:endParaRPr lang="cs-CZ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65F61D5-21E0-4C0A-B686-A65F7672AD69}"/>
              </a:ext>
            </a:extLst>
          </p:cNvPr>
          <p:cNvSpPr/>
          <p:nvPr/>
        </p:nvSpPr>
        <p:spPr>
          <a:xfrm>
            <a:off x="8501753" y="3248513"/>
            <a:ext cx="2510804" cy="587192"/>
          </a:xfrm>
          <a:prstGeom prst="wedgeRoundRectCallout">
            <a:avLst>
              <a:gd name="adj1" fmla="val -80472"/>
              <a:gd name="adj2" fmla="val -42331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… and from a data file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1751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3962-BB11-D056-B25D-20C0F9C99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RDD Transformations</a:t>
            </a:r>
            <a:endParaRPr lang="cs-CZ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76F40E9-6DDA-D707-4201-9C0BCED31D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0030356"/>
              </p:ext>
            </p:extLst>
          </p:nvPr>
        </p:nvGraphicFramePr>
        <p:xfrm>
          <a:off x="838200" y="1825625"/>
          <a:ext cx="10515600" cy="4348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327400">
                  <a:extLst>
                    <a:ext uri="{9D8B030D-6E8A-4147-A177-3AD203B41FA5}">
                      <a16:colId xmlns:a16="http://schemas.microsoft.com/office/drawing/2014/main" val="3259724247"/>
                    </a:ext>
                  </a:extLst>
                </a:gridCol>
                <a:gridCol w="7188200">
                  <a:extLst>
                    <a:ext uri="{9D8B030D-6E8A-4147-A177-3AD203B41FA5}">
                      <a16:colId xmlns:a16="http://schemas.microsoft.com/office/drawing/2014/main" val="2991112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map(</a:t>
                      </a:r>
                      <a:r>
                        <a:rPr lang="en-US" b="0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fnc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flatMap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0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fnc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applies transformation on each element (</a:t>
                      </a:r>
                      <a:r>
                        <a:rPr lang="en-US" sz="1600" b="0" dirty="0" err="1"/>
                        <a:t>flatMap</a:t>
                      </a:r>
                      <a:r>
                        <a:rPr lang="en-US" sz="1600" b="0" dirty="0"/>
                        <a:t> can produce 0 or more elements)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0332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filter(</a:t>
                      </a:r>
                      <a:r>
                        <a:rPr lang="en-US" b="0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fnc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only elements that pass the given predicate are included in the new dataset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461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union(</a:t>
                      </a:r>
                      <a:r>
                        <a:rPr lang="en-US" b="0" i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combines two datasets in union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523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intersection(</a:t>
                      </a:r>
                      <a:r>
                        <a:rPr lang="en-US" b="0" i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returns the intersection of this and given data set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3877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distinct()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returns only distinct (unique) elements in the dataset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682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groupByKey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takes pairs (K,V) and produces pairs (K, iter&lt;V&gt;) where values are grouped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27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reduceByKey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0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fnc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similar to group-by, but also reduces values by given function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711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sortByKey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0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asc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takes pairs (K,V) and sorts them by K (must implement Ordered)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987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join(</a:t>
                      </a:r>
                      <a:r>
                        <a:rPr lang="en-US" b="0" i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pairs (K,V) are joined with data (K,W) and (K,(V,W)) collection is returned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516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cartesian(</a:t>
                      </a:r>
                      <a:r>
                        <a:rPr lang="en-US" b="0" i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data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for data U and V produces all combinations of (U,V) pairs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415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coalesce(</a:t>
                      </a:r>
                      <a:r>
                        <a:rPr lang="en-US" b="0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), repartition(</a:t>
                      </a:r>
                      <a:r>
                        <a:rPr lang="en-US" b="0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numP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change the number of partitions and redistribute data among them (e.g., coalesce is useful when a new dataset with significantly less elements is produced)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04402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BA5EF-2BA9-83AE-1857-8CF4B0005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0830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2C8A-8EA8-1568-AB1B-DF465D280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RDD Actions</a:t>
            </a:r>
            <a:endParaRPr lang="cs-CZ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D094F4B-6EA8-2A55-2A0D-FD7B5130F5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4433532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286663">
                  <a:extLst>
                    <a:ext uri="{9D8B030D-6E8A-4147-A177-3AD203B41FA5}">
                      <a16:colId xmlns:a16="http://schemas.microsoft.com/office/drawing/2014/main" val="1761413052"/>
                    </a:ext>
                  </a:extLst>
                </a:gridCol>
                <a:gridCol w="8228937">
                  <a:extLst>
                    <a:ext uri="{9D8B030D-6E8A-4147-A177-3AD203B41FA5}">
                      <a16:colId xmlns:a16="http://schemas.microsoft.com/office/drawing/2014/main" val="3498074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collect()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returns the elements of the dataset (materialization)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918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count()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computes the number of elements in the collection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721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first()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returns the first element in the collection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084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take(</a:t>
                      </a:r>
                      <a:r>
                        <a:rPr lang="en-US" b="0" i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returns the first </a:t>
                      </a:r>
                      <a:r>
                        <a:rPr lang="en-US" sz="1600" b="0" i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600" b="0" dirty="0"/>
                        <a:t> elements in the collection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138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reduce(</a:t>
                      </a:r>
                      <a:r>
                        <a:rPr lang="en-US" b="0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fnc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performs reduction using given function and returns the result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380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takeOrdered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b="0" i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like </a:t>
                      </a:r>
                      <a:r>
                        <a:rPr lang="en-US" sz="16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take()</a:t>
                      </a:r>
                      <a:r>
                        <a:rPr lang="en-US" sz="1600" b="0" dirty="0"/>
                        <a:t>, but performs partial sorting (basically a top-k selection)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5015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saveAsXXX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save the collection in the given format to a file (e.g.,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saveAsTextFile</a:t>
                      </a:r>
                      <a:r>
                        <a:rPr lang="en-US" sz="1600" b="0" dirty="0"/>
                        <a:t>)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4102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countByKey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for collection of pairs (K,V) yields (K, count-of-values)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622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foreach(</a:t>
                      </a:r>
                      <a:r>
                        <a:rPr lang="en-US" b="0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fnc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cs-CZ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Iterates over the collection, invoking </a:t>
                      </a:r>
                      <a:r>
                        <a:rPr lang="en-US" sz="1600" b="0" i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fnc</a:t>
                      </a:r>
                      <a:r>
                        <a:rPr lang="en-US" sz="1600" b="0" dirty="0"/>
                        <a:t> (which usually has side effects, but runs on workers!)</a:t>
                      </a:r>
                      <a:endParaRPr lang="cs-CZ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789364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88CAA-1287-4851-A963-940A8CA7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0B13E814-1765-1233-C0B4-BADB279192D6}"/>
              </a:ext>
            </a:extLst>
          </p:cNvPr>
          <p:cNvSpPr/>
          <p:nvPr/>
        </p:nvSpPr>
        <p:spPr>
          <a:xfrm>
            <a:off x="3156668" y="5399790"/>
            <a:ext cx="8197132" cy="831273"/>
          </a:xfrm>
          <a:prstGeom prst="wedgeRoundRectCallout">
            <a:avLst>
              <a:gd name="adj1" fmla="val -22371"/>
              <a:gd name="adj2" fmla="val -8208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Note that actions are executed on the workers. </a:t>
            </a:r>
            <a:r>
              <a:rPr lang="en-US" dirty="0" err="1"/>
              <a:t>I.e</a:t>
            </a:r>
            <a:r>
              <a:rPr lang="en-US" dirty="0"/>
              <a:t>, any side effects (like print) also take place there (so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.foreach(print)</a:t>
            </a:r>
            <a:r>
              <a:rPr lang="en-US" dirty="0"/>
              <a:t> is not going to work as expected)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98222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47ED-78CE-0EC7-09B4-4286CB823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RDD Example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F6AF5-34F1-FB80-4172-016FEA12A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Counting words in a (large) text file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cs-CZ" sz="20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pyspark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cs-CZ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SparkContext</a:t>
            </a:r>
            <a:endParaRPr lang="cs-CZ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cs-CZ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cs-CZ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SparkContext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cs-CZ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sc.textFile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("wiki.txt")</a:t>
            </a:r>
          </a:p>
          <a:p>
            <a:pPr marL="457200" lvl="1" indent="0">
              <a:buNone/>
            </a:pPr>
            <a:r>
              <a:rPr lang="cs-CZ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words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.map(</a:t>
            </a:r>
            <a:r>
              <a:rPr lang="cs-CZ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line: </a:t>
            </a:r>
            <a:r>
              <a:rPr lang="cs-CZ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line.split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)) \</a:t>
            </a:r>
          </a:p>
          <a:p>
            <a:pPr marL="457200" lvl="1" indent="0">
              <a:buNone/>
            </a:pP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.</a:t>
            </a:r>
            <a:r>
              <a:rPr lang="cs-CZ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reduce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sz="20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lambda</a:t>
            </a:r>
            <a:r>
              <a:rPr lang="cs-CZ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x, y: x + y)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(words)</a:t>
            </a:r>
            <a:endParaRPr lang="cs-CZ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ECBB2-220C-88BF-C374-856AAD691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5024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and Shared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(used in transformations/actions)</a:t>
            </a:r>
          </a:p>
          <a:p>
            <a:pPr lvl="1"/>
            <a:r>
              <a:rPr lang="en-US" dirty="0"/>
              <a:t>Executed on the workers</a:t>
            </a:r>
          </a:p>
          <a:p>
            <a:pPr lvl="2"/>
            <a:r>
              <a:rPr lang="en-US" dirty="0"/>
              <a:t>The whole closure is transferred from the driver app</a:t>
            </a:r>
          </a:p>
          <a:p>
            <a:pPr lvl="2"/>
            <a:r>
              <a:rPr lang="en-US" dirty="0"/>
              <a:t>No side effects, except for updating shared variables</a:t>
            </a:r>
          </a:p>
          <a:p>
            <a:pPr lvl="1"/>
            <a:r>
              <a:rPr lang="en-US" dirty="0"/>
              <a:t>Shared variables</a:t>
            </a:r>
          </a:p>
          <a:p>
            <a:pPr lvl="2"/>
            <a:r>
              <a:rPr lang="en-US" dirty="0"/>
              <a:t>Broadcast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brVar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broadcast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(data)</a:t>
            </a:r>
          </a:p>
          <a:p>
            <a:pPr lvl="3"/>
            <a:r>
              <a:rPr lang="en-US" dirty="0"/>
              <a:t>Cached read-only variable, optimizes driver-&gt;worker transfers + provides cache control</a:t>
            </a:r>
          </a:p>
          <a:p>
            <a:pPr lvl="3"/>
            <a:r>
              <a:rPr lang="en-US" dirty="0"/>
              <a:t>Tasks can read it by calling the 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value()</a:t>
            </a:r>
            <a:r>
              <a:rPr lang="en-US" dirty="0"/>
              <a:t> function</a:t>
            </a:r>
          </a:p>
          <a:p>
            <a:pPr lvl="2"/>
            <a:r>
              <a:rPr lang="en-US" dirty="0"/>
              <a:t>Accumulator 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acc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sc.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accumulator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baseVar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Worker tasks can call 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add(v)</a:t>
            </a:r>
            <a:r>
              <a:rPr lang="en-US" dirty="0"/>
              <a:t> operation (accumulate a value)</a:t>
            </a:r>
          </a:p>
          <a:p>
            <a:pPr lvl="3"/>
            <a:r>
              <a:rPr lang="en-US" dirty="0"/>
              <a:t>Only the driver can read the accumulator by calling the 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value()</a:t>
            </a:r>
            <a:r>
              <a:rPr lang="en-US" dirty="0">
                <a:solidFill>
                  <a:srgbClr val="7030A0"/>
                </a:solidFill>
              </a:rPr>
              <a:t> </a:t>
            </a:r>
            <a:r>
              <a:rPr lang="en-US" dirty="0"/>
              <a:t>function</a:t>
            </a:r>
          </a:p>
          <a:p>
            <a:pPr lvl="3"/>
            <a:r>
              <a:rPr lang="en-US" dirty="0"/>
              <a:t>Typically a number, but can be a custom class that defines its own “add” operation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9B4A4-7339-6A39-3F15-355AC1382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3764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15045" cy="4351338"/>
          </a:xfrm>
        </p:spPr>
        <p:txBody>
          <a:bodyPr>
            <a:normAutofit/>
          </a:bodyPr>
          <a:lstStyle/>
          <a:p>
            <a:r>
              <a:rPr lang="en-US" dirty="0" err="1"/>
              <a:t>DataFrame</a:t>
            </a:r>
            <a:endParaRPr lang="en-US" dirty="0"/>
          </a:p>
          <a:p>
            <a:pPr lvl="1"/>
            <a:r>
              <a:rPr lang="en-US" dirty="0"/>
              <a:t>A distributed dataset (like RDD) but organized as a table (like in SQL databases)</a:t>
            </a:r>
          </a:p>
          <a:p>
            <a:pPr lvl="1"/>
            <a:r>
              <a:rPr lang="en-US" dirty="0"/>
              <a:t>Row-wise partitioning (selection of rows, all columns)</a:t>
            </a:r>
          </a:p>
          <a:p>
            <a:pPr lvl="1"/>
            <a:r>
              <a:rPr lang="en-US" dirty="0"/>
              <a:t>Construction</a:t>
            </a:r>
          </a:p>
          <a:p>
            <a:pPr marL="914400" lvl="2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spark =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SparkSession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.builder.getOrCreate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914400" lvl="2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spark.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createDataFrame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([ Row(col1=42, col2='the answer’) ]</a:t>
            </a:r>
          </a:p>
          <a:p>
            <a:pPr marL="914400" lvl="2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csv_df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spark.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('foo.csv', header=True)</a:t>
            </a:r>
          </a:p>
          <a:p>
            <a:pPr marL="914400" lvl="2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pd_df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pandas.DataFrame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({ … })</a:t>
            </a:r>
          </a:p>
          <a:p>
            <a:pPr lvl="2"/>
            <a:r>
              <a:rPr lang="en-US" dirty="0"/>
              <a:t>Many other possibilities: external DB, existing RDD, tables from Hadoop…</a:t>
            </a:r>
          </a:p>
          <a:p>
            <a:pPr lvl="1"/>
            <a:r>
              <a:rPr lang="en-US" dirty="0"/>
              <a:t>Transformations and actions similar to RDD</a:t>
            </a:r>
          </a:p>
          <a:p>
            <a:pPr lvl="2"/>
            <a:r>
              <a:rPr lang="en-US" dirty="0"/>
              <a:t>Lazy evaluation, SQL-like operations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C6929-2D7C-FFC9-96CD-95F1405D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4788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Partitioning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216" y="1586359"/>
            <a:ext cx="7705353" cy="5020434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79985-B0CE-E3DD-7FC8-ABECFB28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6788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B881E-30AC-0CD8-79FB-A1406316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C422D-5B62-C744-F67E-8DE9AC2433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Inspecting the data</a:t>
            </a:r>
          </a:p>
          <a:p>
            <a:pPr lvl="1"/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df.show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– prints the table (or first n rows)</a:t>
            </a:r>
          </a:p>
          <a:p>
            <a:pPr lvl="1"/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df.printSchema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– prints the column names and types</a:t>
            </a:r>
          </a:p>
          <a:p>
            <a:pPr lvl="1"/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df.columns</a:t>
            </a:r>
            <a:r>
              <a:rPr lang="en-US" dirty="0"/>
              <a:t> – access the column names as a list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df.describe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().show()</a:t>
            </a:r>
            <a:r>
              <a:rPr lang="en-US" dirty="0"/>
              <a:t> – get basic statistics (count, min, max…) per col.</a:t>
            </a:r>
          </a:p>
          <a:p>
            <a:r>
              <a:rPr lang="en-US" dirty="0"/>
              <a:t>Accessing/saving the data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df.collect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df.take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df.toPandas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df.write.csv(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file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EA842-7119-3781-6899-C6CA5C69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571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F33AB-0487-EB07-60EA-CB1ECD72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9DDE5-7046-CD19-5D14-2B35AFF0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51435" cy="4351338"/>
          </a:xfrm>
        </p:spPr>
        <p:txBody>
          <a:bodyPr/>
          <a:lstStyle/>
          <a:p>
            <a:r>
              <a:rPr lang="en-US" dirty="0"/>
              <a:t>Transformations</a:t>
            </a:r>
          </a:p>
          <a:p>
            <a:pPr lvl="1"/>
            <a:r>
              <a:rPr lang="en-US" dirty="0"/>
              <a:t>All yield a new </a:t>
            </a:r>
            <a:r>
              <a:rPr lang="en-US" dirty="0" err="1"/>
              <a:t>DataFrame</a:t>
            </a:r>
            <a:r>
              <a:rPr lang="en-US" dirty="0"/>
              <a:t> (lazily evaluated)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colName</a:t>
            </a:r>
            <a:r>
              <a:rPr lang="en-US" dirty="0"/>
              <a:t> – returns column object (metadata)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df.select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(df.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col1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"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col2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r>
              <a:rPr lang="en-US" dirty="0"/>
              <a:t> – selects a set of columns (projection)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df.filter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== 42)</a:t>
            </a:r>
            <a:r>
              <a:rPr lang="en-US" dirty="0"/>
              <a:t> – filter rows using a condition (like SQL WHERE)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df.withColumn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fnc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– add new column</a:t>
            </a:r>
          </a:p>
          <a:p>
            <a:pPr lvl="2"/>
            <a:r>
              <a:rPr lang="en-US" dirty="0"/>
              <a:t>Values are computed from the other columns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df.groupBy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col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– groups using specified column(s)</a:t>
            </a:r>
          </a:p>
          <a:p>
            <a:pPr lvl="2"/>
            <a:r>
              <a:rPr lang="en-US" dirty="0"/>
              <a:t>Aggregate functions can be applied on the rest (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.avg()</a:t>
            </a:r>
            <a:r>
              <a:rPr lang="en-US" dirty="0"/>
              <a:t>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.count()</a:t>
            </a:r>
            <a:r>
              <a:rPr lang="en-US" dirty="0"/>
              <a:t>, …)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df.join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df2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– join with another </a:t>
            </a:r>
            <a:r>
              <a:rPr lang="en-US" dirty="0" err="1"/>
              <a:t>DataFrame</a:t>
            </a:r>
            <a:r>
              <a:rPr lang="en-US" dirty="0"/>
              <a:t> using the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n-US" dirty="0"/>
              <a:t> join expr.</a:t>
            </a:r>
          </a:p>
          <a:p>
            <a:pPr lvl="1"/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E4042-6FDD-277B-63F9-600679146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5696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F5C0-FE01-4097-4D95-A216F1EC6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DataFrame</a:t>
            </a:r>
            <a:r>
              <a:rPr lang="en-US" dirty="0"/>
              <a:t> Example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88DFD-3986-87BB-E656-FC187E395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Example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SparkSession.builder.getOrCreate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cs-CZ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= spark.</a:t>
            </a:r>
            <a:r>
              <a:rPr lang="cs-CZ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("employees.csv", 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header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buNone/>
            </a:pP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sel_df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</a:t>
            </a:r>
            <a:r>
              <a:rPr lang="cs-CZ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("department", "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pPr marL="457200" lvl="1" indent="0">
              <a:buNone/>
            </a:pP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fil_df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sel_df.</a:t>
            </a:r>
            <a:r>
              <a:rPr lang="cs-CZ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filter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sel_df.salary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&gt; 50000)</a:t>
            </a:r>
          </a:p>
          <a:p>
            <a:pPr marL="457200" lvl="1" indent="0">
              <a:buNone/>
            </a:pP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fil_df.</a:t>
            </a:r>
            <a:r>
              <a:rPr lang="cs-CZ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groupBy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("department")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avg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salary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").alias("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average_salary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cs-CZ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df.show</a:t>
            </a:r>
            <a:r>
              <a:rPr lang="cs-CZ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buNone/>
            </a:pPr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91277-1D39-033E-C68A-EA3785D0E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3036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 Query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Query execution steps</a:t>
            </a:r>
          </a:p>
          <a:p>
            <a:pPr lvl="1"/>
            <a:r>
              <a:rPr lang="en-US" dirty="0"/>
              <a:t>Create a logical plan</a:t>
            </a:r>
          </a:p>
          <a:p>
            <a:pPr lvl="1"/>
            <a:r>
              <a:rPr lang="en-US" dirty="0"/>
              <a:t>Transform the logical plan into a physical plan</a:t>
            </a:r>
          </a:p>
          <a:p>
            <a:pPr lvl="1"/>
            <a:r>
              <a:rPr lang="en-US" dirty="0"/>
              <a:t>Generate the code</a:t>
            </a:r>
          </a:p>
          <a:p>
            <a:pPr lvl="1"/>
            <a:r>
              <a:rPr lang="en-US" dirty="0"/>
              <a:t>Execute the tasks on a cluster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6CFBC-B365-C088-9F84-FCFD79844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19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363" y="4259455"/>
            <a:ext cx="8567274" cy="174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232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Spark 3.x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Adaptive Query Execution (AQE)</a:t>
            </a:r>
          </a:p>
          <a:p>
            <a:pPr lvl="1"/>
            <a:r>
              <a:rPr lang="en-US" sz="2000" dirty="0"/>
              <a:t>Runtime statistics retrieved from completed stages of the query plan are used to re-optimize the execution plan</a:t>
            </a:r>
          </a:p>
          <a:p>
            <a:pPr lvl="1"/>
            <a:r>
              <a:rPr lang="en-US" sz="2000" dirty="0"/>
              <a:t>Dynamically coalescing shuffle partitions</a:t>
            </a:r>
          </a:p>
          <a:p>
            <a:pPr lvl="2"/>
            <a:r>
              <a:rPr lang="en-US" sz="1800" dirty="0"/>
              <a:t>Combine adjacent small partitions into bigger partitions, reducing the number of tasks</a:t>
            </a:r>
          </a:p>
          <a:p>
            <a:pPr lvl="1"/>
            <a:r>
              <a:rPr lang="en-US" sz="2000" dirty="0"/>
              <a:t>Dynamically switching join strategies</a:t>
            </a:r>
          </a:p>
          <a:p>
            <a:pPr lvl="2"/>
            <a:r>
              <a:rPr lang="en-US" sz="1800" dirty="0"/>
              <a:t>Optimize join strategy at runtime based on the join relation size</a:t>
            </a:r>
          </a:p>
          <a:p>
            <a:pPr lvl="1"/>
            <a:r>
              <a:rPr lang="en-US" sz="2000" dirty="0"/>
              <a:t>Dynamically optimizing skew joins</a:t>
            </a:r>
          </a:p>
          <a:p>
            <a:pPr lvl="2"/>
            <a:r>
              <a:rPr lang="en-US" sz="1800" dirty="0"/>
              <a:t>Detect data skew and split skew partitions into smaller sub-partitions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CBF67-B3B2-B90A-8165-851FC2EDD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Martin Kruliš, v1.0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4F3E2-4EEC-4106-38C0-2B4DB773B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20</a:t>
            </a:fld>
            <a:endParaRPr lang="en-US" alt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757" y="4797152"/>
            <a:ext cx="8316486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270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Spark 3.x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partition pruning</a:t>
            </a:r>
          </a:p>
          <a:p>
            <a:pPr lvl="1"/>
            <a:r>
              <a:rPr lang="en-US" dirty="0"/>
              <a:t>Data warehouse queries</a:t>
            </a:r>
          </a:p>
          <a:p>
            <a:pPr lvl="2"/>
            <a:r>
              <a:rPr lang="en-US" dirty="0"/>
              <a:t>One or more fact tables referencing any number of dimensional tables</a:t>
            </a:r>
          </a:p>
          <a:p>
            <a:pPr lvl="1"/>
            <a:r>
              <a:rPr lang="en-US" dirty="0"/>
              <a:t>Pruning at runtime by reusing the dimension table broadcast results in hash joins</a:t>
            </a:r>
          </a:p>
          <a:p>
            <a:pPr lvl="1"/>
            <a:endParaRPr lang="en-US" dirty="0"/>
          </a:p>
          <a:p>
            <a:r>
              <a:rPr lang="en-US" dirty="0"/>
              <a:t>Accelerator-aware scheduling</a:t>
            </a:r>
          </a:p>
          <a:p>
            <a:pPr lvl="1"/>
            <a:r>
              <a:rPr lang="en-US" dirty="0"/>
              <a:t>GPU/CUDA with RAPIDS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76E6C-4E11-E479-4D0C-AF2F0DD2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0207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Launching Spark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447954"/>
          </a:xfrm>
        </p:spPr>
        <p:txBody>
          <a:bodyPr>
            <a:noAutofit/>
          </a:bodyPr>
          <a:lstStyle/>
          <a:p>
            <a:r>
              <a:rPr lang="en-US" sz="2400" dirty="0"/>
              <a:t>Runtime (Spark + Hadoop)</a:t>
            </a:r>
          </a:p>
          <a:p>
            <a:pPr lvl="1"/>
            <a:r>
              <a:rPr lang="en-US" sz="2000" dirty="0"/>
              <a:t>Self contained in one directory (we denote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SPARK_ROOT</a:t>
            </a:r>
            <a:r>
              <a:rPr lang="en-US" sz="2000" dirty="0"/>
              <a:t>): 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/home/_teaching/para/spark</a:t>
            </a:r>
            <a:endParaRPr lang="en-US" sz="2000" dirty="0"/>
          </a:p>
          <a:p>
            <a:r>
              <a:rPr lang="en-US" sz="2400" dirty="0"/>
              <a:t>Starting interactive shell (in Python)</a:t>
            </a:r>
          </a:p>
          <a:p>
            <a:pPr lvl="1"/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SPARK_ROOT/bin/</a:t>
            </a:r>
            <a:r>
              <a:rPr lang="en-US" sz="20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pyspark</a:t>
            </a:r>
            <a:endParaRPr lang="en-US" sz="20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dirty="0"/>
              <a:t>Standalone applications (debugging)</a:t>
            </a:r>
          </a:p>
          <a:p>
            <a:pPr lvl="1"/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SPARK_ROOT/bin/spark-submit</a:t>
            </a:r>
            <a:r>
              <a:rPr lang="cs-CZ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  <a:r>
              <a:rPr lang="en-US" sz="20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/yourSparkApp.py</a:t>
            </a:r>
          </a:p>
          <a:p>
            <a:pPr lvl="2"/>
            <a:r>
              <a:rPr 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--master</a:t>
            </a:r>
            <a:r>
              <a:rPr lang="en-US" sz="1800" b="1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/>
              <a:t>URL of the master node for the cluster</a:t>
            </a:r>
          </a:p>
          <a:p>
            <a:pPr lvl="3"/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local[k]</a:t>
            </a:r>
            <a:r>
              <a:rPr lang="en-US" sz="1600" dirty="0"/>
              <a:t> – run locally with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sz="1600" dirty="0"/>
              <a:t> worker threads (with one thread if 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[k]</a:t>
            </a:r>
            <a:r>
              <a:rPr lang="en-US" sz="1600" dirty="0"/>
              <a:t> is missing)</a:t>
            </a:r>
          </a:p>
          <a:p>
            <a:pPr lvl="3"/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local[*]</a:t>
            </a:r>
            <a:r>
              <a:rPr lang="en-US" sz="1600" dirty="0"/>
              <a:t> – run locally with max number of worker threads (=cores, use `-c` in </a:t>
            </a:r>
            <a:r>
              <a:rPr lang="en-US" sz="1600" dirty="0" err="1"/>
              <a:t>srun</a:t>
            </a:r>
            <a:r>
              <a:rPr lang="en-US" sz="1600" dirty="0"/>
              <a:t>)</a:t>
            </a:r>
          </a:p>
          <a:p>
            <a:pPr lvl="3"/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spark://HOST:PORT</a:t>
            </a:r>
            <a:r>
              <a:rPr lang="en-US" sz="1600" dirty="0"/>
              <a:t> – run on a standalone Spark cluster master</a:t>
            </a:r>
          </a:p>
          <a:p>
            <a:pPr lvl="3"/>
            <a:r>
              <a:rPr lang="en-US" sz="16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CM://HOST:PORT</a:t>
            </a:r>
            <a:r>
              <a:rPr lang="en-US" sz="1600" dirty="0"/>
              <a:t> – connect to a cluster manager [</a:t>
            </a:r>
            <a:r>
              <a:rPr lang="en-US" sz="1600" dirty="0" err="1"/>
              <a:t>mesos</a:t>
            </a:r>
            <a:r>
              <a:rPr lang="en-US" sz="1600" dirty="0"/>
              <a:t>, yarn, k8s]</a:t>
            </a:r>
          </a:p>
          <a:p>
            <a:pPr lvl="2"/>
            <a:r>
              <a:rPr 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--class </a:t>
            </a:r>
            <a:r>
              <a:rPr lang="en-US" sz="1800" dirty="0"/>
              <a:t>entry point for the application</a:t>
            </a:r>
            <a:r>
              <a:rPr lang="cs-CZ" sz="1800" dirty="0"/>
              <a:t> (no </a:t>
            </a:r>
            <a:r>
              <a:rPr lang="cs-CZ" sz="1800" dirty="0" err="1"/>
              <a:t>need</a:t>
            </a:r>
            <a:r>
              <a:rPr lang="cs-CZ" sz="1800" dirty="0"/>
              <a:t> </a:t>
            </a:r>
            <a:r>
              <a:rPr lang="cs-CZ" sz="1800" dirty="0" err="1"/>
              <a:t>for</a:t>
            </a:r>
            <a:r>
              <a:rPr lang="cs-CZ" sz="1800" dirty="0"/>
              <a:t> </a:t>
            </a:r>
            <a:r>
              <a:rPr lang="en-US" sz="1800" dirty="0"/>
              <a:t>top-level statement</a:t>
            </a:r>
            <a:r>
              <a:rPr lang="cs-CZ" sz="1800" dirty="0"/>
              <a:t> </a:t>
            </a:r>
            <a:r>
              <a:rPr lang="cs-CZ" sz="1800" dirty="0" err="1"/>
              <a:t>scripts</a:t>
            </a:r>
            <a:r>
              <a:rPr lang="cs-CZ" sz="1800" dirty="0"/>
              <a:t>)</a:t>
            </a:r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3C71B-32E5-BFDA-4E72-69F06FB4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22</a:t>
            </a:fld>
            <a:endParaRPr lang="en-US" altLang="en-US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86C7CBDE-BC39-AB1D-D6A5-E44C875FBAEE}"/>
              </a:ext>
            </a:extLst>
          </p:cNvPr>
          <p:cNvSpPr/>
          <p:nvPr/>
        </p:nvSpPr>
        <p:spPr>
          <a:xfrm>
            <a:off x="6384235" y="2688745"/>
            <a:ext cx="4969565" cy="831273"/>
          </a:xfrm>
          <a:prstGeom prst="wedgeRoundRectCallout">
            <a:avLst>
              <a:gd name="adj1" fmla="val -64591"/>
              <a:gd name="adj2" fmla="val -5568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Please, do not do this on </a:t>
            </a:r>
            <a:r>
              <a:rPr lang="en-US" dirty="0" err="1"/>
              <a:t>parlab</a:t>
            </a:r>
            <a:r>
              <a:rPr lang="en-US" dirty="0"/>
              <a:t> since interactive sessions block workers for a long time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37835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Launching Spark Cluster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Submitting to a standalone cluster with simple CM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Start the master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Start the workers, and make them connect to the master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Use spark-submit with the master from 1.</a:t>
            </a:r>
          </a:p>
          <a:p>
            <a:r>
              <a:rPr lang="en-US" dirty="0"/>
              <a:t>Prepared script </a:t>
            </a:r>
            <a:r>
              <a:rPr lang="en-US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spark-slurm.sh</a:t>
            </a:r>
          </a:p>
          <a:p>
            <a:pPr lvl="1"/>
            <a:r>
              <a:rPr lang="en-US" dirty="0"/>
              <a:t>A </a:t>
            </a:r>
            <a:r>
              <a:rPr lang="en-US" dirty="0" err="1"/>
              <a:t>sbatch</a:t>
            </a:r>
            <a:r>
              <a:rPr lang="en-US" dirty="0"/>
              <a:t> script that performs all aforementioned tasks</a:t>
            </a:r>
            <a:br>
              <a:rPr lang="en-US" dirty="0"/>
            </a:b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$&gt;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sbatch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./spark-slurm.sh ./yourSparkApp.py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US" dirty="0"/>
              <a:t>Creates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slurm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&lt;JOBID&gt;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.spark</a:t>
            </a:r>
            <a:r>
              <a:rPr lang="en-US" dirty="0"/>
              <a:t> subdir with configs and logs</a:t>
            </a:r>
          </a:p>
          <a:p>
            <a:pPr lvl="2"/>
            <a:r>
              <a:rPr lang="en-US" dirty="0"/>
              <a:t>Directs </a:t>
            </a:r>
            <a:r>
              <a:rPr lang="en-US" dirty="0" err="1"/>
              <a:t>stdout</a:t>
            </a:r>
            <a:r>
              <a:rPr lang="en-US" dirty="0"/>
              <a:t> and stderr into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./spark-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slurm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-*</a:t>
            </a:r>
            <a:r>
              <a:rPr lang="en-US" dirty="0"/>
              <a:t> files in local </a:t>
            </a:r>
            <a:r>
              <a:rPr lang="en-US" dirty="0" err="1"/>
              <a:t>dir</a:t>
            </a:r>
            <a:endParaRPr lang="en-US" dirty="0"/>
          </a:p>
          <a:p>
            <a:pPr lvl="2"/>
            <a:r>
              <a:rPr lang="en-US" dirty="0"/>
              <a:t>Executes 2 workers per node (i.e., 1 per socket)</a:t>
            </a:r>
          </a:p>
          <a:p>
            <a:pPr lvl="2"/>
            <a:r>
              <a:rPr lang="en-US" dirty="0"/>
              <a:t>You can tune the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#SBATCH -N</a:t>
            </a:r>
            <a:r>
              <a:rPr lang="en-US" dirty="0"/>
              <a:t> parameter to select the number of nodes (up to 8)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E4371-3ED1-B7E3-A8BC-84312D009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0309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BE1A8-23AD-0084-E366-E13FF132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Discussion</a:t>
            </a:r>
            <a:endParaRPr lang="cs-CZ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04F80-B11F-D6B1-4280-7BE6BB36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A1145F-674A-4228-8958-0EA9769F5517}" type="slidenum">
              <a:rPr lang="en-US" altLang="en-US" smtClean="0"/>
              <a:pPr/>
              <a:t>24</a:t>
            </a:fld>
            <a:endParaRPr lang="en-US" altLang="en-US"/>
          </a:p>
        </p:txBody>
      </p:sp>
      <p:pic>
        <p:nvPicPr>
          <p:cNvPr id="6" name="Picture 7" descr="http://www.peirnet.net/moodle/file.php/1/face_question_mark.jpg">
            <a:extLst>
              <a:ext uri="{FF2B5EF4-FFF2-40B4-BE49-F238E27FC236}">
                <a16:creationId xmlns:a16="http://schemas.microsoft.com/office/drawing/2014/main" id="{9C575267-67E8-9063-1C82-11A871133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019" y="1738313"/>
            <a:ext cx="4525962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186041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-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theme" id="{B506BBAE-7B29-471E-98D8-11EBE1E364B1}" vid="{D89F9550-F518-42A1-84C0-A3FA72197E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63BEE4324150E468E9D56AC1A069CC0" ma:contentTypeVersion="10" ma:contentTypeDescription="Crear nuevo documento." ma:contentTypeScope="" ma:versionID="d38e76179bb4e1368abf06f532a8bd3a">
  <xsd:schema xmlns:xsd="http://www.w3.org/2001/XMLSchema" xmlns:xs="http://www.w3.org/2001/XMLSchema" xmlns:p="http://schemas.microsoft.com/office/2006/metadata/properties" xmlns:ns2="88a81109-a086-44ae-a9ae-b48b478270f0" xmlns:ns3="36ae782e-a2ad-455b-8012-e967b2ff0266" targetNamespace="http://schemas.microsoft.com/office/2006/metadata/properties" ma:root="true" ma:fieldsID="64cf5d609c72c32b085a3a1fb04f870b" ns2:_="" ns3:_="">
    <xsd:import namespace="88a81109-a086-44ae-a9ae-b48b478270f0"/>
    <xsd:import namespace="36ae782e-a2ad-455b-8012-e967b2ff02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a81109-a086-44ae-a9ae-b48b478270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ae782e-a2ad-455b-8012-e967b2ff02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ca22bb8-c71e-4324-a640-0354e2d274cb}" ma:internalName="TaxCatchAll" ma:showField="CatchAllData" ma:web="36ae782e-a2ad-455b-8012-e967b2ff02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6ae782e-a2ad-455b-8012-e967b2ff0266" xsi:nil="true"/>
    <lcf76f155ced4ddcb4097134ff3c332f xmlns="88a81109-a086-44ae-a9ae-b48b478270f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71E1E13-130A-4D57-8927-CAD5B934D150}"/>
</file>

<file path=customXml/itemProps2.xml><?xml version="1.0" encoding="utf-8"?>
<ds:datastoreItem xmlns:ds="http://schemas.openxmlformats.org/officeDocument/2006/customXml" ds:itemID="{F34B78FD-D949-417A-B8F5-9374534FA2D2}"/>
</file>

<file path=customXml/itemProps3.xml><?xml version="1.0" encoding="utf-8"?>
<ds:datastoreItem xmlns:ds="http://schemas.openxmlformats.org/officeDocument/2006/customXml" ds:itemID="{08CB0DF9-965E-404D-823F-03163E9A3A33}"/>
</file>

<file path=docProps/app.xml><?xml version="1.0" encoding="utf-8"?>
<Properties xmlns="http://schemas.openxmlformats.org/officeDocument/2006/extended-properties" xmlns:vt="http://schemas.openxmlformats.org/officeDocument/2006/docPropsVTypes">
  <Template>slides-theme</Template>
  <TotalTime>19026</TotalTime>
  <Words>2154</Words>
  <Application>Microsoft Office PowerPoint</Application>
  <PresentationFormat>Widescreen</PresentationFormat>
  <Paragraphs>302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Calibri</vt:lpstr>
      <vt:lpstr>Aptos</vt:lpstr>
      <vt:lpstr>Arial</vt:lpstr>
      <vt:lpstr>Calibri Light</vt:lpstr>
      <vt:lpstr>Courier New</vt:lpstr>
      <vt:lpstr>slides-theme</vt:lpstr>
      <vt:lpstr>Apache Spark</vt:lpstr>
      <vt:lpstr>Spark</vt:lpstr>
      <vt:lpstr>Spark</vt:lpstr>
      <vt:lpstr>Spark Application</vt:lpstr>
      <vt:lpstr>Spark Application Structure</vt:lpstr>
      <vt:lpstr>Spark Cluster</vt:lpstr>
      <vt:lpstr>Spark Programming</vt:lpstr>
      <vt:lpstr>Data Holders</vt:lpstr>
      <vt:lpstr>Resilient Distributed Datasets (RDD)</vt:lpstr>
      <vt:lpstr>RDD Transformations</vt:lpstr>
      <vt:lpstr>RDD Actions</vt:lpstr>
      <vt:lpstr>RDD Example</vt:lpstr>
      <vt:lpstr>Functions and Shared Variables</vt:lpstr>
      <vt:lpstr>DataFrame</vt:lpstr>
      <vt:lpstr>DataFrame Partitioning</vt:lpstr>
      <vt:lpstr>DataFrame</vt:lpstr>
      <vt:lpstr>DataFrame</vt:lpstr>
      <vt:lpstr>DataFrame Example</vt:lpstr>
      <vt:lpstr>Spark Query Execution</vt:lpstr>
      <vt:lpstr>Advanced Spark 3.x Features</vt:lpstr>
      <vt:lpstr>Advanced Spark 3.x Features</vt:lpstr>
      <vt:lpstr>Launching Spark Application</vt:lpstr>
      <vt:lpstr>Launching Spark Cluster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Kruliš</dc:creator>
  <cp:lastModifiedBy>Hernan Novodvorski</cp:lastModifiedBy>
  <cp:revision>280</cp:revision>
  <dcterms:created xsi:type="dcterms:W3CDTF">2024-09-19T13:28:41Z</dcterms:created>
  <dcterms:modified xsi:type="dcterms:W3CDTF">2026-06-02T21:05:49Z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0x010100163BEE4324150E468E9D56AC1A069CC0</vt:lpwstr>
  </property>
  <property fmtid="{D5CDD505-2E9C-101B-9397-08002B2CF9AE}" pid="3" name="Order">
    <vt:r8>36700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MediaServiceImageTags">
    <vt:lpwstr/>
  </property>
</Properties>
</file>